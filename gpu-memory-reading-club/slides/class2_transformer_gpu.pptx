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2331720"/>
            <a:ext cx="1097280" cy="109728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8732520" y="2386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GPU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929116" y="294436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" name="Shape 3"/>
          <p:cNvSpPr/>
          <p:nvPr/>
        </p:nvSpPr>
        <p:spPr>
          <a:xfrm>
            <a:off x="9121140" y="294436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" name="Shape 4"/>
          <p:cNvSpPr/>
          <p:nvPr/>
        </p:nvSpPr>
        <p:spPr>
          <a:xfrm>
            <a:off x="9313164" y="294436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" name="Shape 5"/>
          <p:cNvSpPr/>
          <p:nvPr/>
        </p:nvSpPr>
        <p:spPr>
          <a:xfrm>
            <a:off x="9505188" y="294436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" name="Shape 6"/>
          <p:cNvSpPr/>
          <p:nvPr/>
        </p:nvSpPr>
        <p:spPr>
          <a:xfrm>
            <a:off x="8929116" y="313639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9" name="Shape 7"/>
          <p:cNvSpPr/>
          <p:nvPr/>
        </p:nvSpPr>
        <p:spPr>
          <a:xfrm>
            <a:off x="9121140" y="313639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0" name="Shape 8"/>
          <p:cNvSpPr/>
          <p:nvPr/>
        </p:nvSpPr>
        <p:spPr>
          <a:xfrm>
            <a:off x="9313164" y="313639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9505188" y="313639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8732520" y="328269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單卡跑得完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732520" y="34930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104120" y="2331720"/>
            <a:ext cx="621792" cy="566928"/>
          </a:xfrm>
          <a:prstGeom prst="roundRect">
            <a:avLst>
              <a:gd name="adj" fmla="val 12903"/>
            </a:avLst>
          </a:prstGeom>
          <a:solidFill>
            <a:srgbClr val="16233A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104120" y="2386584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062972" y="241401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4996" y="241401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47020" y="241401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Shape 17"/>
          <p:cNvSpPr/>
          <p:nvPr/>
        </p:nvSpPr>
        <p:spPr>
          <a:xfrm>
            <a:off x="10639044" y="241401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Shape 18"/>
          <p:cNvSpPr/>
          <p:nvPr/>
        </p:nvSpPr>
        <p:spPr>
          <a:xfrm>
            <a:off x="10062972" y="260604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4996" y="260604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47020" y="260604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3" name="Shape 21"/>
          <p:cNvSpPr/>
          <p:nvPr/>
        </p:nvSpPr>
        <p:spPr>
          <a:xfrm>
            <a:off x="10639044" y="260604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Shape 22"/>
          <p:cNvSpPr/>
          <p:nvPr/>
        </p:nvSpPr>
        <p:spPr>
          <a:xfrm>
            <a:off x="10817352" y="2331720"/>
            <a:ext cx="621792" cy="566928"/>
          </a:xfrm>
          <a:prstGeom prst="roundRect">
            <a:avLst>
              <a:gd name="adj" fmla="val 12903"/>
            </a:avLst>
          </a:prstGeom>
          <a:solidFill>
            <a:srgbClr val="16233A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817352" y="2386584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776204" y="241401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Shape 25"/>
          <p:cNvSpPr/>
          <p:nvPr/>
        </p:nvSpPr>
        <p:spPr>
          <a:xfrm>
            <a:off x="10968228" y="241401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160252" y="241401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Shape 27"/>
          <p:cNvSpPr/>
          <p:nvPr/>
        </p:nvSpPr>
        <p:spPr>
          <a:xfrm>
            <a:off x="11352276" y="241401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0" name="Shape 28"/>
          <p:cNvSpPr/>
          <p:nvPr/>
        </p:nvSpPr>
        <p:spPr>
          <a:xfrm>
            <a:off x="10776204" y="260604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1" name="Shape 29"/>
          <p:cNvSpPr/>
          <p:nvPr/>
        </p:nvSpPr>
        <p:spPr>
          <a:xfrm>
            <a:off x="10968228" y="260604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2" name="Shape 30"/>
          <p:cNvSpPr/>
          <p:nvPr/>
        </p:nvSpPr>
        <p:spPr>
          <a:xfrm>
            <a:off x="11160252" y="260604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3" name="Shape 31"/>
          <p:cNvSpPr/>
          <p:nvPr/>
        </p:nvSpPr>
        <p:spPr>
          <a:xfrm>
            <a:off x="11352276" y="260604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4" name="Shape 32"/>
          <p:cNvSpPr/>
          <p:nvPr/>
        </p:nvSpPr>
        <p:spPr>
          <a:xfrm>
            <a:off x="10104120" y="2990088"/>
            <a:ext cx="621792" cy="566928"/>
          </a:xfrm>
          <a:prstGeom prst="roundRect">
            <a:avLst>
              <a:gd name="adj" fmla="val 12903"/>
            </a:avLst>
          </a:prstGeom>
          <a:solidFill>
            <a:srgbClr val="16233A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0104120" y="304495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062972" y="3072384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Shape 35"/>
          <p:cNvSpPr/>
          <p:nvPr/>
        </p:nvSpPr>
        <p:spPr>
          <a:xfrm>
            <a:off x="10254996" y="3072384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8" name="Shape 36"/>
          <p:cNvSpPr/>
          <p:nvPr/>
        </p:nvSpPr>
        <p:spPr>
          <a:xfrm>
            <a:off x="10447020" y="3072384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9" name="Shape 37"/>
          <p:cNvSpPr/>
          <p:nvPr/>
        </p:nvSpPr>
        <p:spPr>
          <a:xfrm>
            <a:off x="10639044" y="3072384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62972" y="3264408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1" name="Shape 39"/>
          <p:cNvSpPr/>
          <p:nvPr/>
        </p:nvSpPr>
        <p:spPr>
          <a:xfrm>
            <a:off x="10254996" y="3264408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Shape 40"/>
          <p:cNvSpPr/>
          <p:nvPr/>
        </p:nvSpPr>
        <p:spPr>
          <a:xfrm>
            <a:off x="10447020" y="3264408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3" name="Shape 41"/>
          <p:cNvSpPr/>
          <p:nvPr/>
        </p:nvSpPr>
        <p:spPr>
          <a:xfrm>
            <a:off x="10639044" y="3264408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Shape 42"/>
          <p:cNvSpPr/>
          <p:nvPr/>
        </p:nvSpPr>
        <p:spPr>
          <a:xfrm>
            <a:off x="10817352" y="2990088"/>
            <a:ext cx="621792" cy="566928"/>
          </a:xfrm>
          <a:prstGeom prst="roundRect">
            <a:avLst>
              <a:gd name="adj" fmla="val 12903"/>
            </a:avLst>
          </a:prstGeom>
          <a:solidFill>
            <a:srgbClr val="16233A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0817352" y="3044952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0776204" y="3072384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7" name="Shape 45"/>
          <p:cNvSpPr/>
          <p:nvPr/>
        </p:nvSpPr>
        <p:spPr>
          <a:xfrm>
            <a:off x="10968228" y="3072384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8" name="Shape 46"/>
          <p:cNvSpPr/>
          <p:nvPr/>
        </p:nvSpPr>
        <p:spPr>
          <a:xfrm>
            <a:off x="11160252" y="3072384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9" name="Shape 47"/>
          <p:cNvSpPr/>
          <p:nvPr/>
        </p:nvSpPr>
        <p:spPr>
          <a:xfrm>
            <a:off x="11352276" y="3072384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0" name="Shape 48"/>
          <p:cNvSpPr/>
          <p:nvPr/>
        </p:nvSpPr>
        <p:spPr>
          <a:xfrm>
            <a:off x="10776204" y="3264408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1" name="Shape 49"/>
          <p:cNvSpPr/>
          <p:nvPr/>
        </p:nvSpPr>
        <p:spPr>
          <a:xfrm>
            <a:off x="10968228" y="3264408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2" name="Shape 50"/>
          <p:cNvSpPr/>
          <p:nvPr/>
        </p:nvSpPr>
        <p:spPr>
          <a:xfrm>
            <a:off x="11160252" y="3264408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3" name="Shape 51"/>
          <p:cNvSpPr/>
          <p:nvPr/>
        </p:nvSpPr>
        <p:spPr>
          <a:xfrm>
            <a:off x="11352276" y="3264408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4" name="Shape 52"/>
          <p:cNvSpPr/>
          <p:nvPr/>
        </p:nvSpPr>
        <p:spPr>
          <a:xfrm>
            <a:off x="9875520" y="2880360"/>
            <a:ext cx="201168" cy="0"/>
          </a:xfrm>
          <a:prstGeom prst="line">
            <a:avLst/>
          </a:prstGeom>
          <a:noFill/>
          <a:ln w="25400">
            <a:solidFill>
              <a:srgbClr val="8FA6C4"/>
            </a:solidFill>
            <a:prstDash val="solid"/>
            <a:tailEnd type="triangle"/>
          </a:ln>
        </p:spPr>
      </p:sp>
      <p:sp>
        <p:nvSpPr>
          <p:cNvPr id="55" name="Text 53"/>
          <p:cNvSpPr/>
          <p:nvPr/>
        </p:nvSpPr>
        <p:spPr>
          <a:xfrm>
            <a:off x="10104120" y="349300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 B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4008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第二堂課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640080" y="214884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Transformer 上機：</a:t>
            </a:r>
            <a:endParaRPr lang="en-US" sz="3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從一張卡的每個 block，到多卡的通訊</a:t>
            </a:r>
            <a:endParaRPr lang="en-US" sz="3800" dirty="0"/>
          </a:p>
        </p:txBody>
      </p:sp>
      <p:sp>
        <p:nvSpPr>
          <p:cNvPr id="58" name="Text 56"/>
          <p:cNvSpPr/>
          <p:nvPr/>
        </p:nvSpPr>
        <p:spPr>
          <a:xfrm>
            <a:off x="640080" y="44348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A：把玩具 Transformer 逐 block 攤開，看每一步跑在 GPU 的哪個單元、被算力還是頻寬卡住。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640080" y="4892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B：模型大到一張卡裝不下——資料平行有哪些問題，NVIDIA 用哪些跨 GPU 通訊新技術補上。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64008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延續第一堂：roofline · 記憶體階層 · KV cache · decode 的 memory-bound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這堂課的兩條線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349240" cy="3566160"/>
          </a:xfrm>
          <a:prstGeom prst="roundRect">
            <a:avLst>
              <a:gd name="adj" fmla="val 2564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96596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10455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9659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31720" y="1965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單卡逐 block × GPU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60120" y="2660904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1" name="Text 9"/>
          <p:cNvSpPr/>
          <p:nvPr/>
        </p:nvSpPr>
        <p:spPr>
          <a:xfrm>
            <a:off x="1207008" y="2606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玩具 Transformer：T=6、d=6、2 heads（同構真實模型）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60120" y="3182112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3" name="Text 11"/>
          <p:cNvSpPr/>
          <p:nvPr/>
        </p:nvSpPr>
        <p:spPr>
          <a:xfrm>
            <a:off x="1207008" y="31272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逐 block 拆：Embed → QKV → 多頭 → Attention → Add&amp;Norm → FFN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0120" y="3703320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1207008" y="36484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 block 落在哪個單元：tensor core / CUDA core / HBM / L2 / shared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60120" y="4224528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7" name="Text 15"/>
          <p:cNvSpPr/>
          <p:nvPr/>
        </p:nvSpPr>
        <p:spPr>
          <a:xfrm>
            <a:off x="1207008" y="41696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誰是 compute-bound、誰是 memory-bound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0120" y="4745736"/>
            <a:ext cx="91440" cy="91440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19" name="Text 17"/>
          <p:cNvSpPr/>
          <p:nvPr/>
        </p:nvSpPr>
        <p:spPr>
          <a:xfrm>
            <a:off x="1207008" y="46908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結論：整個模型一張卡（一顆 HBM）跑得完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63640" y="1737360"/>
            <a:ext cx="5349240" cy="3566160"/>
          </a:xfrm>
          <a:prstGeom prst="roundRect">
            <a:avLst>
              <a:gd name="adj" fmla="val 2564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37960" y="196596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4A341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19659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55280" y="1965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多卡的資料平行與互連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0" y="26609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6830568" y="2606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一張卡裝不下：權重 + KV cache + optimizer 狀態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83680" y="3182112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6830568" y="31272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資料平行 (DP) 的四個問題（本堂重點）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583680" y="3703320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7"/>
          <p:cNvSpPr/>
          <p:nvPr/>
        </p:nvSpPr>
        <p:spPr>
          <a:xfrm>
            <a:off x="6830568" y="36484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切模型本身：張量 TP / 管線 PP / 專家 EP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83680" y="422452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1" name="Text 29"/>
          <p:cNvSpPr/>
          <p:nvPr/>
        </p:nvSpPr>
        <p:spPr>
          <a:xfrm>
            <a:off x="6830568" y="41696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通訊變瓶頸 → NVLink5 / NVSwitch / SHARP / NCCL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83680" y="4745736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3" name="Text 31"/>
          <p:cNvSpPr/>
          <p:nvPr/>
        </p:nvSpPr>
        <p:spPr>
          <a:xfrm>
            <a:off x="6830568" y="46908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跨節點 InfiniBand / Spectrum-X；2026：Rubin、CMX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一條主線：先看懂一張卡怎麼跑一個 Transformer，再看模型變大後、卡與卡之間要搬什麼。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 / 24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回顧：我們的玩具 Transformer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真實模型 d=12288、96 heads、128K context——大到畫不出來。把維度縮到極小、但保留每一個分叉，結構與尺寸無關。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4114800" cy="320040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176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玩具規格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5603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維度</a:t>
            </a:r>
            <a:pPr indent="0" marL="0">
              <a:buNone/>
            </a:pPr>
            <a:r>
              <a:rPr lang="en-US" sz="105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　　玩具</a:t>
            </a:r>
            <a:pPr indent="0" marL="0">
              <a:buNone/>
            </a:pPr>
            <a:r>
              <a:rPr lang="en-US" sz="105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　　真實(GPT級)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14400" y="2926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序列長 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29260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2900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128K+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33649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d_model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33649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29000" y="336499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12288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38039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heads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38039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29000" y="380390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96+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42428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d_head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4242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429000" y="424281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128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468172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FFN hidden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468172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12（2×）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429000" y="468172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4×d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212080" y="2011680"/>
            <a:ext cx="6309360" cy="320040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486400" y="217627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一層 Decoder block 的資料流（GPT 這類只留 decoder）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532120" y="2651760"/>
            <a:ext cx="3657600" cy="329184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32120" y="265176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Embed + 位置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532120" y="2962656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↓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054096"/>
            <a:ext cx="3657600" cy="329184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32120" y="30540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Masked Self-Attn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532120" y="3364992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↓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3456432"/>
            <a:ext cx="3657600" cy="329184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9050">
            <a:solidFill>
              <a:srgbClr val="8FA6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32120" y="345643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Add &amp; Norm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532120" y="3767328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↓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3858768"/>
            <a:ext cx="3657600" cy="329184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32120" y="385876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FFN 6→12→6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532120" y="4169664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↓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32120" y="4261104"/>
            <a:ext cx="3657600" cy="329184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9050">
            <a:solidFill>
              <a:srgbClr val="8FA6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32120" y="426110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Add &amp; Norm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5532120" y="4572000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↓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532120" y="4663440"/>
            <a:ext cx="3657600" cy="329184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32120" y="466344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logits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9418320" y="27432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我 愛 喝 咖 啡 →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9372600" y="3200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attention 是 token 間唯一交換資訊的地方；FFN 對每個 token 獨立（token 軸天生平行）。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7" name="Text 45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同構：玩具上看懂的每一條資料流，乘上倍率就是真實模型。這堂課逐 block 問「它在 GPU 上跑在哪」。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A · 單卡：Transformer 逐 block × GPU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 / 24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我們要對應的那台 GPU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在逐 block 之前，先把 GPU 的零件擺出來——每個 block 會用到其中幾個。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1993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運算單元（誰在算）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14400" y="2496312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45059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Tensor Core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75234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整塊 tile 的矩陣乘加（MMA）→ 吃 GEMM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14400" y="3337560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29184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CUDA Core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359359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純量逐格算 → softmax / norm / 逐元素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14400" y="4178808"/>
            <a:ext cx="82296" cy="566928"/>
          </a:xfrm>
          <a:prstGeom prst="rect">
            <a:avLst/>
          </a:prstGeom>
          <a:solidFill>
            <a:srgbClr val="EAF1FB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133088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SM / warp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443484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32 執行緒一組；大量 warp 藏記憶體延遲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82880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37960" y="1993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記憶體階層（資料住哪）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37960" y="24323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HBM（global）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41080" y="243230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~3.35 TB/s · 大而慢 · 權重 + KV cache 住這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537960" y="3035808"/>
            <a:ext cx="4754880" cy="0"/>
          </a:xfrm>
          <a:prstGeom prst="line">
            <a:avLst/>
          </a:prstGeom>
          <a:noFill/>
          <a:ln w="9525">
            <a:solidFill>
              <a:srgbClr val="2A3D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309067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L2 cache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41080" y="30906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~數十 MB · 全晶片共用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537960" y="3694176"/>
            <a:ext cx="4754880" cy="0"/>
          </a:xfrm>
          <a:prstGeom prst="line">
            <a:avLst/>
          </a:prstGeom>
          <a:noFill/>
          <a:ln w="9525">
            <a:solidFill>
              <a:srgbClr val="2A3D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37490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Shared / L1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641080" y="37490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~228 KB/SM · 程式可控（tiling 關鍵）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37960" y="4352544"/>
            <a:ext cx="4754880" cy="0"/>
          </a:xfrm>
          <a:prstGeom prst="line">
            <a:avLst/>
          </a:prstGeom>
          <a:noFill/>
          <a:ln w="9525">
            <a:solidFill>
              <a:srgbClr val="2A3D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37960" y="440740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Register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641080" y="440740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最快 · tensor core 直接吃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080" y="5349240"/>
            <a:ext cx="10881360" cy="566928"/>
          </a:xfrm>
          <a:prstGeom prst="roundRect">
            <a:avLst>
              <a:gd name="adj" fmla="val 16129"/>
            </a:avLst>
          </a:prstGeom>
          <a:solidFill>
            <a:srgbClr val="123D31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53492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🔍 互動環節①　</a:t>
            </a:r>
            <a:pPr indent="0" marL="0"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切出去開 interactive/gpu_map.html：Cluster → Node → GPU → SM → 運算單元(CUDA/Tensor) 下鑽，回來接逐 block。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A · 單卡：Transformer 逐 block × GPU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 / 24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Block 0 — Embedding + 位置編碼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0·Embed+PE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313432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41448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41448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1·QKV 投影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114800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2816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42816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2·多頭切分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16168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44184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44184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3·Attention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17536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845552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45552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4·Add &amp; Norm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518904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646920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46920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5·FFN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2148840"/>
            <a:ext cx="6949440" cy="3063240"/>
          </a:xfrm>
          <a:prstGeom prst="roundRect">
            <a:avLst>
              <a:gd name="adj" fmla="val 2985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4400" y="2331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token id → 查表（gather）→ 向量 [6]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005840" y="2880360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2880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我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72768" y="2880360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72768" y="2880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愛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39696" y="2880360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139696" y="2880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喝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706624" y="2880360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06624" y="2880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咖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73552" y="2880360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73552" y="2880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啡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840480" y="2880360"/>
            <a:ext cx="475488" cy="475488"/>
          </a:xfrm>
          <a:prstGeom prst="roundRect">
            <a:avLst>
              <a:gd name="adj" fmla="val 11538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0" y="28803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…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005840" y="3474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查表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468880" y="3429000"/>
            <a:ext cx="0" cy="384048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4663440" y="283464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10455F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6344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Embedding 表 [vocab × 6]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663440" y="33101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住 HBM · 只讀取用到的幾列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14400" y="41605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+ 位置編碼：把「第幾個字」的資訊加進向量 → 得到 X [6×6]（逐元素相加）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818120" y="2148840"/>
            <a:ext cx="3703320" cy="3063240"/>
          </a:xfrm>
          <a:prstGeom prst="roundRect">
            <a:avLst>
              <a:gd name="adj" fmla="val 2985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046720" y="23134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對應 NVIDIA GPU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046720" y="280720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主要運算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464040" y="28072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查表 gather + 逐元素加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46720" y="321868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用到單元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464040" y="32186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CUDA core（不是 tensor core）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046720" y="363016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資料位置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464040" y="36301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embedding 表在 HBM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046720" y="4041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搬運型態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9464040" y="40416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隨機讀取幾列 → 記憶體存取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8046720" y="4645152"/>
            <a:ext cx="3246120" cy="384048"/>
          </a:xfrm>
          <a:prstGeom prst="roundRect">
            <a:avLst>
              <a:gd name="adj" fmla="val 50000"/>
            </a:avLst>
          </a:prstGeom>
          <a:solidFill>
            <a:srgbClr val="10455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046720" y="464515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memory-bound（運算極少）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6" name="Text 54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第一步幾乎不算數：只是把字換成向量。GPU 這裡是在「搬」，不是在「算」。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A · 單卡：Transformer 逐 block × GPU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 / 24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Block 1 — QKV 投影：第一個大矩陣乘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0·Embed+PE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313432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41448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41448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1·QKV 投影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114800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2816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42816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2·多頭切分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16168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44184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44184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3·Attention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17536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845552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45552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4·Add &amp; Norm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518904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646920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46920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5·FFN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2148840"/>
            <a:ext cx="6949440" cy="3063240"/>
          </a:xfrm>
          <a:prstGeom prst="roundRect">
            <a:avLst>
              <a:gd name="adj" fmla="val 2985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4400" y="2331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X [6×6] 各乘三個權重 → Q、K、V [6×6]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143000" y="2971800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6" name="Shape 24"/>
          <p:cNvSpPr/>
          <p:nvPr/>
        </p:nvSpPr>
        <p:spPr>
          <a:xfrm>
            <a:off x="1307592" y="2971800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7" name="Shape 25"/>
          <p:cNvSpPr/>
          <p:nvPr/>
        </p:nvSpPr>
        <p:spPr>
          <a:xfrm>
            <a:off x="1472184" y="2971800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8" name="Shape 26"/>
          <p:cNvSpPr/>
          <p:nvPr/>
        </p:nvSpPr>
        <p:spPr>
          <a:xfrm>
            <a:off x="1636776" y="2971800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9" name="Shape 27"/>
          <p:cNvSpPr/>
          <p:nvPr/>
        </p:nvSpPr>
        <p:spPr>
          <a:xfrm>
            <a:off x="1801368" y="2971800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0" name="Shape 28"/>
          <p:cNvSpPr/>
          <p:nvPr/>
        </p:nvSpPr>
        <p:spPr>
          <a:xfrm>
            <a:off x="1965960" y="2971800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1" name="Shape 29"/>
          <p:cNvSpPr/>
          <p:nvPr/>
        </p:nvSpPr>
        <p:spPr>
          <a:xfrm>
            <a:off x="1143000" y="3136392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2" name="Shape 30"/>
          <p:cNvSpPr/>
          <p:nvPr/>
        </p:nvSpPr>
        <p:spPr>
          <a:xfrm>
            <a:off x="1307592" y="3136392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3" name="Shape 31"/>
          <p:cNvSpPr/>
          <p:nvPr/>
        </p:nvSpPr>
        <p:spPr>
          <a:xfrm>
            <a:off x="1472184" y="3136392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4" name="Shape 32"/>
          <p:cNvSpPr/>
          <p:nvPr/>
        </p:nvSpPr>
        <p:spPr>
          <a:xfrm>
            <a:off x="1636776" y="3136392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5" name="Shape 33"/>
          <p:cNvSpPr/>
          <p:nvPr/>
        </p:nvSpPr>
        <p:spPr>
          <a:xfrm>
            <a:off x="1801368" y="3136392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6" name="Shape 34"/>
          <p:cNvSpPr/>
          <p:nvPr/>
        </p:nvSpPr>
        <p:spPr>
          <a:xfrm>
            <a:off x="1965960" y="3136392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7" name="Shape 35"/>
          <p:cNvSpPr/>
          <p:nvPr/>
        </p:nvSpPr>
        <p:spPr>
          <a:xfrm>
            <a:off x="1143000" y="3300984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8" name="Shape 36"/>
          <p:cNvSpPr/>
          <p:nvPr/>
        </p:nvSpPr>
        <p:spPr>
          <a:xfrm>
            <a:off x="1307592" y="3300984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9" name="Shape 37"/>
          <p:cNvSpPr/>
          <p:nvPr/>
        </p:nvSpPr>
        <p:spPr>
          <a:xfrm>
            <a:off x="1472184" y="3300984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0" name="Shape 38"/>
          <p:cNvSpPr/>
          <p:nvPr/>
        </p:nvSpPr>
        <p:spPr>
          <a:xfrm>
            <a:off x="1636776" y="3300984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1" name="Shape 39"/>
          <p:cNvSpPr/>
          <p:nvPr/>
        </p:nvSpPr>
        <p:spPr>
          <a:xfrm>
            <a:off x="1801368" y="3300984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2" name="Shape 40"/>
          <p:cNvSpPr/>
          <p:nvPr/>
        </p:nvSpPr>
        <p:spPr>
          <a:xfrm>
            <a:off x="1965960" y="3300984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3" name="Shape 41"/>
          <p:cNvSpPr/>
          <p:nvPr/>
        </p:nvSpPr>
        <p:spPr>
          <a:xfrm>
            <a:off x="1143000" y="3465576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4" name="Shape 42"/>
          <p:cNvSpPr/>
          <p:nvPr/>
        </p:nvSpPr>
        <p:spPr>
          <a:xfrm>
            <a:off x="1307592" y="3465576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5" name="Shape 43"/>
          <p:cNvSpPr/>
          <p:nvPr/>
        </p:nvSpPr>
        <p:spPr>
          <a:xfrm>
            <a:off x="1472184" y="3465576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1636776" y="3465576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7" name="Shape 45"/>
          <p:cNvSpPr/>
          <p:nvPr/>
        </p:nvSpPr>
        <p:spPr>
          <a:xfrm>
            <a:off x="1801368" y="3465576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8" name="Shape 46"/>
          <p:cNvSpPr/>
          <p:nvPr/>
        </p:nvSpPr>
        <p:spPr>
          <a:xfrm>
            <a:off x="1965960" y="3465576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9" name="Shape 47"/>
          <p:cNvSpPr/>
          <p:nvPr/>
        </p:nvSpPr>
        <p:spPr>
          <a:xfrm>
            <a:off x="1143000" y="3630168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0" name="Shape 48"/>
          <p:cNvSpPr/>
          <p:nvPr/>
        </p:nvSpPr>
        <p:spPr>
          <a:xfrm>
            <a:off x="1307592" y="3630168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1" name="Shape 49"/>
          <p:cNvSpPr/>
          <p:nvPr/>
        </p:nvSpPr>
        <p:spPr>
          <a:xfrm>
            <a:off x="1472184" y="3630168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2" name="Shape 50"/>
          <p:cNvSpPr/>
          <p:nvPr/>
        </p:nvSpPr>
        <p:spPr>
          <a:xfrm>
            <a:off x="1636776" y="3630168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3" name="Shape 51"/>
          <p:cNvSpPr/>
          <p:nvPr/>
        </p:nvSpPr>
        <p:spPr>
          <a:xfrm>
            <a:off x="1801368" y="3630168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4" name="Shape 52"/>
          <p:cNvSpPr/>
          <p:nvPr/>
        </p:nvSpPr>
        <p:spPr>
          <a:xfrm>
            <a:off x="1965960" y="3630168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5" name="Shape 53"/>
          <p:cNvSpPr/>
          <p:nvPr/>
        </p:nvSpPr>
        <p:spPr>
          <a:xfrm>
            <a:off x="1143000" y="3794760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6" name="Shape 54"/>
          <p:cNvSpPr/>
          <p:nvPr/>
        </p:nvSpPr>
        <p:spPr>
          <a:xfrm>
            <a:off x="1307592" y="3794760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7" name="Shape 55"/>
          <p:cNvSpPr/>
          <p:nvPr/>
        </p:nvSpPr>
        <p:spPr>
          <a:xfrm>
            <a:off x="1472184" y="3794760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8" name="Shape 56"/>
          <p:cNvSpPr/>
          <p:nvPr/>
        </p:nvSpPr>
        <p:spPr>
          <a:xfrm>
            <a:off x="1636776" y="3794760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9" name="Shape 57"/>
          <p:cNvSpPr/>
          <p:nvPr/>
        </p:nvSpPr>
        <p:spPr>
          <a:xfrm>
            <a:off x="1801368" y="3794760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0" name="Shape 58"/>
          <p:cNvSpPr/>
          <p:nvPr/>
        </p:nvSpPr>
        <p:spPr>
          <a:xfrm>
            <a:off x="1965960" y="3794760"/>
            <a:ext cx="146304" cy="14630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1" name="Text 59"/>
          <p:cNvSpPr/>
          <p:nvPr/>
        </p:nvSpPr>
        <p:spPr>
          <a:xfrm>
            <a:off x="1143000" y="39776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X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224028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×</a:t>
            </a:r>
            <a:endParaRPr lang="en-US" sz="2000" dirty="0"/>
          </a:p>
        </p:txBody>
      </p:sp>
      <p:sp>
        <p:nvSpPr>
          <p:cNvPr id="63" name="Shape 61"/>
          <p:cNvSpPr/>
          <p:nvPr/>
        </p:nvSpPr>
        <p:spPr>
          <a:xfrm>
            <a:off x="2697480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4" name="Shape 62"/>
          <p:cNvSpPr/>
          <p:nvPr/>
        </p:nvSpPr>
        <p:spPr>
          <a:xfrm>
            <a:off x="2862072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5" name="Shape 63"/>
          <p:cNvSpPr/>
          <p:nvPr/>
        </p:nvSpPr>
        <p:spPr>
          <a:xfrm>
            <a:off x="3026664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6" name="Shape 64"/>
          <p:cNvSpPr/>
          <p:nvPr/>
        </p:nvSpPr>
        <p:spPr>
          <a:xfrm>
            <a:off x="3191256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7" name="Shape 65"/>
          <p:cNvSpPr/>
          <p:nvPr/>
        </p:nvSpPr>
        <p:spPr>
          <a:xfrm>
            <a:off x="3355848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8" name="Shape 66"/>
          <p:cNvSpPr/>
          <p:nvPr/>
        </p:nvSpPr>
        <p:spPr>
          <a:xfrm>
            <a:off x="3520440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9" name="Shape 67"/>
          <p:cNvSpPr/>
          <p:nvPr/>
        </p:nvSpPr>
        <p:spPr>
          <a:xfrm>
            <a:off x="2697480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0" name="Shape 68"/>
          <p:cNvSpPr/>
          <p:nvPr/>
        </p:nvSpPr>
        <p:spPr>
          <a:xfrm>
            <a:off x="2862072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1" name="Shape 69"/>
          <p:cNvSpPr/>
          <p:nvPr/>
        </p:nvSpPr>
        <p:spPr>
          <a:xfrm>
            <a:off x="3026664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2" name="Shape 70"/>
          <p:cNvSpPr/>
          <p:nvPr/>
        </p:nvSpPr>
        <p:spPr>
          <a:xfrm>
            <a:off x="3191256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3" name="Shape 71"/>
          <p:cNvSpPr/>
          <p:nvPr/>
        </p:nvSpPr>
        <p:spPr>
          <a:xfrm>
            <a:off x="3355848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4" name="Shape 72"/>
          <p:cNvSpPr/>
          <p:nvPr/>
        </p:nvSpPr>
        <p:spPr>
          <a:xfrm>
            <a:off x="3520440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5" name="Shape 73"/>
          <p:cNvSpPr/>
          <p:nvPr/>
        </p:nvSpPr>
        <p:spPr>
          <a:xfrm>
            <a:off x="2697480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6" name="Shape 74"/>
          <p:cNvSpPr/>
          <p:nvPr/>
        </p:nvSpPr>
        <p:spPr>
          <a:xfrm>
            <a:off x="2862072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7" name="Shape 75"/>
          <p:cNvSpPr/>
          <p:nvPr/>
        </p:nvSpPr>
        <p:spPr>
          <a:xfrm>
            <a:off x="3026664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8" name="Shape 76"/>
          <p:cNvSpPr/>
          <p:nvPr/>
        </p:nvSpPr>
        <p:spPr>
          <a:xfrm>
            <a:off x="3191256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9" name="Shape 77"/>
          <p:cNvSpPr/>
          <p:nvPr/>
        </p:nvSpPr>
        <p:spPr>
          <a:xfrm>
            <a:off x="3355848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0" name="Shape 78"/>
          <p:cNvSpPr/>
          <p:nvPr/>
        </p:nvSpPr>
        <p:spPr>
          <a:xfrm>
            <a:off x="3520440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1" name="Shape 79"/>
          <p:cNvSpPr/>
          <p:nvPr/>
        </p:nvSpPr>
        <p:spPr>
          <a:xfrm>
            <a:off x="2697480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2" name="Shape 80"/>
          <p:cNvSpPr/>
          <p:nvPr/>
        </p:nvSpPr>
        <p:spPr>
          <a:xfrm>
            <a:off x="2862072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3" name="Shape 81"/>
          <p:cNvSpPr/>
          <p:nvPr/>
        </p:nvSpPr>
        <p:spPr>
          <a:xfrm>
            <a:off x="3026664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4" name="Shape 82"/>
          <p:cNvSpPr/>
          <p:nvPr/>
        </p:nvSpPr>
        <p:spPr>
          <a:xfrm>
            <a:off x="3191256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5" name="Shape 83"/>
          <p:cNvSpPr/>
          <p:nvPr/>
        </p:nvSpPr>
        <p:spPr>
          <a:xfrm>
            <a:off x="3355848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6" name="Shape 84"/>
          <p:cNvSpPr/>
          <p:nvPr/>
        </p:nvSpPr>
        <p:spPr>
          <a:xfrm>
            <a:off x="3520440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7" name="Shape 85"/>
          <p:cNvSpPr/>
          <p:nvPr/>
        </p:nvSpPr>
        <p:spPr>
          <a:xfrm>
            <a:off x="2697480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8" name="Shape 86"/>
          <p:cNvSpPr/>
          <p:nvPr/>
        </p:nvSpPr>
        <p:spPr>
          <a:xfrm>
            <a:off x="2862072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9" name="Shape 87"/>
          <p:cNvSpPr/>
          <p:nvPr/>
        </p:nvSpPr>
        <p:spPr>
          <a:xfrm>
            <a:off x="3026664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0" name="Shape 88"/>
          <p:cNvSpPr/>
          <p:nvPr/>
        </p:nvSpPr>
        <p:spPr>
          <a:xfrm>
            <a:off x="3191256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1" name="Shape 89"/>
          <p:cNvSpPr/>
          <p:nvPr/>
        </p:nvSpPr>
        <p:spPr>
          <a:xfrm>
            <a:off x="3355848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2" name="Shape 90"/>
          <p:cNvSpPr/>
          <p:nvPr/>
        </p:nvSpPr>
        <p:spPr>
          <a:xfrm>
            <a:off x="3520440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3" name="Shape 91"/>
          <p:cNvSpPr/>
          <p:nvPr/>
        </p:nvSpPr>
        <p:spPr>
          <a:xfrm>
            <a:off x="2697480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4" name="Shape 92"/>
          <p:cNvSpPr/>
          <p:nvPr/>
        </p:nvSpPr>
        <p:spPr>
          <a:xfrm>
            <a:off x="2862072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5" name="Shape 93"/>
          <p:cNvSpPr/>
          <p:nvPr/>
        </p:nvSpPr>
        <p:spPr>
          <a:xfrm>
            <a:off x="3026664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6" name="Shape 94"/>
          <p:cNvSpPr/>
          <p:nvPr/>
        </p:nvSpPr>
        <p:spPr>
          <a:xfrm>
            <a:off x="3191256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7" name="Shape 95"/>
          <p:cNvSpPr/>
          <p:nvPr/>
        </p:nvSpPr>
        <p:spPr>
          <a:xfrm>
            <a:off x="3355848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8" name="Shape 96"/>
          <p:cNvSpPr/>
          <p:nvPr/>
        </p:nvSpPr>
        <p:spPr>
          <a:xfrm>
            <a:off x="3520440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9" name="Text 97"/>
          <p:cNvSpPr/>
          <p:nvPr/>
        </p:nvSpPr>
        <p:spPr>
          <a:xfrm>
            <a:off x="2697480" y="39776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Wq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>
            <a:off x="3840480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1" name="Shape 99"/>
          <p:cNvSpPr/>
          <p:nvPr/>
        </p:nvSpPr>
        <p:spPr>
          <a:xfrm>
            <a:off x="4005072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169664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34256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98848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63440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840480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005072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169664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334256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498848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663440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840480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05072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69664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334256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498848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663440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40480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005072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169664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34256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98848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663440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840480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05072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69664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334256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498848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663440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840480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005072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169664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334256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498848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663440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6" name="Text 134"/>
          <p:cNvSpPr/>
          <p:nvPr/>
        </p:nvSpPr>
        <p:spPr>
          <a:xfrm>
            <a:off x="3840480" y="39776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Wk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4983480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48072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312664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477256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641848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806440" y="297180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83480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148072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12664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77256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641848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806440" y="3136392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983480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148072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12664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477256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641848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806440" y="3300984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5" name="Shape 153"/>
          <p:cNvSpPr/>
          <p:nvPr/>
        </p:nvSpPr>
        <p:spPr>
          <a:xfrm>
            <a:off x="4983480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148072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312664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477256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641848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806440" y="3465576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983480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148072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312664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477256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641848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06440" y="3630168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7" name="Shape 165"/>
          <p:cNvSpPr/>
          <p:nvPr/>
        </p:nvSpPr>
        <p:spPr>
          <a:xfrm>
            <a:off x="4983480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148072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312664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477256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641848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06440" y="3794760"/>
            <a:ext cx="14630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3" name="Text 171"/>
          <p:cNvSpPr/>
          <p:nvPr/>
        </p:nvSpPr>
        <p:spPr>
          <a:xfrm>
            <a:off x="4983480" y="39776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Wv</a:t>
            </a:r>
            <a:endParaRPr lang="en-US" sz="1200" dirty="0"/>
          </a:p>
        </p:txBody>
      </p:sp>
      <p:sp>
        <p:nvSpPr>
          <p:cNvPr id="174" name="Text 172"/>
          <p:cNvSpPr/>
          <p:nvPr/>
        </p:nvSpPr>
        <p:spPr>
          <a:xfrm>
            <a:off x="6126480" y="32461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Q,K,V</a:t>
            </a:r>
            <a:endParaRPr lang="en-US" sz="1300" dirty="0"/>
          </a:p>
        </p:txBody>
      </p:sp>
      <p:sp>
        <p:nvSpPr>
          <p:cNvPr id="175" name="Text 173"/>
          <p:cNvSpPr/>
          <p:nvPr/>
        </p:nvSpPr>
        <p:spPr>
          <a:xfrm>
            <a:off x="914400" y="43434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這是標準 GEMM（矩陣×矩陣）。真實模型 d=12288 → 這幾個乘法是每層算力大戶。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7818120" y="2148840"/>
            <a:ext cx="3703320" cy="3063240"/>
          </a:xfrm>
          <a:prstGeom prst="roundRect">
            <a:avLst>
              <a:gd name="adj" fmla="val 2985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8046720" y="23134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對應 NVIDIA GPU</a:t>
            </a:r>
            <a:endParaRPr lang="en-US" sz="1500" dirty="0"/>
          </a:p>
        </p:txBody>
      </p:sp>
      <p:sp>
        <p:nvSpPr>
          <p:cNvPr id="178" name="Text 176"/>
          <p:cNvSpPr/>
          <p:nvPr/>
        </p:nvSpPr>
        <p:spPr>
          <a:xfrm>
            <a:off x="8046720" y="280720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主要運算</a:t>
            </a:r>
            <a:endParaRPr lang="en-US" sz="1200" dirty="0"/>
          </a:p>
        </p:txBody>
      </p:sp>
      <p:sp>
        <p:nvSpPr>
          <p:cNvPr id="179" name="Text 177"/>
          <p:cNvSpPr/>
          <p:nvPr/>
        </p:nvSpPr>
        <p:spPr>
          <a:xfrm>
            <a:off x="9464040" y="28072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GEMM：X · W（矩陣乘）</a:t>
            </a:r>
            <a:endParaRPr lang="en-US" sz="1200" dirty="0"/>
          </a:p>
        </p:txBody>
      </p:sp>
      <p:sp>
        <p:nvSpPr>
          <p:cNvPr id="180" name="Text 178"/>
          <p:cNvSpPr/>
          <p:nvPr/>
        </p:nvSpPr>
        <p:spPr>
          <a:xfrm>
            <a:off x="8046720" y="321868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用到單元</a:t>
            </a:r>
            <a:endParaRPr lang="en-US" sz="1200" dirty="0"/>
          </a:p>
        </p:txBody>
      </p:sp>
      <p:sp>
        <p:nvSpPr>
          <p:cNvPr id="181" name="Text 179"/>
          <p:cNvSpPr/>
          <p:nvPr/>
        </p:nvSpPr>
        <p:spPr>
          <a:xfrm>
            <a:off x="9464040" y="32186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Tensor Core（MMA 一次一塊 tile）</a:t>
            </a:r>
            <a:endParaRPr lang="en-US" sz="1200" dirty="0"/>
          </a:p>
        </p:txBody>
      </p:sp>
      <p:sp>
        <p:nvSpPr>
          <p:cNvPr id="182" name="Text 180"/>
          <p:cNvSpPr/>
          <p:nvPr/>
        </p:nvSpPr>
        <p:spPr>
          <a:xfrm>
            <a:off x="8046720" y="363016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資料流動</a:t>
            </a:r>
            <a:endParaRPr lang="en-US" sz="1200" dirty="0"/>
          </a:p>
        </p:txBody>
      </p:sp>
      <p:sp>
        <p:nvSpPr>
          <p:cNvPr id="183" name="Text 181"/>
          <p:cNvSpPr/>
          <p:nvPr/>
        </p:nvSpPr>
        <p:spPr>
          <a:xfrm>
            <a:off x="9464040" y="36301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 → L2 → shared → register</a:t>
            </a:r>
            <a:endParaRPr lang="en-US" sz="1200" dirty="0"/>
          </a:p>
        </p:txBody>
      </p:sp>
      <p:sp>
        <p:nvSpPr>
          <p:cNvPr id="184" name="Text 182"/>
          <p:cNvSpPr/>
          <p:nvPr/>
        </p:nvSpPr>
        <p:spPr>
          <a:xfrm>
            <a:off x="8046720" y="4041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加速關鍵</a:t>
            </a:r>
            <a:endParaRPr lang="en-US" sz="1200" dirty="0"/>
          </a:p>
        </p:txBody>
      </p:sp>
      <p:sp>
        <p:nvSpPr>
          <p:cNvPr id="185" name="Text 183"/>
          <p:cNvSpPr/>
          <p:nvPr/>
        </p:nvSpPr>
        <p:spPr>
          <a:xfrm>
            <a:off x="9464040" y="40416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tiling：tile 留 shared 重複用</a:t>
            </a:r>
            <a:endParaRPr lang="en-US" sz="1200" dirty="0"/>
          </a:p>
        </p:txBody>
      </p:sp>
      <p:sp>
        <p:nvSpPr>
          <p:cNvPr id="186" name="Shape 184"/>
          <p:cNvSpPr/>
          <p:nvPr/>
        </p:nvSpPr>
        <p:spPr>
          <a:xfrm>
            <a:off x="8046720" y="4645152"/>
            <a:ext cx="3246120" cy="384048"/>
          </a:xfrm>
          <a:prstGeom prst="roundRect">
            <a:avLst>
              <a:gd name="adj" fmla="val 50000"/>
            </a:avLst>
          </a:prstGeom>
          <a:solidFill>
            <a:srgbClr val="4A341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8046720" y="464515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compute-bound（T 夠大時）</a:t>
            </a:r>
            <a:endParaRPr lang="en-US" sz="1300" dirty="0"/>
          </a:p>
        </p:txBody>
      </p:sp>
      <p:sp>
        <p:nvSpPr>
          <p:cNvPr id="188" name="Shape 186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9" name="Text 187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權重從 HBM 讀進來、切成 16×16 的 tile 餵進 tensor core——這就是 GPU「算得快」的主場。</a:t>
            </a:r>
            <a:endParaRPr lang="en-US" sz="1500" dirty="0"/>
          </a:p>
        </p:txBody>
      </p:sp>
      <p:sp>
        <p:nvSpPr>
          <p:cNvPr id="190" name="Text 188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A · 單卡：Transformer 逐 block × GPU</a:t>
            </a:r>
            <a:endParaRPr lang="en-US" sz="900" dirty="0"/>
          </a:p>
        </p:txBody>
      </p:sp>
      <p:sp>
        <p:nvSpPr>
          <p:cNvPr id="191" name="Text 18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 / 24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A78BF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Block 2 — 多頭切分：分叉就是平行軸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0·Embed+PE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313432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41448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41448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1·QKV 投影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114800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2816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42816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2·多頭切分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16168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44184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44184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3·Attention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17536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845552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45552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4·Add &amp; Norm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518904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646920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46920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5·FFN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2148840"/>
            <a:ext cx="6949440" cy="3063240"/>
          </a:xfrm>
          <a:prstGeom prst="roundRect">
            <a:avLst>
              <a:gd name="adj" fmla="val 2985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4400" y="2331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6 維「切」成 2 個 head × 3 維——兩個 head 結構相同、彼此零依賴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097280" y="301752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6" name="Shape 24"/>
          <p:cNvSpPr/>
          <p:nvPr/>
        </p:nvSpPr>
        <p:spPr>
          <a:xfrm>
            <a:off x="1271016" y="301752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7" name="Shape 25"/>
          <p:cNvSpPr/>
          <p:nvPr/>
        </p:nvSpPr>
        <p:spPr>
          <a:xfrm>
            <a:off x="1444752" y="301752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8" name="Shape 26"/>
          <p:cNvSpPr/>
          <p:nvPr/>
        </p:nvSpPr>
        <p:spPr>
          <a:xfrm>
            <a:off x="1618488" y="301752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9" name="Shape 27"/>
          <p:cNvSpPr/>
          <p:nvPr/>
        </p:nvSpPr>
        <p:spPr>
          <a:xfrm>
            <a:off x="1792224" y="301752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0" name="Shape 28"/>
          <p:cNvSpPr/>
          <p:nvPr/>
        </p:nvSpPr>
        <p:spPr>
          <a:xfrm>
            <a:off x="1965960" y="301752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1" name="Shape 29"/>
          <p:cNvSpPr/>
          <p:nvPr/>
        </p:nvSpPr>
        <p:spPr>
          <a:xfrm>
            <a:off x="1097280" y="3191256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2" name="Shape 30"/>
          <p:cNvSpPr/>
          <p:nvPr/>
        </p:nvSpPr>
        <p:spPr>
          <a:xfrm>
            <a:off x="1271016" y="3191256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3" name="Shape 31"/>
          <p:cNvSpPr/>
          <p:nvPr/>
        </p:nvSpPr>
        <p:spPr>
          <a:xfrm>
            <a:off x="1444752" y="3191256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4" name="Shape 32"/>
          <p:cNvSpPr/>
          <p:nvPr/>
        </p:nvSpPr>
        <p:spPr>
          <a:xfrm>
            <a:off x="1618488" y="3191256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5" name="Shape 33"/>
          <p:cNvSpPr/>
          <p:nvPr/>
        </p:nvSpPr>
        <p:spPr>
          <a:xfrm>
            <a:off x="1792224" y="3191256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6" name="Shape 34"/>
          <p:cNvSpPr/>
          <p:nvPr/>
        </p:nvSpPr>
        <p:spPr>
          <a:xfrm>
            <a:off x="1965960" y="3191256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7" name="Shape 35"/>
          <p:cNvSpPr/>
          <p:nvPr/>
        </p:nvSpPr>
        <p:spPr>
          <a:xfrm>
            <a:off x="1097280" y="3364992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8" name="Shape 36"/>
          <p:cNvSpPr/>
          <p:nvPr/>
        </p:nvSpPr>
        <p:spPr>
          <a:xfrm>
            <a:off x="1271016" y="3364992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9" name="Shape 37"/>
          <p:cNvSpPr/>
          <p:nvPr/>
        </p:nvSpPr>
        <p:spPr>
          <a:xfrm>
            <a:off x="1444752" y="3364992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0" name="Shape 38"/>
          <p:cNvSpPr/>
          <p:nvPr/>
        </p:nvSpPr>
        <p:spPr>
          <a:xfrm>
            <a:off x="1618488" y="3364992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1" name="Shape 39"/>
          <p:cNvSpPr/>
          <p:nvPr/>
        </p:nvSpPr>
        <p:spPr>
          <a:xfrm>
            <a:off x="1792224" y="3364992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2" name="Shape 40"/>
          <p:cNvSpPr/>
          <p:nvPr/>
        </p:nvSpPr>
        <p:spPr>
          <a:xfrm>
            <a:off x="1965960" y="3364992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3" name="Shape 41"/>
          <p:cNvSpPr/>
          <p:nvPr/>
        </p:nvSpPr>
        <p:spPr>
          <a:xfrm>
            <a:off x="1097280" y="3538728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4" name="Shape 42"/>
          <p:cNvSpPr/>
          <p:nvPr/>
        </p:nvSpPr>
        <p:spPr>
          <a:xfrm>
            <a:off x="1271016" y="3538728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5" name="Shape 43"/>
          <p:cNvSpPr/>
          <p:nvPr/>
        </p:nvSpPr>
        <p:spPr>
          <a:xfrm>
            <a:off x="1444752" y="3538728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1618488" y="3538728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7" name="Shape 45"/>
          <p:cNvSpPr/>
          <p:nvPr/>
        </p:nvSpPr>
        <p:spPr>
          <a:xfrm>
            <a:off x="1792224" y="3538728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8" name="Shape 46"/>
          <p:cNvSpPr/>
          <p:nvPr/>
        </p:nvSpPr>
        <p:spPr>
          <a:xfrm>
            <a:off x="1965960" y="3538728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9" name="Shape 47"/>
          <p:cNvSpPr/>
          <p:nvPr/>
        </p:nvSpPr>
        <p:spPr>
          <a:xfrm>
            <a:off x="1097280" y="3712464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0" name="Shape 48"/>
          <p:cNvSpPr/>
          <p:nvPr/>
        </p:nvSpPr>
        <p:spPr>
          <a:xfrm>
            <a:off x="1271016" y="3712464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1" name="Shape 49"/>
          <p:cNvSpPr/>
          <p:nvPr/>
        </p:nvSpPr>
        <p:spPr>
          <a:xfrm>
            <a:off x="1444752" y="3712464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2" name="Shape 50"/>
          <p:cNvSpPr/>
          <p:nvPr/>
        </p:nvSpPr>
        <p:spPr>
          <a:xfrm>
            <a:off x="1618488" y="3712464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3" name="Shape 51"/>
          <p:cNvSpPr/>
          <p:nvPr/>
        </p:nvSpPr>
        <p:spPr>
          <a:xfrm>
            <a:off x="1792224" y="3712464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4" name="Shape 52"/>
          <p:cNvSpPr/>
          <p:nvPr/>
        </p:nvSpPr>
        <p:spPr>
          <a:xfrm>
            <a:off x="1965960" y="3712464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5" name="Shape 53"/>
          <p:cNvSpPr/>
          <p:nvPr/>
        </p:nvSpPr>
        <p:spPr>
          <a:xfrm>
            <a:off x="1097280" y="388620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6" name="Shape 54"/>
          <p:cNvSpPr/>
          <p:nvPr/>
        </p:nvSpPr>
        <p:spPr>
          <a:xfrm>
            <a:off x="1271016" y="388620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7" name="Shape 55"/>
          <p:cNvSpPr/>
          <p:nvPr/>
        </p:nvSpPr>
        <p:spPr>
          <a:xfrm>
            <a:off x="1444752" y="388620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8" name="Shape 56"/>
          <p:cNvSpPr/>
          <p:nvPr/>
        </p:nvSpPr>
        <p:spPr>
          <a:xfrm>
            <a:off x="1618488" y="388620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9" name="Shape 57"/>
          <p:cNvSpPr/>
          <p:nvPr/>
        </p:nvSpPr>
        <p:spPr>
          <a:xfrm>
            <a:off x="1792224" y="388620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0" name="Shape 58"/>
          <p:cNvSpPr/>
          <p:nvPr/>
        </p:nvSpPr>
        <p:spPr>
          <a:xfrm>
            <a:off x="1965960" y="388620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1" name="Text 59"/>
          <p:cNvSpPr/>
          <p:nvPr/>
        </p:nvSpPr>
        <p:spPr>
          <a:xfrm>
            <a:off x="1097280" y="4069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Q,K,V [6×6]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788920" y="3520440"/>
            <a:ext cx="457200" cy="0"/>
          </a:xfrm>
          <a:prstGeom prst="line">
            <a:avLst/>
          </a:prstGeom>
          <a:noFill/>
          <a:ln w="3175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3429000" y="301752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4" name="Shape 62"/>
          <p:cNvSpPr/>
          <p:nvPr/>
        </p:nvSpPr>
        <p:spPr>
          <a:xfrm>
            <a:off x="3602736" y="301752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5" name="Shape 63"/>
          <p:cNvSpPr/>
          <p:nvPr/>
        </p:nvSpPr>
        <p:spPr>
          <a:xfrm>
            <a:off x="3776472" y="301752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6" name="Shape 64"/>
          <p:cNvSpPr/>
          <p:nvPr/>
        </p:nvSpPr>
        <p:spPr>
          <a:xfrm>
            <a:off x="3429000" y="3191256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7" name="Shape 65"/>
          <p:cNvSpPr/>
          <p:nvPr/>
        </p:nvSpPr>
        <p:spPr>
          <a:xfrm>
            <a:off x="3602736" y="3191256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8" name="Shape 66"/>
          <p:cNvSpPr/>
          <p:nvPr/>
        </p:nvSpPr>
        <p:spPr>
          <a:xfrm>
            <a:off x="3776472" y="3191256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9" name="Shape 67"/>
          <p:cNvSpPr/>
          <p:nvPr/>
        </p:nvSpPr>
        <p:spPr>
          <a:xfrm>
            <a:off x="3429000" y="3364992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0" name="Shape 68"/>
          <p:cNvSpPr/>
          <p:nvPr/>
        </p:nvSpPr>
        <p:spPr>
          <a:xfrm>
            <a:off x="3602736" y="3364992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1" name="Shape 69"/>
          <p:cNvSpPr/>
          <p:nvPr/>
        </p:nvSpPr>
        <p:spPr>
          <a:xfrm>
            <a:off x="3776472" y="3364992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2" name="Shape 70"/>
          <p:cNvSpPr/>
          <p:nvPr/>
        </p:nvSpPr>
        <p:spPr>
          <a:xfrm>
            <a:off x="3429000" y="3538728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3" name="Shape 71"/>
          <p:cNvSpPr/>
          <p:nvPr/>
        </p:nvSpPr>
        <p:spPr>
          <a:xfrm>
            <a:off x="3602736" y="3538728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4" name="Shape 72"/>
          <p:cNvSpPr/>
          <p:nvPr/>
        </p:nvSpPr>
        <p:spPr>
          <a:xfrm>
            <a:off x="3776472" y="3538728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5" name="Shape 73"/>
          <p:cNvSpPr/>
          <p:nvPr/>
        </p:nvSpPr>
        <p:spPr>
          <a:xfrm>
            <a:off x="3429000" y="3712464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6" name="Shape 74"/>
          <p:cNvSpPr/>
          <p:nvPr/>
        </p:nvSpPr>
        <p:spPr>
          <a:xfrm>
            <a:off x="3602736" y="3712464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7" name="Shape 75"/>
          <p:cNvSpPr/>
          <p:nvPr/>
        </p:nvSpPr>
        <p:spPr>
          <a:xfrm>
            <a:off x="3776472" y="3712464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8" name="Shape 76"/>
          <p:cNvSpPr/>
          <p:nvPr/>
        </p:nvSpPr>
        <p:spPr>
          <a:xfrm>
            <a:off x="3429000" y="388620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79" name="Shape 77"/>
          <p:cNvSpPr/>
          <p:nvPr/>
        </p:nvSpPr>
        <p:spPr>
          <a:xfrm>
            <a:off x="3602736" y="388620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0" name="Shape 78"/>
          <p:cNvSpPr/>
          <p:nvPr/>
        </p:nvSpPr>
        <p:spPr>
          <a:xfrm>
            <a:off x="3776472" y="3886200"/>
            <a:ext cx="155448" cy="15544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1" name="Text 79"/>
          <p:cNvSpPr/>
          <p:nvPr/>
        </p:nvSpPr>
        <p:spPr>
          <a:xfrm>
            <a:off x="3429000" y="4069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head 1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617720" y="3017520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3" name="Shape 81"/>
          <p:cNvSpPr/>
          <p:nvPr/>
        </p:nvSpPr>
        <p:spPr>
          <a:xfrm>
            <a:off x="4791456" y="3017520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4" name="Shape 82"/>
          <p:cNvSpPr/>
          <p:nvPr/>
        </p:nvSpPr>
        <p:spPr>
          <a:xfrm>
            <a:off x="4965192" y="3017520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5" name="Shape 83"/>
          <p:cNvSpPr/>
          <p:nvPr/>
        </p:nvSpPr>
        <p:spPr>
          <a:xfrm>
            <a:off x="4617720" y="3191256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6" name="Shape 84"/>
          <p:cNvSpPr/>
          <p:nvPr/>
        </p:nvSpPr>
        <p:spPr>
          <a:xfrm>
            <a:off x="4791456" y="3191256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7" name="Shape 85"/>
          <p:cNvSpPr/>
          <p:nvPr/>
        </p:nvSpPr>
        <p:spPr>
          <a:xfrm>
            <a:off x="4965192" y="3191256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8" name="Shape 86"/>
          <p:cNvSpPr/>
          <p:nvPr/>
        </p:nvSpPr>
        <p:spPr>
          <a:xfrm>
            <a:off x="4617720" y="3364992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9" name="Shape 87"/>
          <p:cNvSpPr/>
          <p:nvPr/>
        </p:nvSpPr>
        <p:spPr>
          <a:xfrm>
            <a:off x="4791456" y="3364992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0" name="Shape 88"/>
          <p:cNvSpPr/>
          <p:nvPr/>
        </p:nvSpPr>
        <p:spPr>
          <a:xfrm>
            <a:off x="4965192" y="3364992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1" name="Shape 89"/>
          <p:cNvSpPr/>
          <p:nvPr/>
        </p:nvSpPr>
        <p:spPr>
          <a:xfrm>
            <a:off x="4617720" y="3538728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2" name="Shape 90"/>
          <p:cNvSpPr/>
          <p:nvPr/>
        </p:nvSpPr>
        <p:spPr>
          <a:xfrm>
            <a:off x="4791456" y="3538728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3" name="Shape 91"/>
          <p:cNvSpPr/>
          <p:nvPr/>
        </p:nvSpPr>
        <p:spPr>
          <a:xfrm>
            <a:off x="4965192" y="3538728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4" name="Shape 92"/>
          <p:cNvSpPr/>
          <p:nvPr/>
        </p:nvSpPr>
        <p:spPr>
          <a:xfrm>
            <a:off x="4617720" y="3712464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5" name="Shape 93"/>
          <p:cNvSpPr/>
          <p:nvPr/>
        </p:nvSpPr>
        <p:spPr>
          <a:xfrm>
            <a:off x="4791456" y="3712464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6" name="Shape 94"/>
          <p:cNvSpPr/>
          <p:nvPr/>
        </p:nvSpPr>
        <p:spPr>
          <a:xfrm>
            <a:off x="4965192" y="3712464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7" name="Shape 95"/>
          <p:cNvSpPr/>
          <p:nvPr/>
        </p:nvSpPr>
        <p:spPr>
          <a:xfrm>
            <a:off x="4617720" y="3886200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8" name="Shape 96"/>
          <p:cNvSpPr/>
          <p:nvPr/>
        </p:nvSpPr>
        <p:spPr>
          <a:xfrm>
            <a:off x="4791456" y="3886200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9" name="Shape 97"/>
          <p:cNvSpPr/>
          <p:nvPr/>
        </p:nvSpPr>
        <p:spPr>
          <a:xfrm>
            <a:off x="4965192" y="3886200"/>
            <a:ext cx="155448" cy="1554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0" name="Text 98"/>
          <p:cNvSpPr/>
          <p:nvPr/>
        </p:nvSpPr>
        <p:spPr>
          <a:xfrm>
            <a:off x="4617720" y="4069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head 2</a:t>
            </a:r>
            <a:endParaRPr lang="en-US" sz="1100" dirty="0"/>
          </a:p>
        </p:txBody>
      </p:sp>
      <p:sp>
        <p:nvSpPr>
          <p:cNvPr id="101" name="Text 99"/>
          <p:cNvSpPr/>
          <p:nvPr/>
        </p:nvSpPr>
        <p:spPr>
          <a:xfrm>
            <a:off x="5577840" y="33832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各自算 attention</a:t>
            </a:r>
            <a:endParaRPr lang="en-US" sz="1150" dirty="0"/>
          </a:p>
        </p:txBody>
      </p:sp>
      <p:sp>
        <p:nvSpPr>
          <p:cNvPr id="102" name="Text 100"/>
          <p:cNvSpPr/>
          <p:nvPr/>
        </p:nvSpPr>
        <p:spPr>
          <a:xfrm>
            <a:off x="914400" y="4434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多送 GPU 一個平行軸（head 軸）：head 之間可同時算，對到不同 tile / 不同 warp（batched GEMM）。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7818120" y="2148840"/>
            <a:ext cx="3703320" cy="3063240"/>
          </a:xfrm>
          <a:prstGeom prst="roundRect">
            <a:avLst>
              <a:gd name="adj" fmla="val 2985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8046720" y="23134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對應 NVIDIA GPU</a:t>
            </a:r>
            <a:endParaRPr lang="en-US" sz="1500" dirty="0"/>
          </a:p>
        </p:txBody>
      </p:sp>
      <p:sp>
        <p:nvSpPr>
          <p:cNvPr id="105" name="Text 103"/>
          <p:cNvSpPr/>
          <p:nvPr/>
        </p:nvSpPr>
        <p:spPr>
          <a:xfrm>
            <a:off x="8046720" y="280720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切出來的</a:t>
            </a:r>
            <a:endParaRPr lang="en-US" sz="1200" dirty="0"/>
          </a:p>
        </p:txBody>
      </p:sp>
      <p:sp>
        <p:nvSpPr>
          <p:cNvPr id="106" name="Text 104"/>
          <p:cNvSpPr/>
          <p:nvPr/>
        </p:nvSpPr>
        <p:spPr>
          <a:xfrm>
            <a:off x="9464040" y="28072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head 軸（玩具 2、真實 96+）</a:t>
            </a:r>
            <a:endParaRPr lang="en-US" sz="1200" dirty="0"/>
          </a:p>
        </p:txBody>
      </p:sp>
      <p:sp>
        <p:nvSpPr>
          <p:cNvPr id="107" name="Text 105"/>
          <p:cNvSpPr/>
          <p:nvPr/>
        </p:nvSpPr>
        <p:spPr>
          <a:xfrm>
            <a:off x="8046720" y="321868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平行對應</a:t>
            </a:r>
            <a:endParaRPr lang="en-US" sz="1200" dirty="0"/>
          </a:p>
        </p:txBody>
      </p:sp>
      <p:sp>
        <p:nvSpPr>
          <p:cNvPr id="108" name="Text 106"/>
          <p:cNvSpPr/>
          <p:nvPr/>
        </p:nvSpPr>
        <p:spPr>
          <a:xfrm>
            <a:off x="9464040" y="32186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batched GEMM / 不同 warp、tile</a:t>
            </a:r>
            <a:endParaRPr lang="en-US" sz="1200" dirty="0"/>
          </a:p>
        </p:txBody>
      </p:sp>
      <p:sp>
        <p:nvSpPr>
          <p:cNvPr id="109" name="Text 107"/>
          <p:cNvSpPr/>
          <p:nvPr/>
        </p:nvSpPr>
        <p:spPr>
          <a:xfrm>
            <a:off x="8046720" y="363016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為何重要</a:t>
            </a:r>
            <a:endParaRPr lang="en-US" sz="1200" dirty="0"/>
          </a:p>
        </p:txBody>
      </p:sp>
      <p:sp>
        <p:nvSpPr>
          <p:cNvPr id="110" name="Text 108"/>
          <p:cNvSpPr/>
          <p:nvPr/>
        </p:nvSpPr>
        <p:spPr>
          <a:xfrm>
            <a:off x="9464040" y="36301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靠「寬」——平行軸越多越好餵</a:t>
            </a:r>
            <a:endParaRPr lang="en-US" sz="1200" dirty="0"/>
          </a:p>
        </p:txBody>
      </p:sp>
      <p:sp>
        <p:nvSpPr>
          <p:cNvPr id="111" name="Text 109"/>
          <p:cNvSpPr/>
          <p:nvPr/>
        </p:nvSpPr>
        <p:spPr>
          <a:xfrm>
            <a:off x="8046720" y="4041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延伸</a:t>
            </a:r>
            <a:endParaRPr lang="en-US" sz="1200" dirty="0"/>
          </a:p>
        </p:txBody>
      </p:sp>
      <p:sp>
        <p:nvSpPr>
          <p:cNvPr id="112" name="Text 110"/>
          <p:cNvSpPr/>
          <p:nvPr/>
        </p:nvSpPr>
        <p:spPr>
          <a:xfrm>
            <a:off x="9464040" y="40416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GQA：多個 Q head 共用一組 KV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046720" y="4645152"/>
            <a:ext cx="3246120" cy="384048"/>
          </a:xfrm>
          <a:prstGeom prst="roundRect">
            <a:avLst>
              <a:gd name="adj" fmla="val 50000"/>
            </a:avLst>
          </a:prstGeom>
          <a:solidFill>
            <a:srgbClr val="4A341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046720" y="464515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餵飽平行度 → 高利用率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6" name="Text 114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Transformer 天生「寬」：head 軸、token 軸都能平行——這正是它為 GPU 而生的原因（第一堂 Part 5）。</a:t>
            </a:r>
            <a:endParaRPr lang="en-US" sz="1500" dirty="0"/>
          </a:p>
        </p:txBody>
      </p:sp>
      <p:sp>
        <p:nvSpPr>
          <p:cNvPr id="117" name="Text 115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A · 單卡：Transformer 逐 block × GPU</a:t>
            </a:r>
            <a:endParaRPr lang="en-US" sz="900" dirty="0"/>
          </a:p>
        </p:txBody>
      </p:sp>
      <p:sp>
        <p:nvSpPr>
          <p:cNvPr id="118" name="Text 11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 / 24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Block 3 — Attention：prefill 與 decode 兩張臉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0·Embed+PE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313432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41448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41448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1·QKV 投影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114800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2816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42816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2·多頭切分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16168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44184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44184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3·Attention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17536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845552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45552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4·Add &amp; Norm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518904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646920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46920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5·FFN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2148840"/>
            <a:ext cx="6949440" cy="3063240"/>
          </a:xfrm>
          <a:prstGeom prst="roundRect">
            <a:avLst>
              <a:gd name="adj" fmla="val 2985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4400" y="230428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一個 head 的矩陣鏈：Q·Kᵀ → softmax → ·V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005840" y="2788920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16233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27889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Q·Kᵀ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05840" y="336499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GEMM/GEMV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697480" y="27889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154680" y="2788920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54680" y="27889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softmax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154680" y="336499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CUDA core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846320" y="27889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303520" y="2788920"/>
            <a:ext cx="1691640" cy="548640"/>
          </a:xfrm>
          <a:prstGeom prst="roundRect">
            <a:avLst>
              <a:gd name="adj" fmla="val 10000"/>
            </a:avLst>
          </a:prstGeom>
          <a:solidFill>
            <a:srgbClr val="16233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0" y="27889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·V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303520" y="336499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GEMM/GEMV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05840" y="388620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123D31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43000" y="39776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Prefill（吃整段）
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Q[6×3]·Kᵀ = GEMM · 整批算 · 高 AI → compute-bound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251960" y="388620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10455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89120" y="39776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Decode（逐字吐）
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q[1×3]·Kᵀ = GEMV · KV cache 從 HBM 重讀 · AI≈1 → memory-bound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818120" y="2148840"/>
            <a:ext cx="3703320" cy="3063240"/>
          </a:xfrm>
          <a:prstGeom prst="roundRect">
            <a:avLst>
              <a:gd name="adj" fmla="val 2985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046720" y="23134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對應 NVIDIA GPU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046720" y="280720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Q·Kᵀ / ·V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464040" y="28072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Tensor Core（矩陣乘）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046720" y="321868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softmax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464040" y="32186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CUDA core（逐元素/歸約）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046720" y="363016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9464040" y="36301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住 HBM（塞不進晶片）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046720" y="4041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 瓶頸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464040" y="40416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每步從 HBM 重串流 KV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8046720" y="4645152"/>
            <a:ext cx="3246120" cy="384048"/>
          </a:xfrm>
          <a:prstGeom prst="roundRect">
            <a:avLst>
              <a:gd name="adj" fmla="val 50000"/>
            </a:avLst>
          </a:prstGeom>
          <a:solidFill>
            <a:srgbClr val="10455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046720" y="464515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prefill=compute / decode=memory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3" name="Text 51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同一段 attention，prefill 吃算力、decode 吃頻寬——第一堂「&lt;5% 利用率之謎」就發生在這個 block。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A · 單卡：Transformer 逐 block × GPU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 / 24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Block 4 — Add &amp; LayerNorm：不上 tensor core 的那些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0·Embed+PE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313432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41448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41448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1·QKV 投影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114800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2816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42816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2·多頭切分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16168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44184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44184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3·Attention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17536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845552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45552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4·Add &amp; Norm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518904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646920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46920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5·FFN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2148840"/>
            <a:ext cx="6949440" cy="3063240"/>
          </a:xfrm>
          <a:prstGeom prst="roundRect">
            <a:avLst>
              <a:gd name="adj" fmla="val 2985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4400" y="2331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殘差相加（Add）+ 層正規化（LayerNorm）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097280" y="292608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輸入 X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651760" y="2926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108960" y="292608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16233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0896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子層輸出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663440" y="2926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120640" y="292608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16233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2926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LayerNorm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14400" y="37033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這些是逐元素相加、求平均與變異數（歸約）——運算量很少，但要把整份 activation 從 HBM 讀進來、寫回去。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97280" y="4526280"/>
            <a:ext cx="6035040" cy="548640"/>
          </a:xfrm>
          <a:prstGeom prst="roundRect">
            <a:avLst>
              <a:gd name="adj" fmla="val 10000"/>
            </a:avLst>
          </a:prstGeom>
          <a:solidFill>
            <a:srgbClr val="4A341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80160" y="45262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工程實務：</a:t>
            </a:r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常和前後運算「fuse（融合）」成一個 kernel，避免多跑一趟 HBM。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7818120" y="2148840"/>
            <a:ext cx="3703320" cy="3063240"/>
          </a:xfrm>
          <a:prstGeom prst="roundRect">
            <a:avLst>
              <a:gd name="adj" fmla="val 2985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046720" y="23134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對應 NVIDIA GPU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046720" y="280720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主要運算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464040" y="28072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逐元素加 + 歸約（mean/var）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046720" y="321868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用到單元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464040" y="32186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CUDA core（非 tensor core）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046720" y="363016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資料流動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464040" y="36301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整份 activation 進出 HBM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046720" y="4041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優化手段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464040" y="40416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kernel fusion 減少 HBM 往返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046720" y="4645152"/>
            <a:ext cx="3246120" cy="384048"/>
          </a:xfrm>
          <a:prstGeom prst="roundRect">
            <a:avLst>
              <a:gd name="adj" fmla="val 50000"/>
            </a:avLst>
          </a:prstGeom>
          <a:solidFill>
            <a:srgbClr val="10455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46720" y="464515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memory-bound（算少、搬多）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9" name="Text 47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Transformer 不是只有大矩陣乘。這些「小」運算是純 memory-bound，融合它們是省頻寬的日常功夫。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A · 單卡：Transformer 逐 block × GPU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 / 24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Block 5 — FFN：另一組大矩陣乘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0·Embed+PE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313432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41448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41448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1·QKV 投影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114800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2816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42816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2·多頭切分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916168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44184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44184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3·Attention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17536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845552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45552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4·Add &amp; Norm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518904" y="1316736"/>
            <a:ext cx="1463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646920" y="1316736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46920" y="1316736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5·FFN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2148840"/>
            <a:ext cx="6949440" cy="3063240"/>
          </a:xfrm>
          <a:prstGeom prst="roundRect">
            <a:avLst>
              <a:gd name="adj" fmla="val 2985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4400" y="2331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 token 獨立過兩層：6 → 12 → 6（中間放大 4×，玩具用 2×）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097280" y="2971800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29718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X [6]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468880" y="3291840"/>
            <a:ext cx="64008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201168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W1 (6→12)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08960" y="2971800"/>
            <a:ext cx="1463040" cy="640080"/>
          </a:xfrm>
          <a:prstGeom prst="roundRect">
            <a:avLst>
              <a:gd name="adj" fmla="val 8571"/>
            </a:avLst>
          </a:prstGeom>
          <a:solidFill>
            <a:srgbClr val="16233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29718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 [12]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GELU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3291840"/>
            <a:ext cx="64008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11480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W2 (12→6)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212080" y="2971800"/>
            <a:ext cx="1371600" cy="640080"/>
          </a:xfrm>
          <a:prstGeom prst="roundRect">
            <a:avLst>
              <a:gd name="adj" fmla="val 8571"/>
            </a:avLst>
          </a:prstGeom>
          <a:solidFill>
            <a:srgbClr val="16233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12080" y="29718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out [6]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4400" y="38862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兩個 GEMM，中間夾一個非線性（GELU）。真實模型 FFN 常佔一層 2/3 的參數與算力。token 之間零依賴 → 整批一起算。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818120" y="2148840"/>
            <a:ext cx="3703320" cy="3063240"/>
          </a:xfrm>
          <a:prstGeom prst="roundRect">
            <a:avLst>
              <a:gd name="adj" fmla="val 2985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046720" y="23134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對應 NVIDIA GPU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046720" y="280720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主要運算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464040" y="28072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兩個 GEMM（W1、W2）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046720" y="321868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用到單元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464040" y="321868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Tensor Core 主場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046720" y="363016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GELU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464040" y="36301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CUDA core（逐元素）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046720" y="4041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平行軸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464040" y="404164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token 軸天然平行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046720" y="4645152"/>
            <a:ext cx="3246120" cy="384048"/>
          </a:xfrm>
          <a:prstGeom prst="roundRect">
            <a:avLst>
              <a:gd name="adj" fmla="val 50000"/>
            </a:avLst>
          </a:prstGeom>
          <a:solidFill>
            <a:srgbClr val="4A341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46720" y="464515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compute-bound（大 GEMM）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9" name="Text 47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FFN 和 QKV 一樣是 tensor core 的主場。一層裡「大矩陣乘吃算力、其餘吃頻寬」的節奏就此定調。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A · 單卡：Transformer 逐 block × GPU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/ 24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一頁看完：block → GPU 單元 → 被誰卡住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solidFill>
            <a:srgbClr val="1C2E4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91640"/>
            <a:ext cx="502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#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143000" y="1691640"/>
            <a:ext cx="16459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Block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788920" y="1691640"/>
            <a:ext cx="20116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運算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800600" y="1691640"/>
            <a:ext cx="19659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單元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766560" y="16916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資料/搬運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052560" y="1691640"/>
            <a:ext cx="24688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判定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21488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43000" y="214884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Embed + 位置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88920" y="2148840"/>
            <a:ext cx="20116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查表 gather + 加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800600" y="2148840"/>
            <a:ext cx="1965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CUDA core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766560" y="2148840"/>
            <a:ext cx="2286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 讀幾列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052560" y="2148840"/>
            <a:ext cx="24688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memory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2697480"/>
            <a:ext cx="10881360" cy="548640"/>
          </a:xfrm>
          <a:prstGeom prst="rect">
            <a:avLst/>
          </a:prstGeom>
          <a:solidFill>
            <a:srgbClr val="16233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26974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43000" y="269748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QKV 投影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88920" y="2697480"/>
            <a:ext cx="20116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GEMM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00600" y="2697480"/>
            <a:ext cx="1965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Tensor Core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66560" y="2697480"/>
            <a:ext cx="2286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tile 留 shared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052560" y="2697480"/>
            <a:ext cx="24688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compute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324612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43000" y="324612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多頭切分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788920" y="3246120"/>
            <a:ext cx="20116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拆平行軸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800600" y="3246120"/>
            <a:ext cx="1965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warp / batched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66560" y="3246120"/>
            <a:ext cx="2286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052560" y="3246120"/>
            <a:ext cx="24688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結構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3794760"/>
            <a:ext cx="10881360" cy="548640"/>
          </a:xfrm>
          <a:prstGeom prst="rect">
            <a:avLst/>
          </a:prstGeom>
          <a:solidFill>
            <a:srgbClr val="16233A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37947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43000" y="379476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788920" y="3794760"/>
            <a:ext cx="20116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QKᵀ/softmax/·V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800600" y="3794760"/>
            <a:ext cx="1965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Tensor+CUDA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76656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 住 HBM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052560" y="3794760"/>
            <a:ext cx="24688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pre=C / dec=M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40080" y="43434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143000" y="434340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Add &amp; Norm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788920" y="4343400"/>
            <a:ext cx="20116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逐元素 + 歸約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800600" y="4343400"/>
            <a:ext cx="1965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CUDA core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76656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activation 進出 HBM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9052560" y="4343400"/>
            <a:ext cx="24688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memory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solidFill>
            <a:srgbClr val="16233A"/>
          </a:solidFill>
          <a:ln/>
        </p:spPr>
      </p:sp>
      <p:sp>
        <p:nvSpPr>
          <p:cNvPr id="46" name="Text 44"/>
          <p:cNvSpPr/>
          <p:nvPr/>
        </p:nvSpPr>
        <p:spPr>
          <a:xfrm>
            <a:off x="640080" y="489204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143000" y="4892040"/>
            <a:ext cx="16459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FFN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2788920" y="4892040"/>
            <a:ext cx="20116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兩個 GEMM</a:t>
            </a:r>
            <a:endParaRPr lang="en-US" sz="1150" dirty="0"/>
          </a:p>
        </p:txBody>
      </p:sp>
      <p:sp>
        <p:nvSpPr>
          <p:cNvPr id="49" name="Text 47"/>
          <p:cNvSpPr/>
          <p:nvPr/>
        </p:nvSpPr>
        <p:spPr>
          <a:xfrm>
            <a:off x="4800600" y="4892040"/>
            <a:ext cx="1965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Tensor Core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76656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tile 留 shared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9052560" y="4892040"/>
            <a:ext cx="24688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compute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40080" y="5440680"/>
            <a:ext cx="10881360" cy="566928"/>
          </a:xfrm>
          <a:prstGeom prst="roundRect">
            <a:avLst>
              <a:gd name="adj" fmla="val 16129"/>
            </a:avLst>
          </a:prstGeom>
          <a:solidFill>
            <a:srgbClr val="123D31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54406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🔬 互動環節②　</a:t>
            </a:r>
            <a:pPr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 interactive/transformer_map.html：全景 → Block → Attention → Head → 計算子(L2⟷HBM) → FlashAttention(線上 softmax) → 硬體，切 訓練/Prefill/Decode 看資料流。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A · 單卡：Transformer 逐 block × GPU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 / 24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A 收束：一張卡就跑得完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914400" y="2194560"/>
            <a:ext cx="2377440" cy="2651760"/>
          </a:xfrm>
          <a:prstGeom prst="roundRect">
            <a:avLst>
              <a:gd name="adj" fmla="val 3077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249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顆 GPU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751076" y="436168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9" name="Shape 7"/>
          <p:cNvSpPr/>
          <p:nvPr/>
        </p:nvSpPr>
        <p:spPr>
          <a:xfrm>
            <a:off x="1943100" y="436168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0" name="Shape 8"/>
          <p:cNvSpPr/>
          <p:nvPr/>
        </p:nvSpPr>
        <p:spPr>
          <a:xfrm>
            <a:off x="2135124" y="436168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2327148" y="436168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Shape 10"/>
          <p:cNvSpPr/>
          <p:nvPr/>
        </p:nvSpPr>
        <p:spPr>
          <a:xfrm>
            <a:off x="1751076" y="455371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455371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Shape 12"/>
          <p:cNvSpPr/>
          <p:nvPr/>
        </p:nvSpPr>
        <p:spPr>
          <a:xfrm>
            <a:off x="2135124" y="455371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5" name="Shape 13"/>
          <p:cNvSpPr/>
          <p:nvPr/>
        </p:nvSpPr>
        <p:spPr>
          <a:xfrm>
            <a:off x="2327148" y="455371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160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HBM 80–192 GB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74720" y="2606040"/>
            <a:ext cx="45720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77640" y="233172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16233A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77640" y="23317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模型權重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474720" y="3429000"/>
            <a:ext cx="457200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977640" y="315468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77640" y="3154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474720" y="4251960"/>
            <a:ext cx="457200" cy="0"/>
          </a:xfrm>
          <a:prstGeom prst="line">
            <a:avLst/>
          </a:prstGeom>
          <a:noFill/>
          <a:ln w="25400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77640" y="397764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16233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77640" y="39776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中間 activation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0" y="228600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玩具 Transformer——甚至 7B 這種真實小模型——的權重、KV cache、activation 全部塞得進一顆 GPU 的 HBM。所有 block 的資料流都在同一顆晶片裡走完，沒有跨卡問題。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583680" y="4160520"/>
            <a:ext cx="5486400" cy="868680"/>
          </a:xfrm>
          <a:prstGeom prst="roundRect">
            <a:avLst>
              <a:gd name="adj" fmla="val 8421"/>
            </a:avLst>
          </a:prstGeom>
          <a:solidFill>
            <a:srgbClr val="4A2433"/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12280" y="416052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但是……　</a:t>
            </a:r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70B、175B、甚至上兆參數的模型呢？一顆 HBM 放不下。這就是 Part B。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單卡的世界：看 roofline、看記憶體階層就夠了。跨過一顆 GPU 的容量，遊戲規則就變了。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A · 單卡：Transformer 逐 block × GPU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/ 24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為什麼一張卡不夠：三筆帳都在漲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以推論/訓練一個大模型為例，HBM 要同時裝下這幾樣——很快就爆掉 80–192 GB。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103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模型權重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6060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70B fp16 ≈ 140 GB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175B ≈ 350 GB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68680" y="3611880"/>
            <a:ext cx="2971800" cy="0"/>
          </a:xfrm>
          <a:prstGeom prst="line">
            <a:avLst/>
          </a:prstGeom>
          <a:noFill/>
          <a:ln w="9525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74904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一張 H100(80GB)/H200(141GB) 就放不下 70B 權重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192024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2103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6060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隨 序列長 × batch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× 層數 線性長大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0" y="3611880"/>
            <a:ext cx="2971800" cy="0"/>
          </a:xfrm>
          <a:prstGeom prst="line">
            <a:avLst/>
          </a:prstGeom>
          <a:noFill/>
          <a:ln w="9525">
            <a:solidFill>
              <a:srgbClr val="2A3D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374904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長上下文 + 高併發 → 動輒數十~上百 GB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6720" y="1920240"/>
            <a:ext cx="3429000" cy="320040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75320" y="21031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訓練狀態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75320" y="26060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梯度 + Adam 狀態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≈ 參數量的 3–4×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75320" y="3611880"/>
            <a:ext cx="2971800" cy="0"/>
          </a:xfrm>
          <a:prstGeom prst="line">
            <a:avLst/>
          </a:prstGeom>
          <a:noFill/>
          <a:ln w="9525">
            <a:solidFill>
              <a:srgbClr val="2A3D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75320" y="3749040"/>
            <a:ext cx="2971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訓練時遠比推論更吃容量（第一堂 Part 3）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3" name="Text 21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模型放不進一顆 HBM → 必須拆到多張卡。問題是：拆什麼、卡跟卡之間要搬什麼？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B · 多卡：資料平行與 NVIDIA 互連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 / 24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資料平行 (Data Parallel)：最直覺的第一招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每張卡放「一份完整模型」，把 batch 切開各算各的，再把梯度對齊。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1691640" cy="1371600"/>
          </a:xfrm>
          <a:prstGeom prst="roundRect">
            <a:avLst>
              <a:gd name="adj" fmla="val 5333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0208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 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133856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0" name="Shape 8"/>
          <p:cNvSpPr/>
          <p:nvPr/>
        </p:nvSpPr>
        <p:spPr>
          <a:xfrm>
            <a:off x="1325880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1517904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Shape 10"/>
          <p:cNvSpPr/>
          <p:nvPr/>
        </p:nvSpPr>
        <p:spPr>
          <a:xfrm>
            <a:off x="1709928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3856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Shape 12"/>
          <p:cNvSpPr/>
          <p:nvPr/>
        </p:nvSpPr>
        <p:spPr>
          <a:xfrm>
            <a:off x="1325880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5" name="Shape 13"/>
          <p:cNvSpPr/>
          <p:nvPr/>
        </p:nvSpPr>
        <p:spPr>
          <a:xfrm>
            <a:off x="1517904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6" name="Shape 14"/>
          <p:cNvSpPr/>
          <p:nvPr/>
        </p:nvSpPr>
        <p:spPr>
          <a:xfrm>
            <a:off x="1709928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191256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整份模型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batch 第 1/4 份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606040" y="1965960"/>
            <a:ext cx="1691640" cy="1371600"/>
          </a:xfrm>
          <a:prstGeom prst="roundRect">
            <a:avLst>
              <a:gd name="adj" fmla="val 5333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606040" y="20208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 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099816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2" name="Shape 20"/>
          <p:cNvSpPr/>
          <p:nvPr/>
        </p:nvSpPr>
        <p:spPr>
          <a:xfrm>
            <a:off x="3291840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3" name="Shape 21"/>
          <p:cNvSpPr/>
          <p:nvPr/>
        </p:nvSpPr>
        <p:spPr>
          <a:xfrm>
            <a:off x="3483864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5888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5" name="Shape 23"/>
          <p:cNvSpPr/>
          <p:nvPr/>
        </p:nvSpPr>
        <p:spPr>
          <a:xfrm>
            <a:off x="3099816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6" name="Shape 24"/>
          <p:cNvSpPr/>
          <p:nvPr/>
        </p:nvSpPr>
        <p:spPr>
          <a:xfrm>
            <a:off x="3291840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7" name="Shape 25"/>
          <p:cNvSpPr/>
          <p:nvPr/>
        </p:nvSpPr>
        <p:spPr>
          <a:xfrm>
            <a:off x="3483864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8" name="Shape 26"/>
          <p:cNvSpPr/>
          <p:nvPr/>
        </p:nvSpPr>
        <p:spPr>
          <a:xfrm>
            <a:off x="3675888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9" name="Text 27"/>
          <p:cNvSpPr/>
          <p:nvPr/>
        </p:nvSpPr>
        <p:spPr>
          <a:xfrm>
            <a:off x="2606040" y="3191256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整份模型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606040" y="33832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batch 第 2/4 份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0" y="1965960"/>
            <a:ext cx="1691640" cy="1371600"/>
          </a:xfrm>
          <a:prstGeom prst="roundRect">
            <a:avLst>
              <a:gd name="adj" fmla="val 5333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572000" y="20208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 2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65776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4" name="Shape 32"/>
          <p:cNvSpPr/>
          <p:nvPr/>
        </p:nvSpPr>
        <p:spPr>
          <a:xfrm>
            <a:off x="5257800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5" name="Shape 33"/>
          <p:cNvSpPr/>
          <p:nvPr/>
        </p:nvSpPr>
        <p:spPr>
          <a:xfrm>
            <a:off x="5449824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6" name="Shape 34"/>
          <p:cNvSpPr/>
          <p:nvPr/>
        </p:nvSpPr>
        <p:spPr>
          <a:xfrm>
            <a:off x="5641848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5776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8" name="Shape 36"/>
          <p:cNvSpPr/>
          <p:nvPr/>
        </p:nvSpPr>
        <p:spPr>
          <a:xfrm>
            <a:off x="5257800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9" name="Shape 37"/>
          <p:cNvSpPr/>
          <p:nvPr/>
        </p:nvSpPr>
        <p:spPr>
          <a:xfrm>
            <a:off x="5449824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0" name="Shape 38"/>
          <p:cNvSpPr/>
          <p:nvPr/>
        </p:nvSpPr>
        <p:spPr>
          <a:xfrm>
            <a:off x="5641848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0" y="3191256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整份模型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572000" y="33832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batch 第 3/4 份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537960" y="1965960"/>
            <a:ext cx="1691640" cy="1371600"/>
          </a:xfrm>
          <a:prstGeom prst="roundRect">
            <a:avLst>
              <a:gd name="adj" fmla="val 5333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537960" y="20208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 3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031736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223760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7" name="Shape 45"/>
          <p:cNvSpPr/>
          <p:nvPr/>
        </p:nvSpPr>
        <p:spPr>
          <a:xfrm>
            <a:off x="7415784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8" name="Shape 46"/>
          <p:cNvSpPr/>
          <p:nvPr/>
        </p:nvSpPr>
        <p:spPr>
          <a:xfrm>
            <a:off x="7607808" y="2852928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9" name="Shape 47"/>
          <p:cNvSpPr/>
          <p:nvPr/>
        </p:nvSpPr>
        <p:spPr>
          <a:xfrm>
            <a:off x="7031736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0" name="Shape 48"/>
          <p:cNvSpPr/>
          <p:nvPr/>
        </p:nvSpPr>
        <p:spPr>
          <a:xfrm>
            <a:off x="7223760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1" name="Shape 49"/>
          <p:cNvSpPr/>
          <p:nvPr/>
        </p:nvSpPr>
        <p:spPr>
          <a:xfrm>
            <a:off x="7415784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2" name="Shape 50"/>
          <p:cNvSpPr/>
          <p:nvPr/>
        </p:nvSpPr>
        <p:spPr>
          <a:xfrm>
            <a:off x="7607808" y="3044952"/>
            <a:ext cx="128016" cy="128016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3" name="Text 51"/>
          <p:cNvSpPr/>
          <p:nvPr/>
        </p:nvSpPr>
        <p:spPr>
          <a:xfrm>
            <a:off x="6537960" y="3191256"/>
            <a:ext cx="1691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整份模型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6537960" y="33832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batch 第 4/4 份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40080" y="3886200"/>
            <a:ext cx="7680960" cy="566928"/>
          </a:xfrm>
          <a:prstGeom prst="roundRect">
            <a:avLst>
              <a:gd name="adj" fmla="val 16129"/>
            </a:avLst>
          </a:prstGeom>
          <a:solidFill>
            <a:srgbClr val="10455F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0080" y="388620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↕ 每步：梯度 all-reduce（把 4 張卡的梯度加總、再發回每張卡）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8595360" y="1965960"/>
            <a:ext cx="3566160" cy="2487168"/>
          </a:xfrm>
          <a:prstGeom prst="roundRect">
            <a:avLst>
              <a:gd name="adj" fmla="val 3676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8823960" y="21214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DP 擅長什麼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8823960" y="2651760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0" name="Text 58"/>
          <p:cNvSpPr/>
          <p:nvPr/>
        </p:nvSpPr>
        <p:spPr>
          <a:xfrm>
            <a:off x="9052560" y="2606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實作最簡單、最成熟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8823960" y="3081528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2" name="Text 60"/>
          <p:cNvSpPr/>
          <p:nvPr/>
        </p:nvSpPr>
        <p:spPr>
          <a:xfrm>
            <a:off x="9052560" y="303580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訓練吞吐幾乎線性擴充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8823960" y="3511296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4" name="Text 62"/>
          <p:cNvSpPr/>
          <p:nvPr/>
        </p:nvSpPr>
        <p:spPr>
          <a:xfrm>
            <a:off x="9052560" y="346557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推論可服務更多併發請求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8823960" y="3941064"/>
            <a:ext cx="82296" cy="8229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6" name="Text 64"/>
          <p:cNvSpPr/>
          <p:nvPr/>
        </p:nvSpPr>
        <p:spPr>
          <a:xfrm>
            <a:off x="9052560" y="389534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模型「放得下一張卡」時的首選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68" name="Text 66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資料平行＝複製模型、切資料、同步梯度。切的是「資料」，不是「模型」——這正是它的天花板。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B · 多卡：資料平行與 NVIDIA 互連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 / 24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B718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資料平行的四個問題（本堂重點）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模型沒有變小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04872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每張卡仍要放整份模型 → 「一張卡裝不下」的模型，DP 根本救不了。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28232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通訊隨規模長大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28232" y="2404872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梯度 all-reduce 每步要搬 ≈ 2× 參數量；模型越大、卡越多，同步成本越兇。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749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記憶體重複浪費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6112" y="4187952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權重、梯度、optimizer 狀態每張卡各存一份 → ZeRO/FSDP 把它們切開，但換來更多通訊。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72200" y="3566160"/>
            <a:ext cx="5257800" cy="1600200"/>
          </a:xfrm>
          <a:prstGeom prst="roundRect">
            <a:avLst>
              <a:gd name="adj" fmla="val 5714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28232" y="3749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推論延遲無解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28232" y="4187952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 是 memory-bound；DP 只增吞吐、對單一請求的延遲沒幫助，KV cache 還各卡獨立。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①最致命：DP 切資料、不切模型。要裝下大模型、又想壓通訊，就得把「模型本身」拆開。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B · 多卡：資料平行與 NVIDIA 互連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/ 24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切模型本身：張量 / 管線 / 專家平行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既然 DP 不切模型，就換三種「切模型」的平行——各自切不同的軸，付不同的通訊代價。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3429000" cy="3246120"/>
          </a:xfrm>
          <a:prstGeom prst="roundRect">
            <a:avLst>
              <a:gd name="adj" fmla="val 2817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02996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Tensor Parallel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68680" y="2340864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TP · 張量平行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27889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切什麼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切「層內」：一個矩陣乘橫著切到多卡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68680" y="3703320"/>
            <a:ext cx="3017520" cy="457200"/>
          </a:xfrm>
          <a:prstGeom prst="roundRect">
            <a:avLst>
              <a:gd name="adj" fmla="val 10000"/>
            </a:avLst>
          </a:prstGeom>
          <a:solidFill>
            <a:srgbClr val="1C2E4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每層 2 次 all-reduce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42976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通訊最重 → 必須待在 NVLink 域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1874520"/>
            <a:ext cx="3429000" cy="3246120"/>
          </a:xfrm>
          <a:prstGeom prst="roundRect">
            <a:avLst>
              <a:gd name="adj" fmla="val 2817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0" y="202996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Pipeline Parallel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0" y="2340864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PP · 管線平行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0" y="27889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切什麼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切「層間」：不同層放不同卡，像流水線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0" y="3703320"/>
            <a:ext cx="3017520" cy="457200"/>
          </a:xfrm>
          <a:prstGeom prst="roundRect">
            <a:avLst>
              <a:gd name="adj" fmla="val 10000"/>
            </a:avLst>
          </a:prstGeom>
          <a:solidFill>
            <a:srgbClr val="1C2E4A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點對點傳 activation（p2p）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0" y="42976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 bubble（頭尾閒置）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46720" y="1874520"/>
            <a:ext cx="3429000" cy="3246120"/>
          </a:xfrm>
          <a:prstGeom prst="roundRect">
            <a:avLst>
              <a:gd name="adj" fmla="val 2817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75320" y="2029968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Expert Parallel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75320" y="2340864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EP · 專家平行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75320" y="27889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切什麼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切「MoE 專家」：不同 expert 放不同卡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75320" y="3703320"/>
            <a:ext cx="3017520" cy="457200"/>
          </a:xfrm>
          <a:prstGeom prst="roundRect">
            <a:avLst>
              <a:gd name="adj" fmla="val 10000"/>
            </a:avLst>
          </a:prstGeom>
          <a:solidFill>
            <a:srgbClr val="1C2E4A"/>
          </a:solidFill>
          <a:ln/>
        </p:spPr>
      </p:sp>
      <p:sp>
        <p:nvSpPr>
          <p:cNvPr id="26" name="Text 24"/>
          <p:cNvSpPr/>
          <p:nvPr/>
        </p:nvSpPr>
        <p:spPr>
          <a:xfrm>
            <a:off x="8275320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all-to-all 路由 token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75320" y="42976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省 FLOPs、不省通訊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9" name="Text 27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實務是「3D/4D 混合」：DP + TP + PP(+ EP) 疊用。切得越細、卡間通訊越密——通訊就成了新瓶頸。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B · 多卡：資料平行與 NVIDIA 互連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 / 24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通訊變瓶頸：頻寬階梯決定誰住哪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卡間搬資料的速度差一個數量級往下掉。哪種平行「通訊多」，就得住在「線快」的那一層。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6035040" cy="658368"/>
          </a:xfrm>
          <a:prstGeom prst="roundRect">
            <a:avLst>
              <a:gd name="adj" fmla="val 8333"/>
            </a:avLst>
          </a:prstGeom>
          <a:solidFill>
            <a:srgbClr val="1C2E4A"/>
          </a:solidFill>
          <a:ln w="19050">
            <a:solidFill>
              <a:srgbClr val="2A3D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87452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晶片內 HBM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0" y="1874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~3.35 TB/s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052560" y="1874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（單卡基準）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715768"/>
            <a:ext cx="4937760" cy="658368"/>
          </a:xfrm>
          <a:prstGeom prst="roundRect">
            <a:avLst>
              <a:gd name="adj" fmla="val 8333"/>
            </a:avLst>
          </a:prstGeom>
          <a:solidFill>
            <a:srgbClr val="123D31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71576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NVLink 5 / NVSwitch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760720" y="271576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~1.8 TB/s / GPU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0" y="271576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scale-up：TP、EP 住這裡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557016"/>
            <a:ext cx="2377440" cy="658368"/>
          </a:xfrm>
          <a:prstGeom prst="roundRect">
            <a:avLst>
              <a:gd name="adj" fmla="val 8333"/>
            </a:avLst>
          </a:prstGeom>
          <a:solidFill>
            <a:srgbClr val="4A341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557016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跨節點 InfiniBand / Spectrum-X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200400" y="355701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~50–100 GB/s / GPU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94960" y="355701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scale-out：DP、PP 可容忍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398264"/>
            <a:ext cx="1554480" cy="658368"/>
          </a:xfrm>
          <a:prstGeom prst="roundRect">
            <a:avLst>
              <a:gd name="adj" fmla="val 8333"/>
            </a:avLst>
          </a:prstGeom>
          <a:solidFill>
            <a:srgbClr val="4A2433"/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39826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PCIe Gen5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377440" y="4398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~64 GB/s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0" y="4398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 NVLink 時的卡間路（會被拖死）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心法：把「通訊最兇」的平行（TP/EP）綁在最快的線（NVLink）；「通訊稀」的（DP/PP）才放去跨節點。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B · 多卡：資料平行與 NVIDIA 互連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 / 24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NVIDIA 解法① scale-up：把多顆綁成一顆大 GPU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NVLink + NVSwitch 用「記憶體語意」把整個機架的 GPU 連成一個高頻寬域——TP/EP 的家。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NVLink 5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200400" y="18745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1.8 TB/s / GPU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87452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18 條 × 100 GB/s；≈ PCIe Gen5 的 14×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40080" y="2770632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277063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NVSwitch（4 代）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200400" y="2770632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全連通 fabric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770632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72 顆非阻塞互連；可擴到 576 GPU / 1 PB/s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40080" y="3666744"/>
            <a:ext cx="6766560" cy="777240"/>
          </a:xfrm>
          <a:prstGeom prst="roundRect">
            <a:avLst>
              <a:gd name="adj" fmla="val 11765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666744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GB200 NVL72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200400" y="366674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72 顆 = 一個域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666744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130 TB/s 聚合頻寬，當一顆「大 GPU」用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7680960" y="1874520"/>
            <a:ext cx="4480560" cy="2660904"/>
          </a:xfrm>
          <a:prstGeom prst="roundRect">
            <a:avLst>
              <a:gd name="adj" fmla="val 3436"/>
            </a:avLst>
          </a:prstGeom>
          <a:solidFill>
            <a:srgbClr val="2A2150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909560" y="202996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 最新 · Rubin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2395728"/>
            <a:ext cx="40690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NVLink 6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：3.6 TB/s / GPU（NVLink 5 的 2×）
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Vera Rubin NVL72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：260 TB/s 聚合
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CES 2026 發表、H2 2026 出貨；NVL144/CPX 版把 prefill 拆出來做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3" name="Text 21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scale-up 的意義：一個 NVLink 域內，72 顆 GPU 的 HBM 像一大池——大模型的 TP/EP 就攤在這池裡跑。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B · 多卡：資料平行與 NVIDIA 互連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 / 24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NVIDIA 解法② 把 all-reduce 搬進交換器：SHARP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5349240" cy="3108960"/>
          </a:xfrm>
          <a:prstGeom prst="roundRect">
            <a:avLst>
              <a:gd name="adj" fmla="val 2941"/>
            </a:avLst>
          </a:prstGeom>
          <a:solidFill>
            <a:srgbClr val="16233A"/>
          </a:solidFill>
          <a:ln w="12700">
            <a:solidFill>
              <a:srgbClr val="8FA6C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9933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傳統 all-reduce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3774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每張卡互相收發、在 GPU 上做加總 → 佔 NVLink 頻寬、也佔 GPU 的 SM 去算加法。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324612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16233A"/>
          </a:solidFill>
          <a:ln w="19050">
            <a:solidFill>
              <a:srgbClr val="8FA6C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33009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133856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12" name="Shape 10"/>
          <p:cNvSpPr/>
          <p:nvPr/>
        </p:nvSpPr>
        <p:spPr>
          <a:xfrm>
            <a:off x="1325880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13" name="Shape 11"/>
          <p:cNvSpPr/>
          <p:nvPr/>
        </p:nvSpPr>
        <p:spPr>
          <a:xfrm>
            <a:off x="1517904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14" name="Shape 12"/>
          <p:cNvSpPr/>
          <p:nvPr/>
        </p:nvSpPr>
        <p:spPr>
          <a:xfrm>
            <a:off x="1709928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15" name="Shape 13"/>
          <p:cNvSpPr/>
          <p:nvPr/>
        </p:nvSpPr>
        <p:spPr>
          <a:xfrm>
            <a:off x="1133856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16" name="Shape 14"/>
          <p:cNvSpPr/>
          <p:nvPr/>
        </p:nvSpPr>
        <p:spPr>
          <a:xfrm>
            <a:off x="1325880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17" name="Shape 15"/>
          <p:cNvSpPr/>
          <p:nvPr/>
        </p:nvSpPr>
        <p:spPr>
          <a:xfrm>
            <a:off x="1517904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18" name="Shape 16"/>
          <p:cNvSpPr/>
          <p:nvPr/>
        </p:nvSpPr>
        <p:spPr>
          <a:xfrm>
            <a:off x="1709928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19" name="Shape 17"/>
          <p:cNvSpPr/>
          <p:nvPr/>
        </p:nvSpPr>
        <p:spPr>
          <a:xfrm>
            <a:off x="2167128" y="324612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16233A"/>
          </a:solidFill>
          <a:ln w="19050">
            <a:solidFill>
              <a:srgbClr val="8FA6C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167128" y="33009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40864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22" name="Shape 20"/>
          <p:cNvSpPr/>
          <p:nvPr/>
        </p:nvSpPr>
        <p:spPr>
          <a:xfrm>
            <a:off x="2532888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23" name="Shape 21"/>
          <p:cNvSpPr/>
          <p:nvPr/>
        </p:nvSpPr>
        <p:spPr>
          <a:xfrm>
            <a:off x="2724912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24" name="Shape 22"/>
          <p:cNvSpPr/>
          <p:nvPr/>
        </p:nvSpPr>
        <p:spPr>
          <a:xfrm>
            <a:off x="2916936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25" name="Shape 23"/>
          <p:cNvSpPr/>
          <p:nvPr/>
        </p:nvSpPr>
        <p:spPr>
          <a:xfrm>
            <a:off x="2340864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26" name="Shape 24"/>
          <p:cNvSpPr/>
          <p:nvPr/>
        </p:nvSpPr>
        <p:spPr>
          <a:xfrm>
            <a:off x="2532888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27" name="Shape 25"/>
          <p:cNvSpPr/>
          <p:nvPr/>
        </p:nvSpPr>
        <p:spPr>
          <a:xfrm>
            <a:off x="2724912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28" name="Shape 26"/>
          <p:cNvSpPr/>
          <p:nvPr/>
        </p:nvSpPr>
        <p:spPr>
          <a:xfrm>
            <a:off x="2916936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29" name="Shape 27"/>
          <p:cNvSpPr/>
          <p:nvPr/>
        </p:nvSpPr>
        <p:spPr>
          <a:xfrm>
            <a:off x="3374136" y="324612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16233A"/>
          </a:solidFill>
          <a:ln w="19050">
            <a:solidFill>
              <a:srgbClr val="8FA6C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374136" y="33009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47872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32" name="Shape 30"/>
          <p:cNvSpPr/>
          <p:nvPr/>
        </p:nvSpPr>
        <p:spPr>
          <a:xfrm>
            <a:off x="3739896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33" name="Shape 31"/>
          <p:cNvSpPr/>
          <p:nvPr/>
        </p:nvSpPr>
        <p:spPr>
          <a:xfrm>
            <a:off x="3931920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34" name="Shape 32"/>
          <p:cNvSpPr/>
          <p:nvPr/>
        </p:nvSpPr>
        <p:spPr>
          <a:xfrm>
            <a:off x="4123944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35" name="Shape 33"/>
          <p:cNvSpPr/>
          <p:nvPr/>
        </p:nvSpPr>
        <p:spPr>
          <a:xfrm>
            <a:off x="3547872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36" name="Shape 34"/>
          <p:cNvSpPr/>
          <p:nvPr/>
        </p:nvSpPr>
        <p:spPr>
          <a:xfrm>
            <a:off x="3739896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37" name="Shape 35"/>
          <p:cNvSpPr/>
          <p:nvPr/>
        </p:nvSpPr>
        <p:spPr>
          <a:xfrm>
            <a:off x="3931920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38" name="Shape 36"/>
          <p:cNvSpPr/>
          <p:nvPr/>
        </p:nvSpPr>
        <p:spPr>
          <a:xfrm>
            <a:off x="4123944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39" name="Shape 37"/>
          <p:cNvSpPr/>
          <p:nvPr/>
        </p:nvSpPr>
        <p:spPr>
          <a:xfrm>
            <a:off x="4581144" y="3246120"/>
            <a:ext cx="1051560" cy="868680"/>
          </a:xfrm>
          <a:prstGeom prst="roundRect">
            <a:avLst>
              <a:gd name="adj" fmla="val 8421"/>
            </a:avLst>
          </a:prstGeom>
          <a:solidFill>
            <a:srgbClr val="16233A"/>
          </a:solidFill>
          <a:ln w="19050">
            <a:solidFill>
              <a:srgbClr val="8FA6C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581144" y="33009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G3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754880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42" name="Shape 40"/>
          <p:cNvSpPr/>
          <p:nvPr/>
        </p:nvSpPr>
        <p:spPr>
          <a:xfrm>
            <a:off x="4946904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8928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44" name="Shape 42"/>
          <p:cNvSpPr/>
          <p:nvPr/>
        </p:nvSpPr>
        <p:spPr>
          <a:xfrm>
            <a:off x="5330952" y="3630168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45" name="Shape 43"/>
          <p:cNvSpPr/>
          <p:nvPr/>
        </p:nvSpPr>
        <p:spPr>
          <a:xfrm>
            <a:off x="4754880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46" name="Shape 44"/>
          <p:cNvSpPr/>
          <p:nvPr/>
        </p:nvSpPr>
        <p:spPr>
          <a:xfrm>
            <a:off x="4946904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47" name="Shape 45"/>
          <p:cNvSpPr/>
          <p:nvPr/>
        </p:nvSpPr>
        <p:spPr>
          <a:xfrm>
            <a:off x="5138928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48" name="Shape 46"/>
          <p:cNvSpPr/>
          <p:nvPr/>
        </p:nvSpPr>
        <p:spPr>
          <a:xfrm>
            <a:off x="5330952" y="3822192"/>
            <a:ext cx="128016" cy="128016"/>
          </a:xfrm>
          <a:prstGeom prst="rect">
            <a:avLst/>
          </a:prstGeom>
          <a:solidFill>
            <a:srgbClr val="8FA6C4"/>
          </a:solidFill>
          <a:ln/>
        </p:spPr>
      </p:sp>
      <p:sp>
        <p:nvSpPr>
          <p:cNvPr id="49" name="Text 47"/>
          <p:cNvSpPr/>
          <p:nvPr/>
        </p:nvSpPr>
        <p:spPr>
          <a:xfrm>
            <a:off x="914400" y="4206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互相收發、GPU 自己加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263640" y="1828800"/>
            <a:ext cx="5349240" cy="3108960"/>
          </a:xfrm>
          <a:prstGeom prst="roundRect">
            <a:avLst>
              <a:gd name="adj" fmla="val 2941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537960" y="199339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SHARP（in-network reduction）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6537960" y="23774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加總直接在 NVSwitch / IB 交換器的晶片裡做完 → 省 NVLink 頻寬、也把 GPU 的 SM 解放出來算模型。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583680" y="3566160"/>
            <a:ext cx="1051560" cy="566928"/>
          </a:xfrm>
          <a:prstGeom prst="roundRect">
            <a:avLst>
              <a:gd name="adj" fmla="val 12903"/>
            </a:avLst>
          </a:prstGeom>
          <a:solidFill>
            <a:srgbClr val="16233A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583680" y="362102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G0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757416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6" name="Shape 54"/>
          <p:cNvSpPr/>
          <p:nvPr/>
        </p:nvSpPr>
        <p:spPr>
          <a:xfrm>
            <a:off x="6949440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7" name="Shape 55"/>
          <p:cNvSpPr/>
          <p:nvPr/>
        </p:nvSpPr>
        <p:spPr>
          <a:xfrm>
            <a:off x="7141464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8" name="Shape 56"/>
          <p:cNvSpPr/>
          <p:nvPr/>
        </p:nvSpPr>
        <p:spPr>
          <a:xfrm>
            <a:off x="7333488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9" name="Shape 57"/>
          <p:cNvSpPr/>
          <p:nvPr/>
        </p:nvSpPr>
        <p:spPr>
          <a:xfrm>
            <a:off x="6757416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0" name="Shape 58"/>
          <p:cNvSpPr/>
          <p:nvPr/>
        </p:nvSpPr>
        <p:spPr>
          <a:xfrm>
            <a:off x="6949440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1" name="Shape 59"/>
          <p:cNvSpPr/>
          <p:nvPr/>
        </p:nvSpPr>
        <p:spPr>
          <a:xfrm>
            <a:off x="7141464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2" name="Shape 60"/>
          <p:cNvSpPr/>
          <p:nvPr/>
        </p:nvSpPr>
        <p:spPr>
          <a:xfrm>
            <a:off x="7333488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3" name="Shape 61"/>
          <p:cNvSpPr/>
          <p:nvPr/>
        </p:nvSpPr>
        <p:spPr>
          <a:xfrm>
            <a:off x="7790688" y="3566160"/>
            <a:ext cx="1051560" cy="566928"/>
          </a:xfrm>
          <a:prstGeom prst="roundRect">
            <a:avLst>
              <a:gd name="adj" fmla="val 12903"/>
            </a:avLst>
          </a:prstGeom>
          <a:solidFill>
            <a:srgbClr val="16233A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7790688" y="362102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G1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7964424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6" name="Shape 64"/>
          <p:cNvSpPr/>
          <p:nvPr/>
        </p:nvSpPr>
        <p:spPr>
          <a:xfrm>
            <a:off x="8156448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7" name="Shape 65"/>
          <p:cNvSpPr/>
          <p:nvPr/>
        </p:nvSpPr>
        <p:spPr>
          <a:xfrm>
            <a:off x="8348472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8" name="Shape 66"/>
          <p:cNvSpPr/>
          <p:nvPr/>
        </p:nvSpPr>
        <p:spPr>
          <a:xfrm>
            <a:off x="8540496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9" name="Shape 67"/>
          <p:cNvSpPr/>
          <p:nvPr/>
        </p:nvSpPr>
        <p:spPr>
          <a:xfrm>
            <a:off x="7964424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0" name="Shape 68"/>
          <p:cNvSpPr/>
          <p:nvPr/>
        </p:nvSpPr>
        <p:spPr>
          <a:xfrm>
            <a:off x="8156448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1" name="Shape 69"/>
          <p:cNvSpPr/>
          <p:nvPr/>
        </p:nvSpPr>
        <p:spPr>
          <a:xfrm>
            <a:off x="8348472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2" name="Shape 70"/>
          <p:cNvSpPr/>
          <p:nvPr/>
        </p:nvSpPr>
        <p:spPr>
          <a:xfrm>
            <a:off x="8540496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3" name="Shape 71"/>
          <p:cNvSpPr/>
          <p:nvPr/>
        </p:nvSpPr>
        <p:spPr>
          <a:xfrm>
            <a:off x="8997696" y="3566160"/>
            <a:ext cx="1051560" cy="566928"/>
          </a:xfrm>
          <a:prstGeom prst="roundRect">
            <a:avLst>
              <a:gd name="adj" fmla="val 12903"/>
            </a:avLst>
          </a:prstGeom>
          <a:solidFill>
            <a:srgbClr val="16233A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8997696" y="362102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G2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9171432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6" name="Shape 74"/>
          <p:cNvSpPr/>
          <p:nvPr/>
        </p:nvSpPr>
        <p:spPr>
          <a:xfrm>
            <a:off x="9363456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7" name="Shape 75"/>
          <p:cNvSpPr/>
          <p:nvPr/>
        </p:nvSpPr>
        <p:spPr>
          <a:xfrm>
            <a:off x="9555480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8" name="Shape 76"/>
          <p:cNvSpPr/>
          <p:nvPr/>
        </p:nvSpPr>
        <p:spPr>
          <a:xfrm>
            <a:off x="9747504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9" name="Shape 77"/>
          <p:cNvSpPr/>
          <p:nvPr/>
        </p:nvSpPr>
        <p:spPr>
          <a:xfrm>
            <a:off x="9171432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0" name="Shape 78"/>
          <p:cNvSpPr/>
          <p:nvPr/>
        </p:nvSpPr>
        <p:spPr>
          <a:xfrm>
            <a:off x="9363456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1" name="Shape 79"/>
          <p:cNvSpPr/>
          <p:nvPr/>
        </p:nvSpPr>
        <p:spPr>
          <a:xfrm>
            <a:off x="9555480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2" name="Shape 80"/>
          <p:cNvSpPr/>
          <p:nvPr/>
        </p:nvSpPr>
        <p:spPr>
          <a:xfrm>
            <a:off x="9747504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3" name="Shape 81"/>
          <p:cNvSpPr/>
          <p:nvPr/>
        </p:nvSpPr>
        <p:spPr>
          <a:xfrm>
            <a:off x="10204704" y="3566160"/>
            <a:ext cx="1051560" cy="566928"/>
          </a:xfrm>
          <a:prstGeom prst="roundRect">
            <a:avLst>
              <a:gd name="adj" fmla="val 12903"/>
            </a:avLst>
          </a:prstGeom>
          <a:solidFill>
            <a:srgbClr val="16233A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10204704" y="362102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G3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10378440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6" name="Shape 84"/>
          <p:cNvSpPr/>
          <p:nvPr/>
        </p:nvSpPr>
        <p:spPr>
          <a:xfrm>
            <a:off x="10570464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7" name="Shape 85"/>
          <p:cNvSpPr/>
          <p:nvPr/>
        </p:nvSpPr>
        <p:spPr>
          <a:xfrm>
            <a:off x="10762488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8" name="Shape 86"/>
          <p:cNvSpPr/>
          <p:nvPr/>
        </p:nvSpPr>
        <p:spPr>
          <a:xfrm>
            <a:off x="10954512" y="3648456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9" name="Shape 87"/>
          <p:cNvSpPr/>
          <p:nvPr/>
        </p:nvSpPr>
        <p:spPr>
          <a:xfrm>
            <a:off x="10378440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0" name="Shape 88"/>
          <p:cNvSpPr/>
          <p:nvPr/>
        </p:nvSpPr>
        <p:spPr>
          <a:xfrm>
            <a:off x="10570464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1" name="Shape 89"/>
          <p:cNvSpPr/>
          <p:nvPr/>
        </p:nvSpPr>
        <p:spPr>
          <a:xfrm>
            <a:off x="10762488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2" name="Shape 90"/>
          <p:cNvSpPr/>
          <p:nvPr/>
        </p:nvSpPr>
        <p:spPr>
          <a:xfrm>
            <a:off x="10954512" y="3840480"/>
            <a:ext cx="128016" cy="12801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3" name="Shape 91"/>
          <p:cNvSpPr/>
          <p:nvPr/>
        </p:nvSpPr>
        <p:spPr>
          <a:xfrm>
            <a:off x="7955280" y="3246120"/>
            <a:ext cx="1965960" cy="292608"/>
          </a:xfrm>
          <a:prstGeom prst="roundRect">
            <a:avLst>
              <a:gd name="adj" fmla="val 18750"/>
            </a:avLst>
          </a:prstGeom>
          <a:solidFill>
            <a:srgbClr val="F59E0B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955280" y="324612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NVSwitch：算好加總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6537960" y="4206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交換器算、發回結果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640080" y="5120640"/>
            <a:ext cx="10881360" cy="292608"/>
          </a:xfrm>
          <a:prstGeom prst="roundRect">
            <a:avLst>
              <a:gd name="adj" fmla="val 15625"/>
            </a:avLst>
          </a:prstGeom>
          <a:solidFill>
            <a:srgbClr val="1C2E4A"/>
          </a:solidFill>
          <a:ln/>
        </p:spPr>
      </p:sp>
      <p:sp>
        <p:nvSpPr>
          <p:cNvPr id="97" name="Text 95"/>
          <p:cNvSpPr/>
          <p:nvPr/>
        </p:nvSpPr>
        <p:spPr>
          <a:xfrm>
            <a:off x="868680" y="51206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NCCL　</a:t>
            </a:r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是這一切的軟體層：all-reduce / all-gather / reduce-scatter / all-to-all 的實作，2.27 起 NVLink 與 IB 都能吃 SHARP。</a:t>
            </a:r>
            <a:endParaRPr lang="en-US" sz="1150" dirty="0"/>
          </a:p>
        </p:txBody>
      </p:sp>
      <p:sp>
        <p:nvSpPr>
          <p:cNvPr id="98" name="Shape 96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9" name="Text 97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梯度同步（DP）、層內同步（TP）都靠 all-reduce——把它 offload 進交換器，通訊瓶頸就鬆一大截。</a:t>
            </a:r>
            <a:endParaRPr lang="en-US" sz="1500" dirty="0"/>
          </a:p>
        </p:txBody>
      </p:sp>
      <p:sp>
        <p:nvSpPr>
          <p:cNvPr id="100" name="Text 98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B · 多卡：資料平行與 NVIDIA 互連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 / 24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NVIDIA 解法③ scale-out：跨節點的網路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一個機架塞不下時，用網路把多台節點串成 AI factory——這裡走「訊息語意」（RDMA）。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7315200" cy="841248"/>
          </a:xfrm>
          <a:prstGeom prst="roundRect">
            <a:avLst>
              <a:gd name="adj" fmla="val 1087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920240"/>
            <a:ext cx="2834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InfiniBand（Quantum）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703320" y="1920240"/>
            <a:ext cx="2286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NDR 400 / XDR 800 Gb/s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89320" y="1920240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HPC 老本行，原生支援 SHARP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880360"/>
            <a:ext cx="7315200" cy="841248"/>
          </a:xfrm>
          <a:prstGeom prst="roundRect">
            <a:avLst>
              <a:gd name="adj" fmla="val 10870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2880360"/>
            <a:ext cx="2834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Spectrum-X 乙太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703320" y="2880360"/>
            <a:ext cx="2286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為 AI 調過的以太網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2880360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adaptive routing + 壅塞控制，跑 RoCEv2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7315200" cy="841248"/>
          </a:xfrm>
          <a:prstGeom prst="roundRect">
            <a:avLst>
              <a:gd name="adj" fmla="val 10870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40480"/>
            <a:ext cx="2834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GPUDirect RDMA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703320" y="3840480"/>
            <a:ext cx="2286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遠端 NIC 直達 HBM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89320" y="3840480"/>
            <a:ext cx="1783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繞過 CPU，跨節點也能直接讀寫對方 GPU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29600" y="1920240"/>
            <a:ext cx="3931920" cy="2990088"/>
          </a:xfrm>
          <a:prstGeom prst="roundRect">
            <a:avLst>
              <a:gd name="adj" fmla="val 3058"/>
            </a:avLst>
          </a:prstGeom>
          <a:solidFill>
            <a:srgbClr val="1C2E4A"/>
          </a:solidFill>
          <a:ln w="12700">
            <a:solidFill>
              <a:srgbClr val="8FA6C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58200" y="20848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scale-up vs scale-out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58200" y="2468880"/>
            <a:ext cx="3520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scale-up（NVLink）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記憶體語意、~TB/s、機架內 → 綁 TP/EP
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scale-out（IB/乙太）
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訊息語意、~百 Gb/s、跨節點 → 綁 DP/PP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3" name="Text 21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兩層網路差一個數量級：所以「通訊密的平行留機架內、稀的才跨節點」不是選擇，是被頻寬逼的。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B · 多卡：資料平行與 NVIDIA 互連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 / 24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組起來：一個大模型怎麼跑在 NVL72 上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把前面的技術疊起來，看一個「一張卡裝不下」的模型實際怎麼被攤開。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91440" cy="713232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83080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一個 NVLink 域 = 一顆大 GPU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212080" y="1783080"/>
            <a:ext cx="6858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GB200 NVL72 把 72 顆連成 130 TB/s 的域 → 大模型的權重攤在這一池 HBM 裡放得下。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724912"/>
            <a:ext cx="91440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79192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域內做 TP + EP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212080" y="2679192"/>
            <a:ext cx="6858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層內矩陣切到多卡、MoE 專家散到多卡，每層的 all-reduce / all-to-all 跑在 NVLink，並用 SHARP 加速。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621024"/>
            <a:ext cx="91440" cy="713232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575304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跨域做 DP + PP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212080" y="3575304"/>
            <a:ext cx="6858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多個 NVL72 之間用 InfiniBand / Spectrum-X 做資料平行的梯度同步、管線的 activation 傳遞。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517136"/>
            <a:ext cx="91440" cy="713232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471416"/>
            <a:ext cx="4206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NCCL 統籌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212080" y="4471416"/>
            <a:ext cx="68580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上層一律用 NCCL 呼叫集合通訊，自動選 NVLink 還是網路、要不要走 SHARP。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真實訓練＝DP × TP × PP × EP 的混合，每一軸配一種通訊、一條線——互連技術就是讓這套疊得起來。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B · 多卡：資料平行與 NVIDIA 互連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 / 24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2026 新招 CMX：把 KV cache 搬出 HBM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呼應第一堂：decode 是 memory-bound，KV cache 又吃 HBM 容量。CMX 給它一層專屬儲存。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5120640" cy="603504"/>
          </a:xfrm>
          <a:prstGeom prst="roundRect">
            <a:avLst>
              <a:gd name="adj" fmla="val 9091"/>
            </a:avLst>
          </a:prstGeom>
          <a:solidFill>
            <a:srgbClr val="4A3410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2024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HBM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91840" y="192024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最快、最貴、最小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697480"/>
            <a:ext cx="4663440" cy="603504"/>
          </a:xfrm>
          <a:prstGeom prst="roundRect">
            <a:avLst>
              <a:gd name="adj" fmla="val 9091"/>
            </a:avLst>
          </a:prstGeom>
          <a:solidFill>
            <a:srgbClr val="10455F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69748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CPU DRAM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291840" y="269748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中間層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4206240" cy="603504"/>
          </a:xfrm>
          <a:prstGeom prst="roundRect">
            <a:avLst>
              <a:gd name="adj" fmla="val 9091"/>
            </a:avLst>
          </a:prstGeom>
          <a:solidFill>
            <a:srgbClr val="123D31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474720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NVMe flash (CMX)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291840" y="347472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大、便宜、放 KV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26480" y="2103120"/>
            <a:ext cx="0" cy="182880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309360" y="233172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BlueField-4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+ Spectrum-X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 I/O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55280" y="1920240"/>
            <a:ext cx="4206240" cy="2706624"/>
          </a:xfrm>
          <a:prstGeom prst="roundRect">
            <a:avLst>
              <a:gd name="adj" fmla="val 3378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183880" y="20848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CMX 帶來什麼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83880" y="248716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~5×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72600" y="24871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token 吞吐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183880" y="3054096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~4×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372600" y="305409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能源效率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83880" y="3621024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~2×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372600" y="3621024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資料載入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183880" y="41605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Dynamo + NIXL 統籌 prefill/decode/KV，並支援 prefill–decode 拆分與前綴重用。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互連技術不只服務訓練：把 KV cache 卸到網路掛載的 flash，直接打 decode 的頻寬/容量牆。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B · 多卡：資料平行與 NVIDIA 互連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 / 24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互動環節③：多卡平行地圖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123D31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🕸️ 切出去開　</a:t>
            </a:r>
            <a:pPr indent="0" marL="0">
              <a:buNone/>
            </a:pPr>
            <a:r>
              <a:rPr lang="en-US" sz="14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interactive/parallelism_map.html</a:t>
            </a:r>
            <a:pPr indent="0" marL="0"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　——把同一個玩具 Transformer 攤到多張卡上。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5257800" cy="658368"/>
          </a:xfrm>
          <a:prstGeom prst="roundRect">
            <a:avLst>
              <a:gd name="adj" fmla="val 8333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346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 單卡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423160" y="283464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整份模型在一顆 HBM → 沒有通訊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40080" y="3611880"/>
            <a:ext cx="5257800" cy="658368"/>
          </a:xfrm>
          <a:prstGeom prst="roundRect">
            <a:avLst>
              <a:gd name="adj" fmla="val 8333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61188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 裝不下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423160" y="361188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模型長大 → 權重/KV/狀態溢出一顆卡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640080" y="4389120"/>
            <a:ext cx="5257800" cy="658368"/>
          </a:xfrm>
          <a:prstGeom prst="roundRect">
            <a:avLst>
              <a:gd name="adj" fmla="val 8333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 資料平行 DP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423160" y="43891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複製模型、切 batch、梯度 all-reduce（看四個問題）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6172200" y="2834640"/>
            <a:ext cx="5257800" cy="658368"/>
          </a:xfrm>
          <a:prstGeom prst="roundRect">
            <a:avLst>
              <a:gd name="adj" fmla="val 8333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283464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 張量平行 TP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955280" y="283464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把「一層」的 Wq/Wk/Wv/Wo+W1/W2 每個矩陣切 4 片、每層 all-reduce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6172200" y="3611880"/>
            <a:ext cx="5257800" cy="658368"/>
          </a:xfrm>
          <a:prstGeom prst="roundRect">
            <a:avLst>
              <a:gd name="adj" fmla="val 8333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361188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5 管線平行 PP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955280" y="361188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整層分段（不切一層內部）、p2p 傳 activation、看 bubble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6172200" y="4389120"/>
            <a:ext cx="5257800" cy="658368"/>
          </a:xfrm>
          <a:prstGeom prst="roundRect">
            <a:avLst>
              <a:gd name="adj" fmla="val 8333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55080" y="43891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6 互連硬體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955280" y="43891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各平行走 NVLink/NVSwitch 還是 IB/Spectrum-X（scale-up vs scale-out）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640080" y="5212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操作：數字鍵 1–6 跳層 · Esc 回上層　（TP / PP 兩層會畫出「一層」的權重矩陣怎麼被切）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8" name="Text 26"/>
          <p:cNvSpPr/>
          <p:nvPr/>
        </p:nvSpPr>
        <p:spPr>
          <a:xfrm>
            <a:off x="841248" y="5486400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抽象的「切哪個軸、走哪條線」變成看得到、玩得到的東西——這是本堂的落地。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B · 多卡：資料平行與 NVIDIA 互連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23 / 24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68312" y="274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第二堂課 · Transformer × GPU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帶走三句話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645920" y="1783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一張卡：逐 block 看單元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45920" y="225856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Transformer 每個 block 落在 tensor core（大 GEMM）或 CUDA core（softmax/norm/查表）；大矩陣吃算力、其餘吃頻寬。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017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45920" y="3017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多卡：DP 切資料、不切模型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45920" y="349300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資料平行救不了「裝不下」的模型，還有通訊/重複/延遲四問題 → 得靠 TP/PP/EP 切模型本身。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25196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34D39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251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645920" y="4251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互連決定切法的可行性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45920" y="472744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通訊階梯逼你把 TP/EP 綁 NVLink 域、DP/PP 才跨節點；NVSwitch+SHARP、Rubin/NVLink6、CMX 都在鬆這道牆。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下一步：把 demo 在多卡 GPU 上實跑，量 all-reduce 頻寬與 TP 的通訊佔比。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B · 多卡：資料平行與 NVIDIA 互連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24 / 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第二堂課 · Transformer × GPU 框架</dc:title>
  <dc:subject>PptxGenJS Presentation</dc:subject>
  <dc:creator>GPU 記憶體與資料搬遷讀書會</dc:creator>
  <cp:lastModifiedBy>GPU 記憶體與資料搬遷讀書會</cp:lastModifiedBy>
  <cp:revision>1</cp:revision>
  <dcterms:created xsi:type="dcterms:W3CDTF">2026-08-17T07:27:22Z</dcterms:created>
  <dcterms:modified xsi:type="dcterms:W3CDTF">2026-08-17T07:27:22Z</dcterms:modified>
</cp:coreProperties>
</file>