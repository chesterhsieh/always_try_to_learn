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33172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732520" y="2386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GPU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29116" y="294436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121140" y="294436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9313164" y="294436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9505188" y="294436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8929116" y="313639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9121140" y="313639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9313164" y="313639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9505188" y="313639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32826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單卡跑得完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732520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04120" y="2331720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04120" y="238658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62972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54996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47020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39044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62972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54996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47020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39044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17352" y="2331720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817352" y="238658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776204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68228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60252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52276" y="241401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76204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68228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60252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52276" y="260604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04120" y="2990088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104120" y="3044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62972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54996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47020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39044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62972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4996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47020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39044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17352" y="2990088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817352" y="3044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76204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68228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0252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11352276" y="3072384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76204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968228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11160252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Shape 51"/>
          <p:cNvSpPr/>
          <p:nvPr/>
        </p:nvSpPr>
        <p:spPr>
          <a:xfrm>
            <a:off x="11352276" y="3264408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5520" y="2880360"/>
            <a:ext cx="201168" cy="0"/>
          </a:xfrm>
          <a:prstGeom prst="line">
            <a:avLst/>
          </a:prstGeom>
          <a:noFill/>
          <a:ln w="2540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010412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 B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第二堂課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40080" y="2148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上機：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從一張卡的每個 block，到多卡的通訊</a:t>
            </a:r>
            <a:endParaRPr lang="en-US" sz="3800" dirty="0"/>
          </a:p>
        </p:txBody>
      </p:sp>
      <p:sp>
        <p:nvSpPr>
          <p:cNvPr id="58" name="Text 56"/>
          <p:cNvSpPr/>
          <p:nvPr/>
        </p:nvSpPr>
        <p:spPr>
          <a:xfrm>
            <a:off x="64008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A：把玩具 Transformer 逐 block 攤開，看每一步跑在 GPU 的哪個單元、被算力還是頻寬卡住。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40080" y="4892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B：模型大到一張卡裝不下——資料平行有哪些問題，NVIDIA 用哪些跨 GPU 通訊新技術補上。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延續第一堂：roofline · 記憶體階層 · KV cache · decode 的 memory-bound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這堂課的兩條線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965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單卡逐 block × GPU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266090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玩具 Transformer：T=6、d=6、2 heads（同構真實模型）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318211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127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block 拆：Embed → QKV → 多頭 → Attention → Add&amp;Norm → FFN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370332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block 落在哪個單元：tensor core / CUDA core / HBM / L2 / shared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422452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4169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誰是 compute-bound、誰是 memory-bound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74573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690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結論：整個模型一張卡（一顆 HBM）跑得完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7373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19659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多卡的資料平行與互連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26609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一張卡裝不下：權重 + KV cache + optimizer 狀態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31821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3127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資料平行 (DP) 的四個問題（本堂重點）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37033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830568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切模型本身：張量 TP / 管線 PP / 專家 EP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224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4169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通訊變瓶頸 → NVLink5 / NVSwitch / SHARP / NCCL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47457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30568" y="4690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跨節點 InfiniBand / Spectrum-X；2026：Rubin、CMX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一條主線：先看懂一張卡怎麼跑一個 Transformer，再看模型變大後、卡與卡之間要搬什麼。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回顧：我們的玩具 Transformer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真實模型 d=12288、96 heads、128K context——大到畫不出來。把維度縮到極小、但保留每一個分叉，結構與尺寸無關。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玩具規格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維度</a:t>
            </a:r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　　玩具</a:t>
            </a:r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　　真實(GPT級)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序列長 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128K+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d_model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364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3649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12288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803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heads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38039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803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96+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d_head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4242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2428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681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FFN hidden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4681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12（2×）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4681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4×d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2011680"/>
            <a:ext cx="630936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21762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一層 Decoder block 的資料流（GPT 這類只留 decoder）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32120" y="265176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651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Embed + 位置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32120" y="2962656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3054096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0540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Masked Self-Attn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32120" y="33649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3456432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Add &amp; Norm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32120" y="3767328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3858768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FFN 6→12→6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32120" y="416966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32120" y="4261104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42611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Add &amp; Norm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32120" y="4572000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32120" y="4663440"/>
            <a:ext cx="3657600" cy="329184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4663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logits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4183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 愛 喝 咖 啡 →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72600" y="3200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attention 是 token 間唯一交換資訊的地方；FFN 對每個 token 獨立（token 軸天生平行）。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同構：玩具上看懂的每一條資料流，乘上倍率就是真實模型。這堂課逐 block 問「它在 GPU 上跑在哪」。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我們要對應的那台 GPU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在逐 block 之前，先把 GPU 的零件擺出來——每個 block 會用到其中幾個。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運算單元（誰在算）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496312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505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 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整塊 tile 的矩陣乘加（MMA）→ 吃 GEMM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918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CUDA 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935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純量逐格算 → softmax / norm / 逐元素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78808"/>
            <a:ext cx="82296" cy="56692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33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 / warp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 執行緒一組；大量 warp 藏記憶體延遲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記憶體階層（資料住哪）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4323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HBM（global）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41080" y="24323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~3.35 TB/s · 大而慢 · 權重 + KV cache 住這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3035808"/>
            <a:ext cx="475488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L2 cache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41080" y="3090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~數十 MB · 全晶片共用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3694176"/>
            <a:ext cx="475488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 / L1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~228 KB/SM · 程式可控（tiling 關鍵）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4352544"/>
            <a:ext cx="475488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407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Register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4407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最快 · tensor core 直接吃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23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🔍 互動環節①　</a:t>
            </a:r>
            <a:pPr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切出去開 interactive/gpu_map.html：Cluster → Node → GPU → SM → 運算單元(CUDA/Tensor) 下鑽，回來接逐 block。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0 — Embedding + 位置編碼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id → 查表（gather）→ 向量 [6]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572768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39696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9696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06624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6624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73552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啡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0" y="2880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查表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3429000"/>
            <a:ext cx="0" cy="384048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63440" y="283464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0455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Embedding 表 [vocab × 6]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住 HBM · 只讀取用到的幾列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14400" y="4160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 位置編碼：把「第幾個字」的資訊加進向量 → 得到 X [6×6]（逐元素相加）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主要運算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查表 gather + 逐元素加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用到單元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core（不是 tensor core）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資料位置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embedding 表在 HBM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搬運型態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隨機讀取幾列 → 記憶體存取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memory-bound（運算極少）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第一步幾乎不算數：只是把字換成向量。GPU 這裡是在「搬」，不是在「算」。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1 — QKV 投影：第一個大矩陣乘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 [6×6] 各乘三個權重 → Q、K、V [6×6]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43000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307592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72184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636776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801368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5960" y="297180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07592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472184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1636776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801368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1965960" y="31363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07592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472184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1636776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1801368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Shape 40"/>
          <p:cNvSpPr/>
          <p:nvPr/>
        </p:nvSpPr>
        <p:spPr>
          <a:xfrm>
            <a:off x="1965960" y="330098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3000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Shape 42"/>
          <p:cNvSpPr/>
          <p:nvPr/>
        </p:nvSpPr>
        <p:spPr>
          <a:xfrm>
            <a:off x="1307592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472184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1636776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1801368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Shape 46"/>
          <p:cNvSpPr/>
          <p:nvPr/>
        </p:nvSpPr>
        <p:spPr>
          <a:xfrm>
            <a:off x="1965960" y="346557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000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07592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472184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1636776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Shape 51"/>
          <p:cNvSpPr/>
          <p:nvPr/>
        </p:nvSpPr>
        <p:spPr>
          <a:xfrm>
            <a:off x="1801368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4" name="Shape 52"/>
          <p:cNvSpPr/>
          <p:nvPr/>
        </p:nvSpPr>
        <p:spPr>
          <a:xfrm>
            <a:off x="1965960" y="363016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5" name="Shape 53"/>
          <p:cNvSpPr/>
          <p:nvPr/>
        </p:nvSpPr>
        <p:spPr>
          <a:xfrm>
            <a:off x="1143000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Shape 54"/>
          <p:cNvSpPr/>
          <p:nvPr/>
        </p:nvSpPr>
        <p:spPr>
          <a:xfrm>
            <a:off x="1307592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Shape 55"/>
          <p:cNvSpPr/>
          <p:nvPr/>
        </p:nvSpPr>
        <p:spPr>
          <a:xfrm>
            <a:off x="1472184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8" name="Shape 56"/>
          <p:cNvSpPr/>
          <p:nvPr/>
        </p:nvSpPr>
        <p:spPr>
          <a:xfrm>
            <a:off x="1636776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9" name="Shape 57"/>
          <p:cNvSpPr/>
          <p:nvPr/>
        </p:nvSpPr>
        <p:spPr>
          <a:xfrm>
            <a:off x="1801368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0" name="Shape 58"/>
          <p:cNvSpPr/>
          <p:nvPr/>
        </p:nvSpPr>
        <p:spPr>
          <a:xfrm>
            <a:off x="1965960" y="379476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1" name="Text 59"/>
          <p:cNvSpPr/>
          <p:nvPr/>
        </p:nvSpPr>
        <p:spPr>
          <a:xfrm>
            <a:off x="114300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2402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×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269748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Shape 62"/>
          <p:cNvSpPr/>
          <p:nvPr/>
        </p:nvSpPr>
        <p:spPr>
          <a:xfrm>
            <a:off x="2862072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Shape 63"/>
          <p:cNvSpPr/>
          <p:nvPr/>
        </p:nvSpPr>
        <p:spPr>
          <a:xfrm>
            <a:off x="3026664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6" name="Shape 64"/>
          <p:cNvSpPr/>
          <p:nvPr/>
        </p:nvSpPr>
        <p:spPr>
          <a:xfrm>
            <a:off x="3191256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Shape 65"/>
          <p:cNvSpPr/>
          <p:nvPr/>
        </p:nvSpPr>
        <p:spPr>
          <a:xfrm>
            <a:off x="3355848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Shape 66"/>
          <p:cNvSpPr/>
          <p:nvPr/>
        </p:nvSpPr>
        <p:spPr>
          <a:xfrm>
            <a:off x="352044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Shape 67"/>
          <p:cNvSpPr/>
          <p:nvPr/>
        </p:nvSpPr>
        <p:spPr>
          <a:xfrm>
            <a:off x="269748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Shape 68"/>
          <p:cNvSpPr/>
          <p:nvPr/>
        </p:nvSpPr>
        <p:spPr>
          <a:xfrm>
            <a:off x="2862072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Shape 69"/>
          <p:cNvSpPr/>
          <p:nvPr/>
        </p:nvSpPr>
        <p:spPr>
          <a:xfrm>
            <a:off x="3026664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Shape 70"/>
          <p:cNvSpPr/>
          <p:nvPr/>
        </p:nvSpPr>
        <p:spPr>
          <a:xfrm>
            <a:off x="3191256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Shape 71"/>
          <p:cNvSpPr/>
          <p:nvPr/>
        </p:nvSpPr>
        <p:spPr>
          <a:xfrm>
            <a:off x="3355848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Shape 72"/>
          <p:cNvSpPr/>
          <p:nvPr/>
        </p:nvSpPr>
        <p:spPr>
          <a:xfrm>
            <a:off x="352044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5" name="Shape 73"/>
          <p:cNvSpPr/>
          <p:nvPr/>
        </p:nvSpPr>
        <p:spPr>
          <a:xfrm>
            <a:off x="269748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Shape 74"/>
          <p:cNvSpPr/>
          <p:nvPr/>
        </p:nvSpPr>
        <p:spPr>
          <a:xfrm>
            <a:off x="2862072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3026664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3191256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9" name="Shape 77"/>
          <p:cNvSpPr/>
          <p:nvPr/>
        </p:nvSpPr>
        <p:spPr>
          <a:xfrm>
            <a:off x="3355848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" name="Shape 78"/>
          <p:cNvSpPr/>
          <p:nvPr/>
        </p:nvSpPr>
        <p:spPr>
          <a:xfrm>
            <a:off x="352044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Shape 79"/>
          <p:cNvSpPr/>
          <p:nvPr/>
        </p:nvSpPr>
        <p:spPr>
          <a:xfrm>
            <a:off x="269748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2" name="Shape 80"/>
          <p:cNvSpPr/>
          <p:nvPr/>
        </p:nvSpPr>
        <p:spPr>
          <a:xfrm>
            <a:off x="2862072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3" name="Shape 81"/>
          <p:cNvSpPr/>
          <p:nvPr/>
        </p:nvSpPr>
        <p:spPr>
          <a:xfrm>
            <a:off x="3026664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Shape 82"/>
          <p:cNvSpPr/>
          <p:nvPr/>
        </p:nvSpPr>
        <p:spPr>
          <a:xfrm>
            <a:off x="3191256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5" name="Shape 83"/>
          <p:cNvSpPr/>
          <p:nvPr/>
        </p:nvSpPr>
        <p:spPr>
          <a:xfrm>
            <a:off x="3355848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6" name="Shape 84"/>
          <p:cNvSpPr/>
          <p:nvPr/>
        </p:nvSpPr>
        <p:spPr>
          <a:xfrm>
            <a:off x="352044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7" name="Shape 85"/>
          <p:cNvSpPr/>
          <p:nvPr/>
        </p:nvSpPr>
        <p:spPr>
          <a:xfrm>
            <a:off x="269748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" name="Shape 86"/>
          <p:cNvSpPr/>
          <p:nvPr/>
        </p:nvSpPr>
        <p:spPr>
          <a:xfrm>
            <a:off x="2862072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9" name="Shape 87"/>
          <p:cNvSpPr/>
          <p:nvPr/>
        </p:nvSpPr>
        <p:spPr>
          <a:xfrm>
            <a:off x="3026664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0" name="Shape 88"/>
          <p:cNvSpPr/>
          <p:nvPr/>
        </p:nvSpPr>
        <p:spPr>
          <a:xfrm>
            <a:off x="3191256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1" name="Shape 89"/>
          <p:cNvSpPr/>
          <p:nvPr/>
        </p:nvSpPr>
        <p:spPr>
          <a:xfrm>
            <a:off x="3355848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2" name="Shape 90"/>
          <p:cNvSpPr/>
          <p:nvPr/>
        </p:nvSpPr>
        <p:spPr>
          <a:xfrm>
            <a:off x="352044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3" name="Shape 91"/>
          <p:cNvSpPr/>
          <p:nvPr/>
        </p:nvSpPr>
        <p:spPr>
          <a:xfrm>
            <a:off x="269748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4" name="Shape 92"/>
          <p:cNvSpPr/>
          <p:nvPr/>
        </p:nvSpPr>
        <p:spPr>
          <a:xfrm>
            <a:off x="2862072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5" name="Shape 93"/>
          <p:cNvSpPr/>
          <p:nvPr/>
        </p:nvSpPr>
        <p:spPr>
          <a:xfrm>
            <a:off x="3026664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6" name="Shape 94"/>
          <p:cNvSpPr/>
          <p:nvPr/>
        </p:nvSpPr>
        <p:spPr>
          <a:xfrm>
            <a:off x="3191256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7" name="Shape 95"/>
          <p:cNvSpPr/>
          <p:nvPr/>
        </p:nvSpPr>
        <p:spPr>
          <a:xfrm>
            <a:off x="3355848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8" name="Shape 96"/>
          <p:cNvSpPr/>
          <p:nvPr/>
        </p:nvSpPr>
        <p:spPr>
          <a:xfrm>
            <a:off x="352044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Text 97"/>
          <p:cNvSpPr/>
          <p:nvPr/>
        </p:nvSpPr>
        <p:spPr>
          <a:xfrm>
            <a:off x="269748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Wq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84048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1" name="Shape 99"/>
          <p:cNvSpPr/>
          <p:nvPr/>
        </p:nvSpPr>
        <p:spPr>
          <a:xfrm>
            <a:off x="4005072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169664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334256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498848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66344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4048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005072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169664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34256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498848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66344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84048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005072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169664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334256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498848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66344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84048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005072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169664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334256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498848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66344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84048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005072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169664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334256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498848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66344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384048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4005072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4169664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334256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498848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66344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6" name="Text 134"/>
          <p:cNvSpPr/>
          <p:nvPr/>
        </p:nvSpPr>
        <p:spPr>
          <a:xfrm>
            <a:off x="384048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Wk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498348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148072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312664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477256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641848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806440" y="29718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98348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148072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312664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477256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641848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806440" y="3136392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98348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5148072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5312664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5477256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5641848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806440" y="3300984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98348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6" name="Shape 154"/>
          <p:cNvSpPr/>
          <p:nvPr/>
        </p:nvSpPr>
        <p:spPr>
          <a:xfrm>
            <a:off x="5148072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312664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477256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641848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806440" y="346557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98348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148072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312664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477256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641848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806440" y="3630168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98348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148072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9" name="Shape 167"/>
          <p:cNvSpPr/>
          <p:nvPr/>
        </p:nvSpPr>
        <p:spPr>
          <a:xfrm>
            <a:off x="5312664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0" name="Shape 168"/>
          <p:cNvSpPr/>
          <p:nvPr/>
        </p:nvSpPr>
        <p:spPr>
          <a:xfrm>
            <a:off x="5477256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1" name="Shape 169"/>
          <p:cNvSpPr/>
          <p:nvPr/>
        </p:nvSpPr>
        <p:spPr>
          <a:xfrm>
            <a:off x="5641848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2" name="Shape 170"/>
          <p:cNvSpPr/>
          <p:nvPr/>
        </p:nvSpPr>
        <p:spPr>
          <a:xfrm>
            <a:off x="5806440" y="379476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3" name="Text 171"/>
          <p:cNvSpPr/>
          <p:nvPr/>
        </p:nvSpPr>
        <p:spPr>
          <a:xfrm>
            <a:off x="498348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Wv</a:t>
            </a:r>
            <a:endParaRPr lang="en-US" sz="1200" dirty="0"/>
          </a:p>
        </p:txBody>
      </p:sp>
      <p:sp>
        <p:nvSpPr>
          <p:cNvPr id="174" name="Text 172"/>
          <p:cNvSpPr/>
          <p:nvPr/>
        </p:nvSpPr>
        <p:spPr>
          <a:xfrm>
            <a:off x="612648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Q,K,V</a:t>
            </a:r>
            <a:endParaRPr lang="en-US" sz="1300" dirty="0"/>
          </a:p>
        </p:txBody>
      </p:sp>
      <p:sp>
        <p:nvSpPr>
          <p:cNvPr id="175" name="Text 173"/>
          <p:cNvSpPr/>
          <p:nvPr/>
        </p:nvSpPr>
        <p:spPr>
          <a:xfrm>
            <a:off x="914400" y="4343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這是標準 GEMM（矩陣×矩陣）。真實模型 d=12288 → 這幾個乘法是每層算力大戶。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178" name="Text 176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主要運算</a:t>
            </a:r>
            <a:endParaRPr lang="en-US" sz="1200" dirty="0"/>
          </a:p>
        </p:txBody>
      </p:sp>
      <p:sp>
        <p:nvSpPr>
          <p:cNvPr id="179" name="Text 177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GEMM：X · W（矩陣乘）</a:t>
            </a:r>
            <a:endParaRPr lang="en-US" sz="1200" dirty="0"/>
          </a:p>
        </p:txBody>
      </p:sp>
      <p:sp>
        <p:nvSpPr>
          <p:cNvPr id="180" name="Text 178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用到單元</a:t>
            </a:r>
            <a:endParaRPr lang="en-US" sz="1200" dirty="0"/>
          </a:p>
        </p:txBody>
      </p:sp>
      <p:sp>
        <p:nvSpPr>
          <p:cNvPr id="181" name="Text 179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Core（MMA 一次一塊 tile）</a:t>
            </a:r>
            <a:endParaRPr lang="en-US" sz="1200" dirty="0"/>
          </a:p>
        </p:txBody>
      </p:sp>
      <p:sp>
        <p:nvSpPr>
          <p:cNvPr id="182" name="Text 180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資料流動</a:t>
            </a:r>
            <a:endParaRPr lang="en-US" sz="1200" dirty="0"/>
          </a:p>
        </p:txBody>
      </p:sp>
      <p:sp>
        <p:nvSpPr>
          <p:cNvPr id="183" name="Text 181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→ L2 → shared → register</a:t>
            </a:r>
            <a:endParaRPr lang="en-US" sz="1200" dirty="0"/>
          </a:p>
        </p:txBody>
      </p:sp>
      <p:sp>
        <p:nvSpPr>
          <p:cNvPr id="184" name="Text 182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加速關鍵</a:t>
            </a:r>
            <a:endParaRPr lang="en-US" sz="1200" dirty="0"/>
          </a:p>
        </p:txBody>
      </p:sp>
      <p:sp>
        <p:nvSpPr>
          <p:cNvPr id="185" name="Text 183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tiling：tile 留 shared 重複用</a:t>
            </a:r>
            <a:endParaRPr lang="en-US" sz="1200" dirty="0"/>
          </a:p>
        </p:txBody>
      </p:sp>
      <p:sp>
        <p:nvSpPr>
          <p:cNvPr id="186" name="Shape 184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compute-bound（T 夠大時）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9" name="Text 18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權重從 HBM 讀進來、切成 16×16 的 tile 餵進 tensor core——這就是 GPU「算得快」的主場。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2 — 多頭切分：分叉就是平行軸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維「切」成 2 個 head × 3 維——兩個 head 結構相同、彼此零依賴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271016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4752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618488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792224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1965960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1271016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4752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1618488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792224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1965960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7280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1271016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4752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8488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1792224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Shape 40"/>
          <p:cNvSpPr/>
          <p:nvPr/>
        </p:nvSpPr>
        <p:spPr>
          <a:xfrm>
            <a:off x="1965960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Shape 42"/>
          <p:cNvSpPr/>
          <p:nvPr/>
        </p:nvSpPr>
        <p:spPr>
          <a:xfrm>
            <a:off x="1271016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4752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1618488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92224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Shape 46"/>
          <p:cNvSpPr/>
          <p:nvPr/>
        </p:nvSpPr>
        <p:spPr>
          <a:xfrm>
            <a:off x="1965960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7280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1271016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4752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1618488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2224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4" name="Shape 52"/>
          <p:cNvSpPr/>
          <p:nvPr/>
        </p:nvSpPr>
        <p:spPr>
          <a:xfrm>
            <a:off x="1965960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5" name="Shape 53"/>
          <p:cNvSpPr/>
          <p:nvPr/>
        </p:nvSpPr>
        <p:spPr>
          <a:xfrm>
            <a:off x="1097280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Shape 54"/>
          <p:cNvSpPr/>
          <p:nvPr/>
        </p:nvSpPr>
        <p:spPr>
          <a:xfrm>
            <a:off x="1271016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Shape 55"/>
          <p:cNvSpPr/>
          <p:nvPr/>
        </p:nvSpPr>
        <p:spPr>
          <a:xfrm>
            <a:off x="1444752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8" name="Shape 56"/>
          <p:cNvSpPr/>
          <p:nvPr/>
        </p:nvSpPr>
        <p:spPr>
          <a:xfrm>
            <a:off x="1618488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9" name="Shape 57"/>
          <p:cNvSpPr/>
          <p:nvPr/>
        </p:nvSpPr>
        <p:spPr>
          <a:xfrm>
            <a:off x="1792224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0" name="Shape 58"/>
          <p:cNvSpPr/>
          <p:nvPr/>
        </p:nvSpPr>
        <p:spPr>
          <a:xfrm>
            <a:off x="1965960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1" name="Text 59"/>
          <p:cNvSpPr/>
          <p:nvPr/>
        </p:nvSpPr>
        <p:spPr>
          <a:xfrm>
            <a:off x="109728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Q,K,V [6×6]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88920" y="3520440"/>
            <a:ext cx="457200" cy="0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429000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4" name="Shape 62"/>
          <p:cNvSpPr/>
          <p:nvPr/>
        </p:nvSpPr>
        <p:spPr>
          <a:xfrm>
            <a:off x="3602736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5" name="Shape 63"/>
          <p:cNvSpPr/>
          <p:nvPr/>
        </p:nvSpPr>
        <p:spPr>
          <a:xfrm>
            <a:off x="3776472" y="301752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6" name="Shape 64"/>
          <p:cNvSpPr/>
          <p:nvPr/>
        </p:nvSpPr>
        <p:spPr>
          <a:xfrm>
            <a:off x="3429000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7" name="Shape 65"/>
          <p:cNvSpPr/>
          <p:nvPr/>
        </p:nvSpPr>
        <p:spPr>
          <a:xfrm>
            <a:off x="3602736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8" name="Shape 66"/>
          <p:cNvSpPr/>
          <p:nvPr/>
        </p:nvSpPr>
        <p:spPr>
          <a:xfrm>
            <a:off x="3776472" y="3191256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9" name="Shape 67"/>
          <p:cNvSpPr/>
          <p:nvPr/>
        </p:nvSpPr>
        <p:spPr>
          <a:xfrm>
            <a:off x="3429000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0" name="Shape 68"/>
          <p:cNvSpPr/>
          <p:nvPr/>
        </p:nvSpPr>
        <p:spPr>
          <a:xfrm>
            <a:off x="3602736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1" name="Shape 69"/>
          <p:cNvSpPr/>
          <p:nvPr/>
        </p:nvSpPr>
        <p:spPr>
          <a:xfrm>
            <a:off x="3776472" y="3364992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2" name="Shape 70"/>
          <p:cNvSpPr/>
          <p:nvPr/>
        </p:nvSpPr>
        <p:spPr>
          <a:xfrm>
            <a:off x="3429000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3" name="Shape 71"/>
          <p:cNvSpPr/>
          <p:nvPr/>
        </p:nvSpPr>
        <p:spPr>
          <a:xfrm>
            <a:off x="3602736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4" name="Shape 72"/>
          <p:cNvSpPr/>
          <p:nvPr/>
        </p:nvSpPr>
        <p:spPr>
          <a:xfrm>
            <a:off x="3776472" y="3538728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5" name="Shape 73"/>
          <p:cNvSpPr/>
          <p:nvPr/>
        </p:nvSpPr>
        <p:spPr>
          <a:xfrm>
            <a:off x="3429000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6" name="Shape 74"/>
          <p:cNvSpPr/>
          <p:nvPr/>
        </p:nvSpPr>
        <p:spPr>
          <a:xfrm>
            <a:off x="3602736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7" name="Shape 75"/>
          <p:cNvSpPr/>
          <p:nvPr/>
        </p:nvSpPr>
        <p:spPr>
          <a:xfrm>
            <a:off x="3776472" y="3712464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8" name="Shape 76"/>
          <p:cNvSpPr/>
          <p:nvPr/>
        </p:nvSpPr>
        <p:spPr>
          <a:xfrm>
            <a:off x="3429000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9" name="Shape 77"/>
          <p:cNvSpPr/>
          <p:nvPr/>
        </p:nvSpPr>
        <p:spPr>
          <a:xfrm>
            <a:off x="3602736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0" name="Shape 78"/>
          <p:cNvSpPr/>
          <p:nvPr/>
        </p:nvSpPr>
        <p:spPr>
          <a:xfrm>
            <a:off x="3776472" y="3886200"/>
            <a:ext cx="155448" cy="155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1" name="Text 79"/>
          <p:cNvSpPr/>
          <p:nvPr/>
        </p:nvSpPr>
        <p:spPr>
          <a:xfrm>
            <a:off x="342900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head 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617720" y="301752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3" name="Shape 81"/>
          <p:cNvSpPr/>
          <p:nvPr/>
        </p:nvSpPr>
        <p:spPr>
          <a:xfrm>
            <a:off x="4791456" y="301752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Shape 82"/>
          <p:cNvSpPr/>
          <p:nvPr/>
        </p:nvSpPr>
        <p:spPr>
          <a:xfrm>
            <a:off x="4965192" y="301752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5" name="Shape 83"/>
          <p:cNvSpPr/>
          <p:nvPr/>
        </p:nvSpPr>
        <p:spPr>
          <a:xfrm>
            <a:off x="4617720" y="3191256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6" name="Shape 84"/>
          <p:cNvSpPr/>
          <p:nvPr/>
        </p:nvSpPr>
        <p:spPr>
          <a:xfrm>
            <a:off x="4791456" y="3191256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7" name="Shape 85"/>
          <p:cNvSpPr/>
          <p:nvPr/>
        </p:nvSpPr>
        <p:spPr>
          <a:xfrm>
            <a:off x="4965192" y="3191256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" name="Shape 86"/>
          <p:cNvSpPr/>
          <p:nvPr/>
        </p:nvSpPr>
        <p:spPr>
          <a:xfrm>
            <a:off x="4617720" y="3364992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9" name="Shape 87"/>
          <p:cNvSpPr/>
          <p:nvPr/>
        </p:nvSpPr>
        <p:spPr>
          <a:xfrm>
            <a:off x="4791456" y="3364992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0" name="Shape 88"/>
          <p:cNvSpPr/>
          <p:nvPr/>
        </p:nvSpPr>
        <p:spPr>
          <a:xfrm>
            <a:off x="4965192" y="3364992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1" name="Shape 89"/>
          <p:cNvSpPr/>
          <p:nvPr/>
        </p:nvSpPr>
        <p:spPr>
          <a:xfrm>
            <a:off x="4617720" y="3538728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2" name="Shape 90"/>
          <p:cNvSpPr/>
          <p:nvPr/>
        </p:nvSpPr>
        <p:spPr>
          <a:xfrm>
            <a:off x="4791456" y="3538728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3" name="Shape 91"/>
          <p:cNvSpPr/>
          <p:nvPr/>
        </p:nvSpPr>
        <p:spPr>
          <a:xfrm>
            <a:off x="4965192" y="3538728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4" name="Shape 92"/>
          <p:cNvSpPr/>
          <p:nvPr/>
        </p:nvSpPr>
        <p:spPr>
          <a:xfrm>
            <a:off x="4617720" y="3712464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5" name="Shape 93"/>
          <p:cNvSpPr/>
          <p:nvPr/>
        </p:nvSpPr>
        <p:spPr>
          <a:xfrm>
            <a:off x="4791456" y="3712464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6" name="Shape 94"/>
          <p:cNvSpPr/>
          <p:nvPr/>
        </p:nvSpPr>
        <p:spPr>
          <a:xfrm>
            <a:off x="4965192" y="3712464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7" name="Shape 95"/>
          <p:cNvSpPr/>
          <p:nvPr/>
        </p:nvSpPr>
        <p:spPr>
          <a:xfrm>
            <a:off x="4617720" y="388620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8" name="Shape 96"/>
          <p:cNvSpPr/>
          <p:nvPr/>
        </p:nvSpPr>
        <p:spPr>
          <a:xfrm>
            <a:off x="4791456" y="388620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Shape 97"/>
          <p:cNvSpPr/>
          <p:nvPr/>
        </p:nvSpPr>
        <p:spPr>
          <a:xfrm>
            <a:off x="4965192" y="3886200"/>
            <a:ext cx="155448" cy="155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0" name="Text 98"/>
          <p:cNvSpPr/>
          <p:nvPr/>
        </p:nvSpPr>
        <p:spPr>
          <a:xfrm>
            <a:off x="461772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head 2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5778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各自算 attention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914400" y="4434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多送 GPU 一個平行軸（head 軸）：head 之間可同時算，對到不同 tile / 不同 warp（batched GEMM）。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105" name="Text 103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切出來的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head 軸（玩具 2、真實 96+）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平行對應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batched GEMM / 不同 warp、tile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為何重要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靠「寬」——平行軸越多越好餵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延伸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GQA：多個 Q head 共用一組 KV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餵飽平行度 → 高利用率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6" name="Text 114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天生「寬」：head 軸、token 軸都能平行——這正是它為 GPU 而生的原因（第一堂 Part 5）。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3 — Attention：prefill 與 decode 兩張臉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04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head 的矩陣鏈：Q·Kᵀ → softmax → ·V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27889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Q·Kᵀ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GEMM/GEMV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9748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54680" y="27889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softmax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CUDA 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27889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GEMM/GEMV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5840" y="388620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123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977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Prefill（吃整段）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Q[6×3]·Kᵀ = GEMM · 整批算 · 高 AI → compute-bound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51960" y="388620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39776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Decode（逐字吐）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q[1×3]·Kᵀ = GEMV · KV cache 從 HBM 重讀 · AI≈1 → memory-bound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Q·Kᵀ / ·V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Core（矩陣乘）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softmax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core（逐元素/歸約）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住 HBM（塞不進晶片）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瓶頸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每步從 HBM 重串流 KV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prefill=compute / decode=memory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同一段 attention，prefill 吃算力、decode 吃頻寬——第一堂「&lt;5% 利用率之謎」就發生在這個 block。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4 — Add &amp; LayerNorm：不上 tensor core 的那些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殘差相加（Add）+ 層正規化（LayerNorm）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29260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 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108960" y="29260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子層輸出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20640" y="2926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LayerNorm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703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這些是逐元素相加、求平均與變異數（歸約）——運算量很少，但要把整份 activation 從 HBM 讀進來、寫回去。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97280" y="4526280"/>
            <a:ext cx="6035040" cy="548640"/>
          </a:xfrm>
          <a:prstGeom prst="roundRect">
            <a:avLst>
              <a:gd name="adj" fmla="val 1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4526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工程實務：</a:t>
            </a:r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常和前後運算「fuse（融合）」成一個 kernel，避免多跑一趟 HBM。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主要運算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逐元素加 + 歸約（mean/var）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用到單元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core（非 tensor core）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資料流動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 activation 進出 HBM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優化手段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kernel fusion 減少 HBM 往返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045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memory-bound（算少、搬多）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不是只有大矩陣乘。這些「小」運算是純 memory-bound，融合它們是省頻寬的日常功夫。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5 — FFN：另一組大矩陣乘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0·Embed+PE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13432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1·QKV 投影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2·多頭切分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3·Attention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5552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4·Add &amp; Norm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18904" y="1316736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16736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316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5·FFN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14884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token 獨立過兩層：6 → 12 → 6（中間放大 4×，玩具用 2×）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97280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 [6]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68880" y="3291840"/>
            <a:ext cx="640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0116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W1 (6→12)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9718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2971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 [12]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GELU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291840"/>
            <a:ext cx="640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11480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W2 (12→6)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out [6]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 GEMM，中間夾一個非線性（GELU）。真實模型 FFN 常佔一層 2/3 的參數與算力。token 之間零依賴 → 整批一起算。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2148840"/>
            <a:ext cx="37033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46720" y="2313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對應 NVIDIA GPU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46720" y="28072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主要運算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464040" y="2807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 GEMM（W1、W2）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用到單元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64040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 主場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3630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GELU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640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core（逐元素）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041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640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軸天然平行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645152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4645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compute-bound（大 GEMM）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FFN 和 QKV 一樣是 tensor core 的主場。一層裡「大矩陣乘吃算力、其餘吃頻寬」的節奏就此定調。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一頁看完：block → GPU 單元 → 被誰卡住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單元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資料/搬運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525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判定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Embed + 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查表 gather + 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CUDA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讀幾列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10881360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97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QKV 投影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 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tile 留 shared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5256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compute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3246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多頭切分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拆平行軸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/ batched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525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結構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8892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QKᵀ/softmax/·V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379476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Tensor+CUDA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住 HBM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0525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pre=C / dec=M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4343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3000" y="434340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78892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逐元素 + 歸約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00600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CUDA core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activation 進出 HBM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052560" y="434340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892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43000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FFN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78892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 GEMM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006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 Core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6656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tile 留 shared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05256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compute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23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🔬 互動環節②　</a:t>
            </a:r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 interactive/transformer_map.html：全景 → Block → Attention → Head → 計算子(L2⟷HBM) → FlashAttention(線上 softmax) → 硬體，切 訓練/Prefill/Decode 看資料流。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收束：一張卡就跑得完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顆 GPU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1076" y="436168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943100" y="436168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2135124" y="436168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2327148" y="436168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51076" y="455371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455371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135124" y="455371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327148" y="455371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HBM 80–192 GB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60604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77640" y="233172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331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模型權重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3429000"/>
            <a:ext cx="457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77640" y="31546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154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4251960"/>
            <a:ext cx="4572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77640" y="397764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1623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 activation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2286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玩具 Transformer——甚至 7B 這種真實小模型——的權重、KV cache、activation 全部塞得進一顆 GPU 的 HBM。所有 block 的資料流都在同一顆晶片裡走完，沒有跨卡問題。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41605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4A2433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160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但是……　</a:t>
            </a:r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70B、175B、甚至上兆參數的模型呢？一顆 HBM 放不下。這就是 Part B。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單卡的世界：看 roofline、看記憶體階層就夠了。跨過一顆 GPU 的容量，遊戲規則就變了。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單卡：Transformer 逐 block × GPU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為什麼一張卡不夠：三筆帳都在漲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以推論/訓練一個大模型為例，HBM 要同時裝下這幾樣——很快就爆掉 80–192 GB。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模型權重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70B fp16 ≈ 140 GB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175B ≈ 350 GB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297180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490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 H100(80GB)/H200(141GB) 就放不下 70B 權重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隨 序列長 × batch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× 層數 線性長大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611880"/>
            <a:ext cx="297180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490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長上下文 + 高併發 → 動輒數十~上百 GB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2103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訓練狀態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梯度 + Adam 狀態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參數量的 3–4×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75320" y="3611880"/>
            <a:ext cx="2971800" cy="0"/>
          </a:xfrm>
          <a:prstGeom prst="line">
            <a:avLst/>
          </a:prstGeom>
          <a:noFill/>
          <a:ln w="9525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7490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訓練時遠比推論更吃容量（第一堂 Part 3）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模型放不進一顆 HBM → 必須拆到多張卡。問題是：拆什麼、卡跟卡之間要搬什麼？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資料平行 (Data Parallel)：最直覺的第一招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每張卡放「一份完整模型」，把 batch 切開各算各的，再把梯度對齊。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208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33856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1517904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9928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5880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09928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912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整份模型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第 1/4 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19659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20208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99816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483864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3675888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099816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483864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3675888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31912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整份模型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0604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第 2/4 份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19659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20208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65776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49824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5641848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5065776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5257800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5449824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5641848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31912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整份模型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第 3/4 份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37960" y="19659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37960" y="20208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31736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7223760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7415784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Shape 46"/>
          <p:cNvSpPr/>
          <p:nvPr/>
        </p:nvSpPr>
        <p:spPr>
          <a:xfrm>
            <a:off x="7607808" y="2852928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Shape 47"/>
          <p:cNvSpPr/>
          <p:nvPr/>
        </p:nvSpPr>
        <p:spPr>
          <a:xfrm>
            <a:off x="7031736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7223760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Shape 49"/>
          <p:cNvSpPr/>
          <p:nvPr/>
        </p:nvSpPr>
        <p:spPr>
          <a:xfrm>
            <a:off x="7415784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7607808" y="3044952"/>
            <a:ext cx="128016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31912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整份模型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3796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第 4/4 份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3886200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10455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3886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↕ 每步：梯度 all-reduce（把 4 張卡的梯度加總、再發回每張卡）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595360" y="1965960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823960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DP 擅長什麼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823960" y="2651760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0" name="Text 58"/>
          <p:cNvSpPr/>
          <p:nvPr/>
        </p:nvSpPr>
        <p:spPr>
          <a:xfrm>
            <a:off x="905256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實作最簡單、最成熟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8823960" y="3081528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2" name="Text 60"/>
          <p:cNvSpPr/>
          <p:nvPr/>
        </p:nvSpPr>
        <p:spPr>
          <a:xfrm>
            <a:off x="9052560" y="3035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訓練吞吐幾乎線性擴充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823960" y="351129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4" name="Text 62"/>
          <p:cNvSpPr/>
          <p:nvPr/>
        </p:nvSpPr>
        <p:spPr>
          <a:xfrm>
            <a:off x="9052560" y="34655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推論可服務更多併發請求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8823960" y="394106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6" name="Text 64"/>
          <p:cNvSpPr/>
          <p:nvPr/>
        </p:nvSpPr>
        <p:spPr>
          <a:xfrm>
            <a:off x="9052560" y="3895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模型「放得下一張卡」時的首選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8" name="Text 66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資料平行＝複製模型、切資料、同步梯度。切的是「資料」，不是「模型」——這正是它的天花板。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資料平行的四個問題（本堂重點）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模型沒有變小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每張卡仍要放整份模型 → 「一張卡裝不下」的模型，DP 根本救不了。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通訊隨規模長大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4048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梯度 all-reduce 每步要搬 ≈ 2× 參數量；模型越大、卡越多，同步成本越兇。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記憶體重複浪費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41879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權重、梯度、optimizer 狀態每張卡各存一份 → ZeRO/FSDP 把它們切開，但換來更多通訊。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56616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推論延遲無解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41879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是 memory-bound；DP 只增吞吐、對單一請求的延遲沒幫助，KV cache 還各卡獨立。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①最致命：DP 切資料、不切模型。要裝下大模型、又想壓通訊，就得把「模型本身」拆開。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切模型本身：張量 / 管線 / 專家平行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既然 DP 不切模型，就換三種「切模型」的平行——各自切不同的軸，付不同的通訊代價。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Tensor Parallel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3408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TP · 張量平行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切什麼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切「層內」：一個矩陣乘橫著切到多卡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1C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每層 2 次 all-reduce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297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通訊最重 → 必須待在 NVLink 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8745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Pipeline Parallel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23408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PP · 管線平行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切什麼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切「層間」：不同層放不同卡，像流水線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1C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點對點傳 activation（p2p）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297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 bubble（頭尾閒置）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87452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Expert Parallel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23408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 · 專家平行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切什麼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切「MoE 專家」：不同 expert 放不同卡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37033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1C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all-to-all 路由 token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297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 FLOPs、不省通訊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實務是「3D/4D 混合」：DP + TP + PP(+ EP) 疊用。切得越細、卡間通訊越密——通訊就成了新瓶頸。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通訊變瓶頸：頻寬階梯決定誰住哪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卡間搬資料的速度差一個數量級往下掉。哪種平行「通訊多」，就得住在「線快」的那一層。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1C2E4A"/>
          </a:solidFill>
          <a:ln w="1905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晶片內 HBM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~3.35 TB/s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18745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（單卡基準）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23D31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157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5 / NVSwitch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0" y="27157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~1.8 TB/s / GPU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7157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scale-up：TP、EP 住這裡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4A341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570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跨節點 InfiniBand / Spectrum-X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00400" y="35570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~50–100 GB/s / GPU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5570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scale-out：DP、PP 可容忍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98264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4A2433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9826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PCIe Gen5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377440" y="4398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~64 GB/s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3982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 NVLink 時的卡間路（會被拖死）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心法：把「通訊最兇」的平行（TP/EP）綁在最快的線（NVLink）；「通訊稀」的（DP/PP）才放去跨節點。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解法① scale-up：把多顆綁成一顆大 GPU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+ NVSwitch 用「記憶體語意」把整個機架的 GPU 連成一個高頻寬域——TP/EP 的家。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5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200400" y="1874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1.8 TB/s / GPU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874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條 × 100 GB/s；≈ PCIe Gen5 的 14×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7706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NVSwitch（4 代）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200400" y="27706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全連通 fabric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77063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72 顆非阻塞互連；可擴到 576 GPU / 1 PB/s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667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200400" y="366674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72 顆 = 一個域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66674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130 TB/s 聚合頻寬，當一顆「大 GPU」用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680960" y="1874520"/>
            <a:ext cx="4480560" cy="2660904"/>
          </a:xfrm>
          <a:prstGeom prst="roundRect">
            <a:avLst>
              <a:gd name="adj" fmla="val 3436"/>
            </a:avLst>
          </a:prstGeom>
          <a:solidFill>
            <a:srgbClr val="2A21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09560" y="2029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最新 · Rubin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2395728"/>
            <a:ext cx="4069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NVLink 6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：3.6 TB/s / GPU（NVLink 5 的 2×）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Vera Rubin NVL72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：260 TB/s 聚合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CES 2026 發表、H2 2026 出貨；NVL144/CPX 版把 prefill 拆出來做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的意義：一個 NVLink 域內，72 顆 GPU 的 HBM 像一大池——大模型的 TP/EP 就攤在這池裡跑。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解法② 把 all-reduce 搬進交換器：SHARP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 all-reduce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每張卡互相收發、在 GPU 上做加總 → 佔 NVLink 頻寬、也佔 GPU 的 SM 去算加法。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24612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5880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517904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4" name="Shape 12"/>
          <p:cNvSpPr/>
          <p:nvPr/>
        </p:nvSpPr>
        <p:spPr>
          <a:xfrm>
            <a:off x="1709928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325880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7904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9928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19" name="Shape 17"/>
          <p:cNvSpPr/>
          <p:nvPr/>
        </p:nvSpPr>
        <p:spPr>
          <a:xfrm>
            <a:off x="2167128" y="324612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67128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40864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2" name="Shape 20"/>
          <p:cNvSpPr/>
          <p:nvPr/>
        </p:nvSpPr>
        <p:spPr>
          <a:xfrm>
            <a:off x="2532888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3" name="Shape 21"/>
          <p:cNvSpPr/>
          <p:nvPr/>
        </p:nvSpPr>
        <p:spPr>
          <a:xfrm>
            <a:off x="2724912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6936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0864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6" name="Shape 24"/>
          <p:cNvSpPr/>
          <p:nvPr/>
        </p:nvSpPr>
        <p:spPr>
          <a:xfrm>
            <a:off x="2532888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7" name="Shape 25"/>
          <p:cNvSpPr/>
          <p:nvPr/>
        </p:nvSpPr>
        <p:spPr>
          <a:xfrm>
            <a:off x="2724912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8" name="Shape 26"/>
          <p:cNvSpPr/>
          <p:nvPr/>
        </p:nvSpPr>
        <p:spPr>
          <a:xfrm>
            <a:off x="2916936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74136" y="324612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74136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47872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2" name="Shape 30"/>
          <p:cNvSpPr/>
          <p:nvPr/>
        </p:nvSpPr>
        <p:spPr>
          <a:xfrm>
            <a:off x="3739896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3" name="Shape 31"/>
          <p:cNvSpPr/>
          <p:nvPr/>
        </p:nvSpPr>
        <p:spPr>
          <a:xfrm>
            <a:off x="3931920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4" name="Shape 32"/>
          <p:cNvSpPr/>
          <p:nvPr/>
        </p:nvSpPr>
        <p:spPr>
          <a:xfrm>
            <a:off x="4123944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5" name="Shape 33"/>
          <p:cNvSpPr/>
          <p:nvPr/>
        </p:nvSpPr>
        <p:spPr>
          <a:xfrm>
            <a:off x="3547872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6" name="Shape 34"/>
          <p:cNvSpPr/>
          <p:nvPr/>
        </p:nvSpPr>
        <p:spPr>
          <a:xfrm>
            <a:off x="3739896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7" name="Shape 35"/>
          <p:cNvSpPr/>
          <p:nvPr/>
        </p:nvSpPr>
        <p:spPr>
          <a:xfrm>
            <a:off x="3931920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8" name="Shape 36"/>
          <p:cNvSpPr/>
          <p:nvPr/>
        </p:nvSpPr>
        <p:spPr>
          <a:xfrm>
            <a:off x="4123944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39" name="Shape 37"/>
          <p:cNvSpPr/>
          <p:nvPr/>
        </p:nvSpPr>
        <p:spPr>
          <a:xfrm>
            <a:off x="4581144" y="324612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905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81144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2" name="Shape 40"/>
          <p:cNvSpPr/>
          <p:nvPr/>
        </p:nvSpPr>
        <p:spPr>
          <a:xfrm>
            <a:off x="4946904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3" name="Shape 41"/>
          <p:cNvSpPr/>
          <p:nvPr/>
        </p:nvSpPr>
        <p:spPr>
          <a:xfrm>
            <a:off x="5138928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4" name="Shape 42"/>
          <p:cNvSpPr/>
          <p:nvPr/>
        </p:nvSpPr>
        <p:spPr>
          <a:xfrm>
            <a:off x="5330952" y="3630168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6" name="Shape 44"/>
          <p:cNvSpPr/>
          <p:nvPr/>
        </p:nvSpPr>
        <p:spPr>
          <a:xfrm>
            <a:off x="4946904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7" name="Shape 45"/>
          <p:cNvSpPr/>
          <p:nvPr/>
        </p:nvSpPr>
        <p:spPr>
          <a:xfrm>
            <a:off x="5138928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8" name="Shape 46"/>
          <p:cNvSpPr/>
          <p:nvPr/>
        </p:nvSpPr>
        <p:spPr>
          <a:xfrm>
            <a:off x="5330952" y="3822192"/>
            <a:ext cx="128016" cy="128016"/>
          </a:xfrm>
          <a:prstGeom prst="rect">
            <a:avLst/>
          </a:prstGeom>
          <a:solidFill>
            <a:srgbClr val="8FA6C4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互相收發、GPU 自己加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63640" y="182880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37960" y="1993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SHARP（in-network reduction）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37960" y="2377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加總直接在 NVSwitch / IB 交換器的晶片裡做完 → 省 NVLink 頻寬、也把 GPU 的 SM 解放出來算模型。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83680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83680" y="3621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57416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6949440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Shape 55"/>
          <p:cNvSpPr/>
          <p:nvPr/>
        </p:nvSpPr>
        <p:spPr>
          <a:xfrm>
            <a:off x="7141464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7333488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Shape 57"/>
          <p:cNvSpPr/>
          <p:nvPr/>
        </p:nvSpPr>
        <p:spPr>
          <a:xfrm>
            <a:off x="6757416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Shape 58"/>
          <p:cNvSpPr/>
          <p:nvPr/>
        </p:nvSpPr>
        <p:spPr>
          <a:xfrm>
            <a:off x="6949440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Shape 59"/>
          <p:cNvSpPr/>
          <p:nvPr/>
        </p:nvSpPr>
        <p:spPr>
          <a:xfrm>
            <a:off x="7141464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7333488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Shape 61"/>
          <p:cNvSpPr/>
          <p:nvPr/>
        </p:nvSpPr>
        <p:spPr>
          <a:xfrm>
            <a:off x="7790688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790688" y="3621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64424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6" name="Shape 64"/>
          <p:cNvSpPr/>
          <p:nvPr/>
        </p:nvSpPr>
        <p:spPr>
          <a:xfrm>
            <a:off x="8156448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Shape 65"/>
          <p:cNvSpPr/>
          <p:nvPr/>
        </p:nvSpPr>
        <p:spPr>
          <a:xfrm>
            <a:off x="8348472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Shape 66"/>
          <p:cNvSpPr/>
          <p:nvPr/>
        </p:nvSpPr>
        <p:spPr>
          <a:xfrm>
            <a:off x="8540496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Shape 67"/>
          <p:cNvSpPr/>
          <p:nvPr/>
        </p:nvSpPr>
        <p:spPr>
          <a:xfrm>
            <a:off x="7964424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Shape 68"/>
          <p:cNvSpPr/>
          <p:nvPr/>
        </p:nvSpPr>
        <p:spPr>
          <a:xfrm>
            <a:off x="8156448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Shape 69"/>
          <p:cNvSpPr/>
          <p:nvPr/>
        </p:nvSpPr>
        <p:spPr>
          <a:xfrm>
            <a:off x="8348472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Shape 70"/>
          <p:cNvSpPr/>
          <p:nvPr/>
        </p:nvSpPr>
        <p:spPr>
          <a:xfrm>
            <a:off x="8540496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Shape 71"/>
          <p:cNvSpPr/>
          <p:nvPr/>
        </p:nvSpPr>
        <p:spPr>
          <a:xfrm>
            <a:off x="8997696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8997696" y="3621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171432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Shape 74"/>
          <p:cNvSpPr/>
          <p:nvPr/>
        </p:nvSpPr>
        <p:spPr>
          <a:xfrm>
            <a:off x="9363456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9555480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9747504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9" name="Shape 77"/>
          <p:cNvSpPr/>
          <p:nvPr/>
        </p:nvSpPr>
        <p:spPr>
          <a:xfrm>
            <a:off x="9171432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" name="Shape 78"/>
          <p:cNvSpPr/>
          <p:nvPr/>
        </p:nvSpPr>
        <p:spPr>
          <a:xfrm>
            <a:off x="9363456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Shape 79"/>
          <p:cNvSpPr/>
          <p:nvPr/>
        </p:nvSpPr>
        <p:spPr>
          <a:xfrm>
            <a:off x="9555480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2" name="Shape 80"/>
          <p:cNvSpPr/>
          <p:nvPr/>
        </p:nvSpPr>
        <p:spPr>
          <a:xfrm>
            <a:off x="9747504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3" name="Shape 81"/>
          <p:cNvSpPr/>
          <p:nvPr/>
        </p:nvSpPr>
        <p:spPr>
          <a:xfrm>
            <a:off x="10204704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10204704" y="3621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G3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0378440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6" name="Shape 84"/>
          <p:cNvSpPr/>
          <p:nvPr/>
        </p:nvSpPr>
        <p:spPr>
          <a:xfrm>
            <a:off x="10570464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7" name="Shape 85"/>
          <p:cNvSpPr/>
          <p:nvPr/>
        </p:nvSpPr>
        <p:spPr>
          <a:xfrm>
            <a:off x="10762488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" name="Shape 86"/>
          <p:cNvSpPr/>
          <p:nvPr/>
        </p:nvSpPr>
        <p:spPr>
          <a:xfrm>
            <a:off x="10954512" y="3648456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9" name="Shape 87"/>
          <p:cNvSpPr/>
          <p:nvPr/>
        </p:nvSpPr>
        <p:spPr>
          <a:xfrm>
            <a:off x="10378440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0" name="Shape 88"/>
          <p:cNvSpPr/>
          <p:nvPr/>
        </p:nvSpPr>
        <p:spPr>
          <a:xfrm>
            <a:off x="10570464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1" name="Shape 89"/>
          <p:cNvSpPr/>
          <p:nvPr/>
        </p:nvSpPr>
        <p:spPr>
          <a:xfrm>
            <a:off x="10762488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2" name="Shape 90"/>
          <p:cNvSpPr/>
          <p:nvPr/>
        </p:nvSpPr>
        <p:spPr>
          <a:xfrm>
            <a:off x="10954512" y="384048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3" name="Shape 91"/>
          <p:cNvSpPr/>
          <p:nvPr/>
        </p:nvSpPr>
        <p:spPr>
          <a:xfrm>
            <a:off x="7955280" y="3246120"/>
            <a:ext cx="196596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55280" y="3246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NVSwitch：算好加總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53796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交換器算、發回結果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640080" y="5120640"/>
            <a:ext cx="10881360" cy="292608"/>
          </a:xfrm>
          <a:prstGeom prst="roundRect">
            <a:avLst>
              <a:gd name="adj" fmla="val 15625"/>
            </a:avLst>
          </a:prstGeom>
          <a:solidFill>
            <a:srgbClr val="1C2E4A"/>
          </a:solidFill>
          <a:ln/>
        </p:spPr>
      </p:sp>
      <p:sp>
        <p:nvSpPr>
          <p:cNvPr id="97" name="Text 95"/>
          <p:cNvSpPr/>
          <p:nvPr/>
        </p:nvSpPr>
        <p:spPr>
          <a:xfrm>
            <a:off x="868680" y="51206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NCCL　</a:t>
            </a:r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是這一切的軟體層：all-reduce / all-gather / reduce-scatter / all-to-all 的實作，2.27 起 NVLink 與 IB 都能吃 SHARP。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Text 97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梯度同步（DP）、層內同步（TP）都靠 all-reduce——把它 offload 進交換器，通訊瓶頸就鬆一大截。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NVIDIA 解法③ scale-out：跨節點的網路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一個機架塞不下時，用網路把多台節點串成 AI factory——這裡走「訊息語意」（RDMA）。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31520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202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InfiniBand（Quantum）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9202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NDR 400 / XDR 800 Gb/s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92024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HPC 老本行，原生支援 SHARP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31520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88036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Spectrum-X 乙太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8803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為 AI 調過的以太網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8803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adaptive routing + 壅塞控制，跑 RoCEv2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315200" cy="841248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4048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GPUDirect RDMA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38404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遠端 NIC 直達 HBM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84048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繞過 CPU，跨節點也能直接讀寫對方 GPU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1920240"/>
            <a:ext cx="3931920" cy="2990088"/>
          </a:xfrm>
          <a:prstGeom prst="roundRect">
            <a:avLst>
              <a:gd name="adj" fmla="val 3058"/>
            </a:avLst>
          </a:prstGeom>
          <a:solidFill>
            <a:srgbClr val="1C2E4A"/>
          </a:solidFill>
          <a:ln w="1270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 vs scale-out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8200" y="24688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scale-up（NVLink）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記憶體語意、~TB/s、機架內 → 綁 TP/EP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scale-out（IB/乙太）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訊息語意、~百 Gb/s、跨節點 → 綁 DP/PP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兩層網路差一個數量級：所以「通訊密的平行留機架內、稀的才跨節點」不是選擇，是被頻寬逼的。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組起來：一個大模型怎麼跑在 NVL72 上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把前面的技術疊起來，看一個「一張卡裝不下」的模型實際怎麼被攤開。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91440" cy="7132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一個 NVLink 域 = 一顆大 GPU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0" y="17830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 把 72 顆連成 130 TB/s 的域 → 大模型的權重攤在這一池 HBM 裡放得下。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9144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79192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域內做 TP + EP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2679192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層內矩陣切到多卡、MoE 專家散到多卡，每層的 all-reduce / all-to-all 跑在 NVLink，並用 SHARP 加速。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91440" cy="7132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75304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跨域做 DP + PP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3575304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多個 NVL72 之間用 InfiniBand / Spectrum-X 做資料平行的梯度同步、管線的 activation 傳遞。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91440" cy="7132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71416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NCCL 統籌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447141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上層一律用 NCCL 呼叫集合通訊，自動選 NVLink 還是網路、要不要走 SHARP。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真實訓練＝DP × TP × PP × EP 的混合，每一軸配一種通訊、一條線——互連技術就是讓這套疊得起來。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新招 CMX：把 KV cache 搬出 HBM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呼應第一堂：decode 是 memory-bound，KV cache 又吃 HBM 容量。CMX 給它一層專屬儲存。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4A341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最快、最貴、最小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4663440" cy="603504"/>
          </a:xfrm>
          <a:prstGeom prst="roundRect">
            <a:avLst>
              <a:gd name="adj" fmla="val 9091"/>
            </a:avLst>
          </a:prstGeom>
          <a:solidFill>
            <a:srgbClr val="10455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974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DRAM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206240" cy="603504"/>
          </a:xfrm>
          <a:prstGeom prst="roundRect">
            <a:avLst>
              <a:gd name="adj" fmla="val 9091"/>
            </a:avLst>
          </a:prstGeom>
          <a:solidFill>
            <a:srgbClr val="123D31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747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NVMe flash (CMX)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34747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大、便宜、放 KV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0" cy="182880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23317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BlueField-4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 Spectrum-X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 I/O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920240"/>
            <a:ext cx="4206240" cy="2706624"/>
          </a:xfrm>
          <a:prstGeom prst="roundRect">
            <a:avLst>
              <a:gd name="adj" fmla="val 337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8388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CMX 帶來什麼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~5×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72600" y="2487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吞吐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83880" y="30540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~4×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72600" y="30540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能源效率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83880" y="36210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600" y="36210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資料載入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83880" y="4160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Dynamo + NIXL 統籌 prefill/decode/KV，並支援 prefill–decode 拆分與前綴重用。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互連技術不只服務訓練：把 KV cache 卸到網路掛載的 flash，直接打 decode 的頻寬/容量牆。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互動環節③：多卡平行地圖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23D31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🕸️ 切出去開　</a:t>
            </a:r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interactive/parallelism_map.html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——把同一個玩具 Transformer 攤到多張卡上。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單卡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2834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整份模型在一顆 HBM → 沒有通訊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裝不下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36118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模型長大 → 權重/KV/狀態溢出一顆卡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資料平行 DP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4389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複製模型、切 batch、梯度 all-reduce（看四個問題）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72200" y="283464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834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張量平行 TP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0" y="2834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把「一層」的 Wq/Wk/Wv/Wo+W1/W2 每個矩陣切 4 片、每層 all-reduce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72200" y="36118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管線平行 PP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36118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整層分段（不切一層內部）、p2p 傳 activation、看 bubble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72200" y="438912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3891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互連硬體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0" y="4389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各平行走 NVLink/NVSwitch 還是 IB/Spectrum-X（scale-up vs scale-out）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操作：數字鍵 1–6 跳層 · Esc 回上層　（TP / PP 兩層會畫出「一層」的權重矩陣怎麼被切）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抽象的「切哪個軸、走哪條線」變成看得到、玩得到的東西——這是本堂的落地。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第二堂課 · Transformer × GPU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一張卡：逐 block 看單元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258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每個 block 落在 tensor core（大 GEMM）或 CUDA core（softmax/norm/查表）；大矩陣吃算力、其餘吃頻寬。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多卡：DP 切資料、不切模型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4930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資料平行救不了「裝不下」的模型，還有通訊/重複/延遲四問題 → 得靠 TP/PP/EP 切模型本身。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互連決定切法的可行性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7274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通訊階梯逼你把 TP/EP 綁 NVLink 域、DP/PP 才跨節點；NVSwitch+SHARP、Rubin/NVLink6、CMX 都在鬆這道牆。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下一步：把 demo 在多卡 GPU 上實跑，量 all-reduce 頻寬與 TP 的通訊佔比。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B · 多卡：資料平行與 NVIDIA 互連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第二堂課 · Transformer × GPU 框架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2026-08-17T05:54:21Z</dcterms:created>
  <dcterms:modified xsi:type="dcterms:W3CDTF">2026-08-17T05:54:21Z</dcterms:modified>
</cp:coreProperties>
</file>