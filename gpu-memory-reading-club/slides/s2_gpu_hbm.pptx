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737360"/>
            <a:ext cx="3017520" cy="2743200"/>
          </a:xfrm>
          <a:prstGeom prst="roundRect">
            <a:avLst>
              <a:gd name="adj" fmla="val 2000"/>
            </a:avLst>
          </a:prstGeom>
          <a:solidFill>
            <a:srgbClr val="0C2A3C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81110" y="2080260"/>
            <a:ext cx="2263140" cy="2057400"/>
          </a:xfrm>
          <a:prstGeom prst="roundRect">
            <a:avLst>
              <a:gd name="adj" fmla="val 2667"/>
            </a:avLst>
          </a:prstGeom>
          <a:solidFill>
            <a:srgbClr val="10384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58300" y="2423160"/>
            <a:ext cx="1508760" cy="1371600"/>
          </a:xfrm>
          <a:prstGeom prst="roundRect">
            <a:avLst>
              <a:gd name="adj" fmla="val 4000"/>
            </a:avLst>
          </a:prstGeom>
          <a:solidFill>
            <a:srgbClr val="3A2A0C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35490" y="2766060"/>
            <a:ext cx="754380" cy="68580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 w="15240">
            <a:solidFill>
              <a:srgbClr val="EAF1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HBM → L2 → shared → register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 ·  S2 / 共 4 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</a:t>
            </a:r>
            <a:endParaRPr lang="en-US" sz="4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資料在晶片內怎麼走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把放大鏡轉到晶片內：一個 kernel 怎麼從 HBM 把資料一路搬到運算單元。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承接 S1 記憶體階層 —— 這場放大「晶片內」那幾層。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放大鏡：S1 階層的「晶片內」這段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S1 全景（8 層）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register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 / L1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L2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HBM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── 以下晶片外 ──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NVLink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PCIe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DRAM / SSD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本場聚焦：晶片內 4 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register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 thread，最快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081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 / L1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 SM，程式可控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648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3648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 SM 共用，硬體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215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HBM（global）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4215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整卡，2–4.8 TB/s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資料離運算單元越近越快；今天看 kernel 怎麼把資料往「近的地方」搬。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解剖：SM、CUDA core、Tensor core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= 一堆 SM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（streaming multiprocessor，數十～上百個）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2926080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1673352" y="2926080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2203704" y="2926080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34056" y="2926080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264408" y="2926080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794760" y="2926080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325112" y="2926080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855464" y="2926080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3456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1673352" y="3456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2203704" y="3456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2734056" y="3456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4408" y="3456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Shape 20"/>
          <p:cNvSpPr/>
          <p:nvPr/>
        </p:nvSpPr>
        <p:spPr>
          <a:xfrm>
            <a:off x="3794760" y="3456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325112" y="3456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855464" y="3456432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3986784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1673352" y="3986784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2203704" y="3986784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2734056" y="3986784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Shape 27"/>
          <p:cNvSpPr/>
          <p:nvPr/>
        </p:nvSpPr>
        <p:spPr>
          <a:xfrm>
            <a:off x="3264408" y="3986784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Shape 28"/>
          <p:cNvSpPr/>
          <p:nvPr/>
        </p:nvSpPr>
        <p:spPr>
          <a:xfrm>
            <a:off x="3794760" y="3986784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Shape 29"/>
          <p:cNvSpPr/>
          <p:nvPr/>
        </p:nvSpPr>
        <p:spPr>
          <a:xfrm>
            <a:off x="4325112" y="3986784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855464" y="3986784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3000" y="4517136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Shape 32"/>
          <p:cNvSpPr/>
          <p:nvPr/>
        </p:nvSpPr>
        <p:spPr>
          <a:xfrm>
            <a:off x="1673352" y="4517136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2203704" y="4517136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2734056" y="4517136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3264408" y="4517136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3794760" y="4517136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Shape 37"/>
          <p:cNvSpPr/>
          <p:nvPr/>
        </p:nvSpPr>
        <p:spPr>
          <a:xfrm>
            <a:off x="4325112" y="4517136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Shape 38"/>
          <p:cNvSpPr/>
          <p:nvPr/>
        </p:nvSpPr>
        <p:spPr>
          <a:xfrm>
            <a:off x="4855464" y="4517136"/>
            <a:ext cx="384048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Shape 39"/>
          <p:cNvSpPr/>
          <p:nvPr/>
        </p:nvSpPr>
        <p:spPr>
          <a:xfrm>
            <a:off x="612648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465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SM 裡有什麼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6446520" y="251460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CUDA core：通用浮點/整數運算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Tensor core：矩陣乘加（餵 GEMM、衝高 AI）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Shared memory + L1：自己的高速暫存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Register file + warp 排程器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warp 與 SIMT：用大量 thread 藏延遲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32 threads = 1 warp，一起執行同一指令（SIMT）。一個 SM 同時駐留很多 warp。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2468880"/>
            <a:ext cx="10789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45536" y="2468880"/>
            <a:ext cx="10789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2468880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2468880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47104" y="2468880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468880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14816" y="2468880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48672" y="2468880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4553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0" y="3145536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45536" y="3145536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3145536"/>
            <a:ext cx="10789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3145536"/>
            <a:ext cx="10789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3145536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3145536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14816" y="3145536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48672" y="3145536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221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3822192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45536" y="3822192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3822192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13248" y="3822192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47104" y="3822192"/>
            <a:ext cx="10789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3822192"/>
            <a:ext cx="10789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14816" y="3822192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48672" y="3822192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49884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11680" y="4498848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45536" y="4498848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79392" y="4498848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13248" y="4498848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47104" y="4498848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4498848"/>
            <a:ext cx="1078992" cy="475488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14816" y="4498848"/>
            <a:ext cx="10789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48672" y="4498848"/>
            <a:ext cx="107899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 →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5193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橘＝在算　深＝等 HBM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warp 在等 HBM（數百 cycle）時，排程器切到別的 warp 繼續算 → SM 始終有人在算，延遲被藏住。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晶片內記憶體階層：誰能控制？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10332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2468880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層級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範圍 scope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約略頻寬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誰管理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Register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每 thread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數十 TB/s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編譯器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Shared memory / L1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每 SM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數十 TB/s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程式可控 ← tiling 槓桿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L2 cache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全 SM 共用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 ~ 數十 TB/s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硬體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HBM（global）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整卡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 ~ 4.8 TB/s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程式配置、硬體搬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能「程式控制」的是 shared memory 與 register —— 這就是 tiling 能發揮的地方（下一頁）。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vs GDDR：為什麼資料中心卡用 HBM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HBM（資料中心）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3D 堆疊 DRAM + 超寬匯流排（數千 bit）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 TB/s 級、單位能耗更省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代價：製程複雜、貴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434840"/>
            <a:ext cx="429768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~3350 GB/s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GDDR（消費卡）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29400" y="25603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傳統 DRAM、較窄匯流排、較高時脈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成本低、容量/頻寬夠日常與開發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頻寬約 HBM 的 1/3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29400" y="4434840"/>
            <a:ext cx="1371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~1000 GB/s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推論/訓練吃頻寬 → 資料中心卡用 HBM 換頻寬與能效（數字為約略值）。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Shared memory 與 tiling：把資料留在晶片內重複用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naive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每個輸出元素都從 HBM 重讀整行整列 → 大量重複的 HBM 讀取。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讀取量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3703320"/>
            <a:ext cx="4480560" cy="4572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把一個 block 載入 shared memory 一次，在晶片內重複用 → HBM 讀取大幅減少。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讀取量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3703320"/>
            <a:ext cx="128016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重複用 = 同樣 FLOPs、但更少 bytes → 算術強度 AI 提高（下一頁把它放回 roofline）。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tiling 的效果：把 memory-bound 推成 compute-bound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463040" y="2103120"/>
            <a:ext cx="0" cy="2377440"/>
          </a:xfrm>
          <a:prstGeom prst="line">
            <a:avLst/>
          </a:prstGeom>
          <a:noFill/>
          <a:ln w="12700">
            <a:solidFill>
              <a:srgbClr val="8FA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4480560"/>
            <a:ext cx="4206240" cy="0"/>
          </a:xfrm>
          <a:prstGeom prst="line">
            <a:avLst/>
          </a:prstGeom>
          <a:noFill/>
          <a:ln w="12700">
            <a:solidFill>
              <a:srgbClr val="8FA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63040" y="2103120"/>
            <a:ext cx="2313432" cy="237744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76472" y="2103120"/>
            <a:ext cx="189280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 AI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03704" y="3575304"/>
            <a:ext cx="164592" cy="164592"/>
          </a:xfrm>
          <a:prstGeom prst="ellipse">
            <a:avLst/>
          </a:prstGeom>
          <a:solidFill>
            <a:srgbClr val="FB7185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8264" y="22494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487168" y="2468880"/>
            <a:ext cx="1828800" cy="1051560"/>
          </a:xfrm>
          <a:prstGeom prst="line">
            <a:avLst/>
          </a:prstGeom>
          <a:noFill/>
          <a:ln w="25400">
            <a:solidFill>
              <a:srgbClr val="EAF1FB"/>
            </a:solidFill>
            <a:prstDash val="dash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7180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tiling 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naive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tiled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數字感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26517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naive GEMM 從 HBM 讀 ~ O(N³) bytes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tile 邊長 T → HBM 流量 ÷ T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 越大省越多，受 shared memory 容量限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這就是為什麼 cuBLAS／tensor core kernel 都重度 tiling —— 把寶貴的 HBM 頻寬花在刀口上。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進出晶片的橋：pinned vs pageable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pageable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DRAM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71800" y="2674620"/>
            <a:ext cx="1097280" cy="0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9748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複製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224028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4A2433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pinned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bounce buffer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2674620"/>
            <a:ext cx="1097280" cy="0"/>
          </a:xfrm>
          <a:prstGeom prst="line">
            <a:avLst/>
          </a:prstGeom>
          <a:noFill/>
          <a:ln w="3175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1722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PCIe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89520" y="224028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240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HBM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218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多一跳、不能 async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pinned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72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pinned DRAM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71800" y="5006340"/>
            <a:ext cx="2240280" cy="0"/>
          </a:xfrm>
          <a:prstGeom prst="line">
            <a:avLst/>
          </a:prstGeom>
          <a:noFill/>
          <a:ln w="3175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697480" y="41605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PCIe（DMA 直達）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45720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4572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HBM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5504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DMA 直達、可 async 與運算重疊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動手：pinned_vs_pageable demo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量什麼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不同大小的 H2D 傳輸頻寬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pageable vs pinned 對照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4572000" cy="502920"/>
          </a:xfrm>
          <a:prstGeom prst="rect">
            <a:avLst/>
          </a:prstGeom>
          <a:solidFill>
            <a:srgbClr val="0A132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 run.py --sizes-mb 1,4,16,64,256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會看到（示意）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51460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09728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size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pageable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pinned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x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16MB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11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8BDF8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21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1.9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64MB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12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8BDF8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24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2.0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256MB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12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8BDF8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25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2.1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6294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GB/s（數字示意；實際依 PCIe 代數而定）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同一條 PCIe，記憶體 pin 不 pin 差約 2×。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本場帶走三件事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SM 用「大量 warp」藏記憶體延遲。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warp 等 HBM，就切到別的 warp——前提是頻寬餵得上。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晶片內階層：HBM → L2 → shared → register。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3172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能程式控制的是 shared memory 與 register。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tiling 與 pinned：把資料留在/搬到「快的地方」。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tiling 提高 AI 往 roofline 右推；pinned 讓 H2D 快又能 async。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5120640"/>
            <a:ext cx="109728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下一場 S3　</a:t>
            </a:r>
            <a:pPr indent="0" marL="0">
              <a:buNone/>
            </a:pPr>
            <a:r>
              <a:rPr lang="en-US" sz="16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 vs Inference 的瓶頸差異（以 ASR 為例）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S2 — GPU 架構與 HBM：資料在晶片內怎麼走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2026-06-05T07:50:39Z</dcterms:created>
  <dcterms:modified xsi:type="dcterms:W3CDTF">2026-06-05T07:50:39Z</dcterms:modified>
</cp:coreProperties>
</file>