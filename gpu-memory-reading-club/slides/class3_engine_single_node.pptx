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73152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第三堂課 · 推論引擎單機篇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八個問題，兩種解法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</a:t>
            </a:r>
            <a:pPr indent="0" marL="0">
              <a:buNone/>
            </a:pPr>
            <a:r>
              <a:rPr lang="en-US" sz="3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 ×  </a:t>
            </a:r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vLLM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程式難平行　② 前綴重算　③ 輸出不可控　④ CPU 成瓶頸　　（⑤–⑧ 多機問題見第四堂）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4023360"/>
            <a:ext cx="10332720" cy="1188720"/>
          </a:xfrm>
          <a:prstGeom prst="roundRect">
            <a:avLst>
              <a:gd name="adj" fmla="val 7692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402336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這堂不照功能表講，照問題講。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而且這八個問題不是某一家專有的——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任何推論引擎都會撞到，兩家都給了答案。</a:t>
            </a:r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所以最好的學法是：一個問題、兩種寫法，對比之後你會看到兩家哲學的差異。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/ 28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全景：推論引擎會撞到的八個問題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由淺入深，剛好走完「編程模型 → 單機記憶體 → 單機排程 → 多卡 → 多機」。SGLang 的發展史剛好把它們依序列了出來。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035040" y="16276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869680" y="16276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vLLM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1901952"/>
            <a:ext cx="10881360" cy="420624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019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61872" y="190195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LLM 程式（多次呼叫、分支、工具）難寫又跑不快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190195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 DSL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869680" y="190195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377440"/>
            <a:ext cx="10881360" cy="420624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3774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61872" y="237744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這些程式天然共享大量前綴，卻被反覆重算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23774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radix tree + cache-aware 排程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869680" y="237744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鏈式雜湊表 APC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2852928"/>
            <a:ext cx="10881360" cy="420624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8529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61872" y="285292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結構化輸出逐 token 檢查太慢、格式仍不保證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28529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XGrammar + jump-forward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869680" y="28529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XGrammar（非同步編譯）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328416"/>
            <a:ext cx="10881360" cy="420624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3284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④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61872" y="332841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一步只要 5–10 ms，CPU 排程成了瓶頸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332841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zero-overhead scheduler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869680" y="33284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多進程 + async 排程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3803904"/>
            <a:ext cx="10881360" cy="420624"/>
          </a:xfrm>
          <a:prstGeom prst="rect">
            <a:avLst/>
          </a:prstGeom>
          <a:solidFill>
            <a:srgbClr val="0E1726"/>
          </a:solidFill>
          <a:ln w="7620">
            <a:solidFill>
              <a:srgbClr val="1C2E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8039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⑤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61872" y="380390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 MoE（DeepSeek）單機放不下、專家負載不均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35040" y="380390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大規模 EP + DeepEP/EPLB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869680" y="380390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支援 EP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4279392"/>
            <a:ext cx="10881360" cy="420624"/>
          </a:xfrm>
          <a:prstGeom prst="rect">
            <a:avLst/>
          </a:prstGeom>
          <a:solidFill>
            <a:srgbClr val="0E1726"/>
          </a:solidFill>
          <a:ln w="7620">
            <a:solidFill>
              <a:srgbClr val="1C2E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2793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⑥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261872" y="427939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 與 decode 互相干擾（TTFT vs ITL）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35040" y="427939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內建 PD 分離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869680" y="427939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connector 抽象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" y="4754880"/>
            <a:ext cx="10881360" cy="420624"/>
          </a:xfrm>
          <a:prstGeom prst="rect">
            <a:avLst/>
          </a:prstGeom>
          <a:solidFill>
            <a:srgbClr val="0E1726"/>
          </a:solidFill>
          <a:ln w="7620">
            <a:solidFill>
              <a:srgbClr val="1C2E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7548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⑦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261872" y="475488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多副本之間：局部性 vs 負載均衡此消彼長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35040" y="47548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自帶 cache-aware router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869680" y="47548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生態系（Dynamo/llm-d）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" y="5230368"/>
            <a:ext cx="10881360" cy="420624"/>
          </a:xfrm>
          <a:prstGeom prst="rect">
            <a:avLst/>
          </a:prstGeom>
          <a:solidFill>
            <a:srgbClr val="0E1726"/>
          </a:solidFill>
          <a:ln w="7620">
            <a:solidFill>
              <a:srgbClr val="1C2E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52303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⑧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261872" y="523036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副本掛掉，進行中的請求與它的 KV 怎麼辦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35040" y="52303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869680" y="523036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40080" y="3776472"/>
            <a:ext cx="108813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線以上是本堂。注意 ① 那一列——vLLM 沒有對應物，那不是缺漏，是職責邊界的選擇。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/ 28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先給結論：兩家的哲學差異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這頁的判斷後面每一題都會驗證一次。先放在這裡，聽眾才有掛東西的鉤子。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303520" cy="3200400"/>
          </a:xfrm>
          <a:prstGeom prst="roundRect">
            <a:avLst>
              <a:gd name="adj" fmla="val 2857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810512"/>
            <a:ext cx="1508760" cy="420624"/>
          </a:xfrm>
          <a:prstGeom prst="roundRect">
            <a:avLst>
              <a:gd name="adj" fmla="val 50000"/>
            </a:avLst>
          </a:prstGeom>
          <a:solidFill>
            <a:srgbClr val="2A21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10512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23591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「結構化 LLM 程式」的執行引擎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7432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第一性問題是：一個會分支、會重試、會反覆用同樣前綴與語法的 LLM 程式，怎麼跑得最快？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896112" y="35204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DSL 描述執行圖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896112" y="383133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radix tree 做前綴索引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896112" y="414223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cache-aware 排程主動提高命中率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896112" y="445312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jump-forward 跳過確定的 token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400800" y="164592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1810512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18105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vLLM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29400" y="23591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「模型服務」的基礎設施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9400" y="27432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第一性問題是：任何模型、任何硬體、任何部署形態，怎麼都能穩定地服務起來？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6656832" y="352044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模型／硬體後端覆蓋最廣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6656832" y="383133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KV connector、語法後端皆可插拔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656832" y="414223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路由與編排交給生態系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6656832" y="445312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V1 重寫把 CPU 開銷壓到最低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40080" y="49834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96112" y="49834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一句話：SGLang 在「前綴與語法重複」這條路上挖得深；vLLM 在「什麼都能跑」這個面上鋪得廣。不是誰比較好，是最佳化的目標函數不同。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/ 28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B718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地基①：所有問題的共同根源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在講任何機制之前，先確認「敵人是誰」。答案在第一堂就給過了。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47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每產一個 token（batch = 1）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搬（Bytes）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整份權重讀一遍 = 2N bytes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96112" y="28986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算（FLOPs）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28986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每個參數一次乘加 = 2N FLOPs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96112" y="34655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算術強度 AI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34655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2N ÷ 2N = 1 FLOP/Byte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6112" y="4069080"/>
            <a:ext cx="4800600" cy="566928"/>
          </a:xfrm>
          <a:prstGeom prst="rect">
            <a:avLst/>
          </a:prstGeom>
          <a:solidFill>
            <a:srgbClr val="4A24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06908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H100 ridge point ≈ 296 FLOPs/Byte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169164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56832" y="1847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算力利用率上限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56832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÷ 296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56832" y="2743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≈ 0.34 %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6656832" y="3794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你買的 H100，99.7% 的算力在閒置。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卡越強，batch=1 越浪費（A100 是 0.6%）。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接下來每一個問題，本質上都是「這 99.7% 為什麼填不滿」的不同面向——兩家都在打這件事。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地基 · 為什麼這些問題都指向同一件事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 / 28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地基②：AI ≈ B，所以答案永遠是「把 batch 撐大撐滿」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4447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搬：權重還是只讀「一遍」（2N bytes）　　算：2N × B FLOPs　　→　AI ≈ B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193852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既然 ridge point ≈ 296，B 要拉到「幾百」GPU 才餵得飽。而 B 撐不大的每一個理由，就是後面每一個問題。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331720"/>
            <a:ext cx="10332720" cy="384048"/>
          </a:xfrm>
          <a:prstGeom prst="rect">
            <a:avLst/>
          </a:prstGeom>
          <a:solidFill>
            <a:srgbClr val="4A34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317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Llama-3-8B on H100：batch=1 ≈ 208 tok/s　→　batch=64 ≈ 13,000 tok/s（步時幾乎不變）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四個問題各自擋住 B 的哪一段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10881360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4290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98448" y="34290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程式難平行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83280" y="342900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根本沒有那麼多請求同時進來——runtime 看不見可平行的分支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59352"/>
            <a:ext cx="10881360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95935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98448" y="395935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前綴重算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83280" y="395935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HBM 被浪費的 KV 佔住 → 放不下更多條；算力浪費在不必算的東西上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489704"/>
            <a:ext cx="10881360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48970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98448" y="44897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輸出不可控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383280" y="448970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每步的語法檢查是 CPU 上的序列工作 → 拖慢整批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20056"/>
            <a:ext cx="10881360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02005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④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98448" y="502005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CPU 成瓶頸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383280" y="502005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算完在等 CPU 決定下一步 → 有效 batch 再大也填不滿時間軸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把這張圖記住，後面就不會覺得是在背功能表——每個機制都在拆掉擋住 B 的一塊石頭。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地基 · 為什麼這些問題都指向同一件事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/ 28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問題①：LLM 程式難寫，而且跑不快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程式難平行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0710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0710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前綴重算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413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輸出不可控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41164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1164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CPU 成瓶頸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3902" y="1207008"/>
            <a:ext cx="0" cy="548640"/>
          </a:xfrm>
          <a:prstGeom prst="line">
            <a:avLst/>
          </a:prstGeom>
          <a:noFill/>
          <a:ln w="12700">
            <a:solidFill>
              <a:srgbClr val="5C729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108192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⑤ 大 MoE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7522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522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⑥ P/D 互擾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4224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4224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⑦ 多機調度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20927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0927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⑧ 容錯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本堂（單機）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第四堂（多機）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1488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2487168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2487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①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783080" y="22860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Python 迴圈把「依賴關係」寫死在控制流裡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783080" y="276148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多次呼叫、分支、工具使用、self-consistency 取樣——這些步驟裡有很多其實可以同時跑，但你用 for 迴圈寫出來之後，runtime 只看得到「一個接一個的請求」，看不見哪幾步彼此無關。加上 Python 的 GIL，前端本身也不擅長真正的並行。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37490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2960" y="3858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寫的人痛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42062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分支、重試、工具呼叫的膠水程式又臭又長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4325112" y="37490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07992" y="3858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跑的人痛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7992" y="42062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runtime 收到的是一串互不相干的請求，無從批處理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8010144" y="37490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193024" y="3858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更痛的是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193024" y="42062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這些請求其實高度共享前綴（同一個 system prompt、同一段歷史），但沒人告訴 runtime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 的名字就是這裡來的：Structured Generation Language——它先是一個語言，才是一個引擎。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問題① 程式難平行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 / 28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 的解法：把程式描述成一張執行圖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 DSL（sgl.gen / sgl.fork / sgl.select）不是語法糖——它讓 runtime 看見「什麼依賴什麼」。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029200" cy="3291840"/>
          </a:xfrm>
          <a:prstGeom prst="roundRect">
            <a:avLst>
              <a:gd name="adj" fmla="val 2778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7556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Python for 迴圈：序列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874520" y="214884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prompt + 分支 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54680" y="2624328"/>
            <a:ext cx="0" cy="164592"/>
          </a:xfrm>
          <a:prstGeom prst="line">
            <a:avLst/>
          </a:prstGeom>
          <a:noFill/>
          <a:ln w="31750">
            <a:solidFill>
              <a:srgbClr val="5C729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874520" y="2807208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28072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prompt + 分支 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54680" y="3282696"/>
            <a:ext cx="0" cy="164592"/>
          </a:xfrm>
          <a:prstGeom prst="line">
            <a:avLst/>
          </a:prstGeom>
          <a:noFill/>
          <a:ln w="31750">
            <a:solidFill>
              <a:srgbClr val="5C729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874520" y="3465576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34655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prompt + 分支 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54680" y="3941064"/>
            <a:ext cx="0" cy="164592"/>
          </a:xfrm>
          <a:prstGeom prst="line">
            <a:avLst/>
          </a:prstGeom>
          <a:noFill/>
          <a:ln w="31750">
            <a:solidFill>
              <a:srgbClr val="5C729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874520" y="4123944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41239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彙整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runtime 看到的是 4 個先後到達的請求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3108960"/>
            <a:ext cx="640080" cy="0"/>
          </a:xfrm>
          <a:prstGeom prst="line">
            <a:avLst/>
          </a:prstGeom>
          <a:noFill/>
          <a:ln w="31750">
            <a:solidFill>
              <a:srgbClr val="8FA6C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720840" y="1645920"/>
            <a:ext cx="4800600" cy="3291840"/>
          </a:xfrm>
          <a:prstGeom prst="roundRect">
            <a:avLst>
              <a:gd name="adj" fmla="val 2778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49440" y="17556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sgl.fork()：一張圖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092440" y="214884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共享 prompt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595360" y="2624328"/>
            <a:ext cx="0" cy="256032"/>
          </a:xfrm>
          <a:prstGeom prst="line">
            <a:avLst/>
          </a:prstGeom>
          <a:noFill/>
          <a:ln w="317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040880" y="29718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29718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分支 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522208" y="29718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22208" y="29718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分支 B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003536" y="29718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03536" y="29718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分支 C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49440" y="3520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▼ 三條可同時跑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92440" y="384048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9244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彙整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949440" y="4434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runtime 看到：一個共享前綴 + 三條可平行分支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關鍵副作用：fork 產生的分支天然共享同一段前綴——這正好把問題② 端到 RadixAttention 面前。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問題① 程式難平行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 / 28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對比①：vLLM 沒有對應物——而那是刻意的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426464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2A21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26464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14600" y="142646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有一層語言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192024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sgl.gen / fork / select 描述執行圖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896112" y="23225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runtime 看得見分支結構，主動批處理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896112" y="272491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fork 的共享前綴直接餵給 radix tree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896112" y="312724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代價：要學一套 DSL、綁定這個 runtime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6400800" y="128016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29400" y="1426464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42646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vLLM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38160" y="142646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只有 API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56832" y="192024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Python LLM 類 + OpenAI 相容 server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6656832" y="232257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平行化交給呼叫端（asyncio、批次提交）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6656832" y="272491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或交給上層框架（LangChain、DSPy…）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6656832" y="312724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好處：任何客戶端都能用，零學習成本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640080" y="356616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96112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為什麼這不是「缺漏」？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6112" y="402336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因為兩家對「引擎的職責邊界」判斷不同。vLLM 認為「怎麼組織 LLM 程式」是應用層的事，引擎只該把單一請求服務好；SGLang 認為程式結構是效能資訊，不交給引擎就浪費了。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實務上：多數人把 SGLang 當純 server 用、從沒碰過 DSL——所以這一層在日常使用上常常是沒被啟用的器官。但它解釋了 SGLang 為什麼那麼在意前綴共享。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第一個對比就看到哲學差異：一家往上長出語言，一家往外接生態。後面三題會反覆看到這個分野。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問題① 程式難平行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/ 28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但是——好寫的並行程式，會製造出大量重複計算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DSL 解決了「看得見平行」，卻立刻暴露下一個問題：那些分支的前綴，難道要各算一遍？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01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 fork 出 8 條分支的程式，system prompt 2,000 token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分支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2240280"/>
            <a:ext cx="6446520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240280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重算 system prompt（2,000 token prefill）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823960" y="2240280"/>
            <a:ext cx="2148840" cy="310896"/>
          </a:xfrm>
          <a:prstGeom prst="rect">
            <a:avLst/>
          </a:prstGeom>
          <a:solidFill>
            <a:srgbClr val="38BDF8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23960" y="22402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真正新增的內容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60120" y="258775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分支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77440" y="2587752"/>
            <a:ext cx="6446520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2587752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又算一遍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823960" y="2587752"/>
            <a:ext cx="2148840" cy="310896"/>
          </a:xfrm>
          <a:prstGeom prst="rect">
            <a:avLst/>
          </a:prstGeom>
          <a:solidFill>
            <a:srgbClr val="38BDF8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258775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新增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60120" y="293522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分支 3–8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77440" y="2935224"/>
            <a:ext cx="6446520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2935224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又算一遍 ×8…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823960" y="2935224"/>
            <a:ext cx="2148840" cy="310896"/>
          </a:xfrm>
          <a:prstGeom prst="rect">
            <a:avLst/>
          </a:prstGeom>
          <a:solidFill>
            <a:srgbClr val="38BDF8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23960" y="293522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新增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008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而且真實流量本來就長這樣——不用 DSL 也一樣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40690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1605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4462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同幾份文件反覆進 prompt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3383280" y="40690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41605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多輪對話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20440" y="4462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每輪都帶著整段歷史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126480" y="40690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41605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Few-shot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4462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同一批範例貼在每個請求前面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8869680" y="40690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06840" y="41605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006840" y="4462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工具描述 + 前面所有步驟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所以問題②是兩家都必須解的——只是 SGLang 因為 DSL 被逼得更早、更徹底。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問題① 程式難平行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 / 28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問題②：共享前綴被反覆重算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程式難平行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0710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0710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前綴重算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413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輸出不可控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41164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1164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CPU 成瓶頸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3902" y="1207008"/>
            <a:ext cx="0" cy="548640"/>
          </a:xfrm>
          <a:prstGeom prst="line">
            <a:avLst/>
          </a:prstGeom>
          <a:noFill/>
          <a:ln w="12700">
            <a:solidFill>
              <a:srgbClr val="5C729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108192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⑤ 大 MoE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7522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522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⑥ P/D 互擾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4224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4224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⑦ 多機調度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20927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0927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⑧ 容錯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本堂（單機）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第四堂（多機）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1488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2487168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2487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②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783080" y="22860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要複用前綴，得先解決「KV cache 怎麼放」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783080" y="276148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複用的東西是 KV cache。但傳統做法是照 max_seq_len 連續預留一整塊——不知道會生成多長，只好照最壞情況要。結果多數請求只用到預留量的 20–30%，其餘是死重，HBM 放不下更多條（B 上不去），更別說跨請求共享。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370332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37947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cache 一個 token 多少？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68680" y="4114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2(K,V) × n_kv_heads × head_dim × n_layers × dtype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68680" y="44074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Llama-3-8B（GQA 8 heads、128 dim、32 層、fp16）＝ 128 KB/token → 一條 8K 序列就是 1 GB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3794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預留 vs 實際使用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263640" y="4160520"/>
            <a:ext cx="5257800" cy="502920"/>
          </a:xfrm>
          <a:prstGeom prst="rect">
            <a:avLst/>
          </a:prstGeom>
          <a:solidFill>
            <a:srgbClr val="1C2E4A"/>
          </a:solidFill>
          <a:ln w="15240">
            <a:solidFill>
              <a:srgbClr val="FB718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4160520"/>
            <a:ext cx="1314450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4160520"/>
            <a:ext cx="13144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用到 25%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578090" y="4160520"/>
            <a:ext cx="39433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浪費的 60–80%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263640" y="47091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放得下的條數直接被砍到 1/4 → B 上不去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1" name="Text 39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記憶體碎片化不是「記憶體問題」，是 batch size 問題；batch size 就是 GPU 利用率。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問題② 前綴重算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28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共同地基：分頁——兩家都這樣放 KV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1960 年代的虛擬記憶體分頁機制搬到 KV cache 上。vLLM 的 PagedAttention 讓它出名，但 SGLang 底下同樣是分頁式記憶體池。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邏輯序列（使用者看到的）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 0–15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578608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786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 16–31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45536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455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 32–47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29000" y="1874520"/>
            <a:ext cx="2286000" cy="2194560"/>
          </a:xfrm>
          <a:prstGeom prst="roundRect">
            <a:avLst>
              <a:gd name="adj" fmla="val 4167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29000" y="19659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block table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331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 → #47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2788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→ #12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3246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→ #89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14600" y="2240280"/>
            <a:ext cx="822960" cy="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806440" y="2240280"/>
            <a:ext cx="68580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583680" y="1664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實體 HBM block pool（16 token / block，可不連續）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0" y="2011680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43800" y="2011680"/>
            <a:ext cx="841248" cy="4023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2011680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64040" y="2011680"/>
            <a:ext cx="841248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24160" y="2011680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2523744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43800" y="2523744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03920" y="2523744"/>
            <a:ext cx="841248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64040" y="2523744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24160" y="2523744"/>
            <a:ext cx="841248" cy="4023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3035808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43800" y="3035808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3035808"/>
            <a:ext cx="841248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64040" y="3035808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24160" y="3035808"/>
            <a:ext cx="841248" cy="40233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0" y="3547872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43800" y="3547872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03920" y="3547872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64040" y="3547872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424160" y="3547872"/>
            <a:ext cx="841248" cy="402336"/>
          </a:xfrm>
          <a:prstGeom prst="rect">
            <a:avLst/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4206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■ 請求 A　</a:t>
            </a:r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■ 請求 B　</a:t>
            </a:r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■ 請求 C　</a:t>
            </a:r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■ free pool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0080" y="4663440"/>
            <a:ext cx="2606040" cy="475488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46634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浪費 60–80% → &lt; 4%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383280" y="4663440"/>
            <a:ext cx="2606040" cy="475488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0" y="46634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用完才要、不用連續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126480" y="4663440"/>
            <a:ext cx="2606040" cy="475488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46634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請求結束立刻歸還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869680" y="4663440"/>
            <a:ext cx="2606040" cy="475488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69680" y="46634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block 可跨請求共享 ←關鍵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2" name="Text 50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這一層兩家沒有分歧。分歧在下一頁：block 放好之後，「怎麼被找到」。</a:t>
            </a:r>
            <a:endParaRPr lang="en-US" sz="1450" dirty="0"/>
          </a:p>
        </p:txBody>
      </p:sp>
      <p:sp>
        <p:nvSpPr>
          <p:cNvPr id="53" name="Text 51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問題② 前綴重算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28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對比②a 索引層：前綴樹 vs 鏈式雜湊表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同一個問題：「這個新請求的前綴，之前算過嗎？算到哪？」——兩家用了完全不同的資料結構。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78308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2A21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830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514600" y="17830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radix tree（前綴樹）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77440" y="2286000"/>
            <a:ext cx="2194560" cy="402336"/>
          </a:xfrm>
          <a:prstGeom prst="roundRect">
            <a:avLst>
              <a:gd name="adj" fmla="val 13636"/>
            </a:avLst>
          </a:prstGeom>
          <a:solidFill>
            <a:srgbClr val="16233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2286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共用 system prompt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51760" y="2706624"/>
            <a:ext cx="0" cy="310896"/>
          </a:xfrm>
          <a:prstGeom prst="line">
            <a:avLst/>
          </a:prstGeom>
          <a:noFill/>
          <a:ln w="317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06240" y="2706624"/>
            <a:ext cx="0" cy="310896"/>
          </a:xfrm>
          <a:prstGeom prst="line">
            <a:avLst/>
          </a:prstGeom>
          <a:noFill/>
          <a:ln w="317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97280" y="3054096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0540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對話 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83280" y="3054096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16233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0540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對話 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94560" y="3456432"/>
            <a:ext cx="0" cy="27432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97280" y="3749040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7490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 · 第 2 輪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6112" y="42245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樹狀結構 → 一次 O(D) 最長前綴匹配；分叉點可落在任意 token，不必對齊 block 邊界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400800" y="164592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29400" y="17830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1783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vLLM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138160" y="17830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鏈式雜湊（APC）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75120" y="2286000"/>
            <a:ext cx="1417320" cy="402336"/>
          </a:xfrm>
          <a:prstGeom prst="roundRect">
            <a:avLst>
              <a:gd name="adj" fmla="val 13636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228600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blk0 (16 tok)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92440" y="2286000"/>
            <a:ext cx="18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75320" y="2286000"/>
            <a:ext cx="1417320" cy="402336"/>
          </a:xfrm>
          <a:prstGeom prst="roundRect">
            <a:avLst>
              <a:gd name="adj" fmla="val 13636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228600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blk1 (16 tok)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92640" y="2286000"/>
            <a:ext cx="18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875520" y="2286000"/>
            <a:ext cx="1417320" cy="402336"/>
          </a:xfrm>
          <a:prstGeom prst="roundRect">
            <a:avLst>
              <a:gd name="adj" fmla="val 13636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0" y="228600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blk2 (16 tok)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56832" y="27889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hash(前一塊 hash + 本塊 tokens) → 平坦雜湊表，每個 block 各自可尋址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56832" y="329184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查表 O(1)、V1 常數時間淘汰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56832" y="363931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預設開啟；命中率 0% 時幾乎零開銷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56832" y="3986784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代價：命中必須對齊 16-token 邊界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489204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96112" y="48920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差異的本質：樹能表達「任意長度的共同開頭」，雜湊表只能表達「對齊的區塊」。所以極端共享場景 radix 佔優，一般場景兩者接近。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問題② 前綴重算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28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對比②b 排程：主動提高命中率 vs 被動命中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有了索引還不夠——請求「以什麼順序進來」也會改變命中率。這是兩家差最多的一點。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737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同樣三個請求，順序不同，命中率就不同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1031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亂序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2103120"/>
            <a:ext cx="2891333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2103120"/>
            <a:ext cx="28913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A（前綴 X）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360213" y="2103120"/>
            <a:ext cx="2806294" cy="310896"/>
          </a:xfrm>
          <a:prstGeom prst="rect">
            <a:avLst/>
          </a:prstGeom>
          <a:solidFill>
            <a:srgbClr val="38BDF8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60213" y="2103120"/>
            <a:ext cx="28062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B（前綴 Y）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166506" y="2103120"/>
            <a:ext cx="2806294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6506" y="2103120"/>
            <a:ext cx="28062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C（前綴 X）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51560" y="24688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排過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68880" y="2468880"/>
            <a:ext cx="2891333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2468880"/>
            <a:ext cx="28913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A（前綴 X）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60213" y="2468880"/>
            <a:ext cx="2806294" cy="310896"/>
          </a:xfrm>
          <a:prstGeom prst="rect">
            <a:avLst/>
          </a:prstGeom>
          <a:solidFill>
            <a:srgbClr val="34D399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60213" y="2468880"/>
            <a:ext cx="28062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C（前綴 X）命中！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166506" y="2468880"/>
            <a:ext cx="2806294" cy="310896"/>
          </a:xfrm>
          <a:prstGeom prst="rect">
            <a:avLst/>
          </a:prstGeom>
          <a:solidFill>
            <a:srgbClr val="38BDF8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66506" y="2468880"/>
            <a:ext cx="28062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B（前綴 Y）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468880" y="27889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↑ 亂序時 X 的快取可能已被 LRU 淘汰；排在一起就一定命中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40080" y="3154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3300984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2A21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300984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14600" y="330098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cache-aware 排程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96112" y="37947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主動把同前綴的請求排在一起送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896112" y="419709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v0.4 起還有 cache-aware load balancer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896112" y="459943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→ 這是「引擎主動經營快取」的做法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6400800" y="315468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629400" y="3300984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330098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vLLM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38160" y="330098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被動命中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656832" y="379476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FCFS / priority 為主，不按內容重排</a:t>
            </a:r>
            <a:endParaRPr lang="en-US" sz="1130" dirty="0"/>
          </a:p>
        </p:txBody>
      </p:sp>
      <p:sp>
        <p:nvSpPr>
          <p:cNvPr id="36" name="Text 34"/>
          <p:cNvSpPr/>
          <p:nvPr/>
        </p:nvSpPr>
        <p:spPr>
          <a:xfrm>
            <a:off x="6656832" y="419709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命中率取決於流量自然的到達順序</a:t>
            </a:r>
            <a:endParaRPr lang="en-US" sz="1130" dirty="0"/>
          </a:p>
        </p:txBody>
      </p:sp>
      <p:sp>
        <p:nvSpPr>
          <p:cNvPr id="37" name="Text 35"/>
          <p:cNvSpPr/>
          <p:nvPr/>
        </p:nvSpPr>
        <p:spPr>
          <a:xfrm>
            <a:off x="6656832" y="459943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→ 引擎不猜工作負載，交給上層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640080" y="512064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96112" y="51206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實測（前綴共用重、c=50）：SGLang 的 TTFT p50 低約 37%、p95 低約 41%——差距主要來自這一頁，不只是資料結構。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問題② 前綴重算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28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共同地基：continuous batching（撐滿 B 的那隻腳）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排程單位從「一個請求」改成「一次 forward」。兩家都有——vLLM V1 更把 prefill/decode 統一成一個排程字典。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737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靜態批次（request-level）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577840" y="173736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整批等最慢的那個 → GPU 大半時間在空轉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13969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94560" y="2139696"/>
            <a:ext cx="1316736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2139696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11296" y="2139696"/>
            <a:ext cx="7461504" cy="310896"/>
          </a:xfrm>
          <a:prstGeom prst="rect">
            <a:avLst/>
          </a:prstGeom>
          <a:solidFill>
            <a:srgbClr val="1C2E4A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1296" y="2139696"/>
            <a:ext cx="7461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空轉（等 R4 生完）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7240" y="245059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450592"/>
            <a:ext cx="2633472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245059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28032" y="2450592"/>
            <a:ext cx="6144768" cy="310896"/>
          </a:xfrm>
          <a:prstGeom prst="rect">
            <a:avLst/>
          </a:prstGeom>
          <a:solidFill>
            <a:srgbClr val="1C2E4A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45059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空轉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77240" y="276148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94560" y="2761488"/>
            <a:ext cx="3950208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2761488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R3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44768" y="2761488"/>
            <a:ext cx="4828032" cy="310896"/>
          </a:xfrm>
          <a:prstGeom prst="rect">
            <a:avLst/>
          </a:prstGeom>
          <a:solidFill>
            <a:srgbClr val="1C2E4A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2761488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空轉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77240" y="307238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94560" y="3072384"/>
            <a:ext cx="8778240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0" y="3072384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R4（2000 token，最慢）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0080" y="3493008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35844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Continuous batching（iteration-level）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92240" y="35844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做完就退場還 block，佇列有人立刻補進來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7240" y="396849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slot 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968496"/>
            <a:ext cx="1316736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4560" y="3968496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R1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511296" y="3968496"/>
            <a:ext cx="3072384" cy="310896"/>
          </a:xfrm>
          <a:prstGeom prst="rect">
            <a:avLst/>
          </a:prstGeom>
          <a:solidFill>
            <a:srgbClr val="34D399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11296" y="3968496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R5 補位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583680" y="3968496"/>
            <a:ext cx="4389120" cy="310896"/>
          </a:xfrm>
          <a:prstGeom prst="rect">
            <a:avLst/>
          </a:prstGeom>
          <a:solidFill>
            <a:srgbClr val="38BDF8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396849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R8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77240" y="427939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slot 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194560" y="4279392"/>
            <a:ext cx="2633472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94560" y="427939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R2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28032" y="4279392"/>
            <a:ext cx="3511296" cy="310896"/>
          </a:xfrm>
          <a:prstGeom prst="rect">
            <a:avLst/>
          </a:prstGeom>
          <a:solidFill>
            <a:srgbClr val="34D399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4279392"/>
            <a:ext cx="3511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R6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339328" y="4279392"/>
            <a:ext cx="2633472" cy="310896"/>
          </a:xfrm>
          <a:prstGeom prst="rect">
            <a:avLst/>
          </a:prstGeom>
          <a:solidFill>
            <a:srgbClr val="38BDF8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39328" y="427939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R9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77240" y="459028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slot 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194560" y="4590288"/>
            <a:ext cx="3950208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94560" y="4590288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R3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44768" y="4590288"/>
            <a:ext cx="4828032" cy="310896"/>
          </a:xfrm>
          <a:prstGeom prst="rect">
            <a:avLst/>
          </a:prstGeom>
          <a:solidFill>
            <a:srgbClr val="34D399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44768" y="4590288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R7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77240" y="490118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slot 4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194560" y="4901184"/>
            <a:ext cx="8778240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94560" y="4901184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R4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三隻腳：分頁撐大「B 的上限」、continuous batching 撐滿「實際值」、前綴複用省掉「不必算的」。</a:t>
            </a:r>
            <a:endParaRPr lang="en-US" sz="1450" dirty="0"/>
          </a:p>
        </p:txBody>
      </p:sp>
      <p:sp>
        <p:nvSpPr>
          <p:cNvPr id="55" name="Text 53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問題② 前綴重算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28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澄清：「RadixAttention vs PagedAttention」是假對立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網路文章常把兩者寫成競品。它們其實在不同層——而且兩家兩層都有。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8013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索引 / 複用層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49040" y="1801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已經放好的 KV block 怎麼被找到並複用？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22585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SGLang：radix tree（+ cache-aware 排程）　｜　vLLM：鏈式雜湊表 APC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1272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記憶體配置層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31272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cache 在 HBM 裡怎麼放？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35844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兩邊都是分頁式：固定大小 block、不連續、用完才要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834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▲ 蓋在上面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43434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所以真正的差異是「索引結構 + 排程策略」，不是「要不要分頁」。兩邊功能持續趨同——別把某一次 benchmark 當永久結論。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問題② 前綴重算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/ 28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B718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所以問題②該選哪一家？看你的流量長相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3898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前綴共用 &gt; 60% → SGLang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179222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RAG（同幾份文件反覆進 prompt）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213969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多輪對話（每輪帶整段歷史）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24871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Few-shot（同一批範例）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96112" y="28346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Agent（工具描述 + 前面所有步驟）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96112" y="318211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sgl.fork() 的分支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28016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56832" y="13898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前綴各自獨立 → 看生態成熟度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17922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客服：各種不相干的問題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56832" y="21396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批次翻譯：每篇文章都不同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56832" y="2487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一次性摘要任務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56832" y="28346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此時兩家吞吐差距在 5% 內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56832" y="318211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就選模型/硬體支援更廣的那家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6112" y="3840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三個容易被忽略的選型因素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4400" y="42062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硬體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377440" y="42062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非 NVIDIA（AMD / TPU / Gaudi / CPU）→ vLLM 覆蓋明顯更廣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914400" y="45537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377440" y="45537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剛出的新架構誰先支援？通常 vLLM 廣、SGLang 對 DeepSeek 系特別快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914400" y="49011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多租戶安全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377440" y="4901184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前綴快取跨使用者共享會讓 TTFT 洩漏「這段 prompt 是否被用過」→ 要分租戶命名空間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問題② 前綴重算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 / 28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互動環節：把「有效 batch」變成看得到的東西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開啟 interactive/serving_map.html —— 本堂只用模式 1–4（模式 5 PD 分離留給第四堂）。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 Naive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17830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靜態批次 + 連續預留 KV：時間軸有多空、HBM 有多浪費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778240" y="1783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有效 batch ≈ 20 → 6.8%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532888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53288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 Continuous batching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53288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做完就換人上 → 時間軸被填滿，但 KV 還是預留制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778240" y="25328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≈ 60 → 20%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282696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2826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 Paged KV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328269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block 化 + 用完才要 → 同 HBM 放得下 ~4 倍的請求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0" y="328269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≈ 240 → 81%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032504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03250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 前綴共用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403250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共用 prompt 的請求合併 → prefill 直接省掉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78240" y="403250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同上，TTFT ↓20–40%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4892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操作：數字鍵 1–4 切換 · 右側面板同步顯示有效 batch、KV 浪費比例、算術強度與 roofline 上的位置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 6.8% 走到 81%——這三步是兩家共有的地基，不是誰的專利。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問題② 前綴重算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 / 28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問題③：輸出格式不可控（而且檢查很慢）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程式難平行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0710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0710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前綴重算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413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輸出不可控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41164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1164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CPU 成瓶頸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3902" y="1207008"/>
            <a:ext cx="0" cy="548640"/>
          </a:xfrm>
          <a:prstGeom prst="line">
            <a:avLst/>
          </a:prstGeom>
          <a:noFill/>
          <a:ln w="12700">
            <a:solidFill>
              <a:srgbClr val="5C729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108192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⑤ 大 MoE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7522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522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⑥ P/D 互擾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4224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4224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⑦ 多機調度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20927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0927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⑧ 容錯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本堂（單機）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第四堂（多機）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1488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2487168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2487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③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783080" y="22860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只靠 prompt 說「請輸出 JSON」，模型不保證遵守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783080" y="276148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常見翻車：前後多加解釋文字、欄位型別錯、語法小錯（多逗號／單引號）、幻覺出 schema 沒有的欄位。而 agent／function calling 一旦解析失敗，整條鏈就斷了。天真的補救是每步生成後用正則檢查再重試——CPU 成本高得離譜，還是不保證對。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374904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840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多餘文字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77240" y="41422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"當然！以下是您要的 JSON："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374904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3840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型別錯誤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520440" y="41422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{"age": "twenty"}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374904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3840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語法錯誤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263640" y="41422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多逗號、單引號、缺括號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869680" y="374904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06840" y="3840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幻覺欄位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9006840" y="41422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schema 裡根本沒有的 key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3" name="Text 41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澄清：這不需要另一個小模型來審核——它純粹是符號計算／規則引擎的問題。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問題③ 輸出不可控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 / 28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共同地基：FSM + 位元遮罩（兩家預設都用 XGrammar）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生成每個 token 前，先算出「此刻合法的 token 集合」，把不合法的 logit 壓成 −∞ → 物理上不可能生成非法內容。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932688"/>
          </a:xfrm>
          <a:prstGeom prst="roundRect">
            <a:avLst>
              <a:gd name="adj" fmla="val 9804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7465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預編譯成 FSM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213055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 JSON schema / 正則 / EBNF 編成有限狀態機。XGrammar 是 SGLang、vLLM、TensorRT-LLM 三家的預設後端（另可換 Outlines、llguidance）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10881360" cy="932688"/>
          </a:xfrm>
          <a:prstGeom prst="roundRect">
            <a:avLst>
              <a:gd name="adj" fmla="val 9804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7980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非同步編譯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68680" y="318211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編譯要時間 → vLLM 讓請求先進 WAITING_FOR_FSM，編好才轉 WAITING，不阻塞其他請求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0881360" cy="932688"/>
          </a:xfrm>
          <a:prstGeom prst="roundRect">
            <a:avLst>
              <a:gd name="adj" fmla="val 9804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8496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位元遮罩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423367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每步查表得出合法集合，其餘 token 的 logit 設成 −∞，再於合法子集重新歸一化採樣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49377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⚠️ 常見誤解：以為 SGLang 是自研語法引擎、vLLM 是外掛。實際上兩家的預設後端都是 XGrammar——差異在下一頁。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問題③ 輸出不可控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 / 28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對比③：語法允許時，可以一次吐好幾個 token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這是 SGLang「compressed FSM」真正的價值：不是換一個語法引擎，是在同一個 FSM 上多走幾步。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0881360" cy="1600200"/>
          </a:xfrm>
          <a:prstGeom prst="roundRect">
            <a:avLst>
              <a:gd name="adj" fmla="val 5714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737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觀察：JSON 裡有一大段路徑是「唯一確定」的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21214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{"name": 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21214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← schema 一確定，這 8 個 token 就沒有第二種可能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0" y="2121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逐 token 推理 8 次　→　直接吐出，0 次推理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697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沒有跳躍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0" y="2697480"/>
            <a:ext cx="4297680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269748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逐 token：8 步 forward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675120" y="2697480"/>
            <a:ext cx="4297680" cy="310896"/>
          </a:xfrm>
          <a:prstGeom prst="rect">
            <a:avLst/>
          </a:prstGeom>
          <a:solidFill>
            <a:srgbClr val="1C2E4A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38328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3474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jump-forward decoding（SGLang）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60120" y="385876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有跳躍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77440" y="3858768"/>
            <a:ext cx="859536" cy="310896"/>
          </a:xfrm>
          <a:prstGeom prst="rect">
            <a:avLst/>
          </a:prstGeom>
          <a:solidFill>
            <a:srgbClr val="A78BFA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385876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跳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36976" y="3858768"/>
            <a:ext cx="3438144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36976" y="3858768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只推理真正有選擇的部分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75120" y="3858768"/>
            <a:ext cx="4297680" cy="310896"/>
          </a:xfrm>
          <a:prstGeom prst="rect">
            <a:avLst/>
          </a:prstGeom>
          <a:solidFill>
            <a:srgbClr val="34D399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38587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省下來的時間拿去服務其他請求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96112" y="42976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結果：SGLang 的結構化輸出吞吐約為 vLLM 的 3× —— 加了語法約束之後，生成反而比自由生成更快。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反直覺但重要：約束不是成本，是資訊——它告訴引擎「這幾個 token 不用問模型」。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問題③ 輸出不可控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 / 28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問題② 與 ③ 的關係：正交，但有一條紅線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4813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前綴複用複用的是「算力」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18470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避免重複的矩陣運算。作用在「這段 token 的中間結果」上。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96112" y="2697480"/>
            <a:ext cx="4754880" cy="457200"/>
          </a:xfrm>
          <a:prstGeom prst="roundRect">
            <a:avLst>
              <a:gd name="adj" fmla="val 50000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與請求無關 → 可共享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56832" y="1481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約束生成裁剪的是「候選空間」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56832" y="18470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決定哪些 token 允許被選。作用在「這個請求走到語法的哪裡」上。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56832" y="269748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2A21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2697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屬於請求本身 → 不可共享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36118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⚠️ 紅線：即使兩個請求共享同一段前綴快取，它們各自的 FSM 狀態仍必須獨立推進，不能互相干擾。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70916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47091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這條紅線給了一個通用判準：可以快取的是「計算結果」，不可以快取的是「請求狀態」。第四堂的跨機 KV 複製也要問同一個問題。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問題③ 輸出不可控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 / 28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問題④：GPU 快到讓 CPU 變成瓶頸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程式難平行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0710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0710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前綴重算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413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輸出不可控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41164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1164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CPU 成瓶頸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3902" y="1207008"/>
            <a:ext cx="0" cy="548640"/>
          </a:xfrm>
          <a:prstGeom prst="line">
            <a:avLst/>
          </a:prstGeom>
          <a:noFill/>
          <a:ln w="12700">
            <a:solidFill>
              <a:srgbClr val="5C729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108192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⑤ 大 MoE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7522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522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⑥ P/D 互擾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4224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4224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⑦ 多機調度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20927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0927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⑧ 容錯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本堂（單機）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第四堂（多機）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1488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2487168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2487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④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783080" y="22860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一步只花 5–10 ms，Python 那邊來得及嗎？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783080" y="276148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前面三個問題解完，batch 撐起來了、重複計算省掉了。這時每個 forward step 只剩幾毫秒，而 tokenize、排程決策、取樣、序列化、數百次 kernel launch 全在 CPU 上——GPU 開始出現「算完在等 CPU 決定下一步」的空窗。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37033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96112" y="3794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共同地基：CUDA Graph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6112" y="413308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初始化時對各種 batch size 做 dummy forward，把整串 kernel launch 錄成 DAG，之後直接 replay → 省掉每步數百次 launch 開銷。兩家都有（vLLM V1 用 piecewise CUDA graph 兼顧動態形狀）。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但「把 CPU 工作藏起來」這件事，兩家走了兩條不同的路——下一頁。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問題④ CPU 成瓶頸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 / 28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對比④：兩條不同的路，同一個目標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目標都是「GPU 不要等 CPU」。差別在把 CPU 工作搬到哪裡。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792224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2A21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92224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14600" y="179222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zero-overhead scheduler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96112" y="228600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把 CPU 排程藏進「上一步的 GPU 執行時間」裡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896112" y="268833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排程與 GPU kernel 在時間上完全重疊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896112" y="309067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v0.4 起導入，是它能撐大規模部署的關鍵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896112" y="349300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單一進程內把時序排好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400800" y="164592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29400" y="1792224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79222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vLLM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179222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多進程 + async 排程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56832" y="228600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EngineCore 獨立進程只跑排程 + 執行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6656832" y="268833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tokenize / 多模態前處理 / 串流輸出各自重疊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6656832" y="309067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async scheduling：下一步決策與本步執行重疊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6656832" y="349300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用進程邊界隔開，工程上較易維護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6112" y="4206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為什麼值得講這一頁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6112" y="45262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聽眾很容易以為「推論優化＝寫 CUDA」。實際上一大塊收益來自「別讓 GPU 等 CPU」——vLLM V1 相對 V0 吞吐提升 ~1.7×，完全來自 CPU 開銷削減，一個 GPU kernel 都沒改。這跟第一堂 prefetch/overlap 的 demo 是同一個道理。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問題④ CPU 成瓶頸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 / 28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B718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問題④的雙胞胎：TTFT 與 ITL 互相打架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8288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28016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指標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1280160"/>
            <a:ext cx="23774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28016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301752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28016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被誰決定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1280160"/>
            <a:ext cx="36576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1280160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想要它小，你會想…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1664208"/>
            <a:ext cx="18288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166420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TTFT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468880" y="1664208"/>
            <a:ext cx="23774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166420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Time To First Token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0" y="1664208"/>
            <a:ext cx="301752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66420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prefill（compute-bound）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63840" y="1664208"/>
            <a:ext cx="36576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36992" y="1664208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讓 prefill 立刻插隊、獨佔 GPU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2048256"/>
            <a:ext cx="18288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2048256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ITL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468880" y="2048256"/>
            <a:ext cx="23774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42032" y="204825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Inter-Token Latency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46320" y="2048256"/>
            <a:ext cx="301752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04825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decode（memory-bound）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863840" y="2048256"/>
            <a:ext cx="36576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36992" y="2048256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別讓 prefill 打斷 decode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2743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96112" y="2834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衝突點：head-of-line blocking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51560" y="32004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468880" y="3200400"/>
            <a:ext cx="4677156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3200400"/>
            <a:ext cx="4677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一個 32K prompt 的 prefill（0.5–2 秒）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146036" y="3200400"/>
            <a:ext cx="3826764" cy="310896"/>
          </a:xfrm>
          <a:prstGeom prst="rect">
            <a:avLst/>
          </a:prstGeom>
          <a:solidFill>
            <a:srgbClr val="38BDF8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46036" y="3200400"/>
            <a:ext cx="3826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decode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468880" y="35844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↑ 這段時間裡所有串流輸出的使用者都卡住——畫面上就是「打字打到一半停住」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41605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96112" y="425196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共同解法：chunked prefill —— 每步固定 token 預算，剩下的預算拿去混 decode（兩家都有，vLLM V1 預設開啟）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051560" y="46177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step 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468880" y="4617720"/>
            <a:ext cx="3826764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68880" y="4617720"/>
            <a:ext cx="3826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prefill chunk 1/8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95644" y="4617720"/>
            <a:ext cx="4677156" cy="310896"/>
          </a:xfrm>
          <a:prstGeom prst="rect">
            <a:avLst/>
          </a:prstGeom>
          <a:solidFill>
            <a:srgbClr val="38BDF8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95644" y="4617720"/>
            <a:ext cx="4677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同批 decode（12 條在跑）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51560" y="486460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step 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468880" y="4864608"/>
            <a:ext cx="3826764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68880" y="4864608"/>
            <a:ext cx="3826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prefill chunk 2/8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95644" y="4864608"/>
            <a:ext cx="4677156" cy="310896"/>
          </a:xfrm>
          <a:prstGeom prst="rect">
            <a:avLst/>
          </a:prstGeom>
          <a:solidFill>
            <a:srgbClr val="38BDF8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95644" y="4864608"/>
            <a:ext cx="4677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同批 decode（12 條在跑）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051560" y="511149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step 3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468880" y="5111496"/>
            <a:ext cx="3826764" cy="310896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68880" y="5111496"/>
            <a:ext cx="3826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prefill chunk 3/8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95644" y="5111496"/>
            <a:ext cx="4677156" cy="310896"/>
          </a:xfrm>
          <a:prstGeom prst="rect">
            <a:avLst/>
          </a:prstGeom>
          <a:solidFill>
            <a:srgbClr val="38BDF8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95644" y="5111496"/>
            <a:ext cx="4677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同批 decode（12 條在跑）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6" name="Text 54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附帶好處：compute-bound 的 prefill 與 memory-bound 的 decode 混同一批，兩種瓶頸互補。⚠️ 但這只是緩解——根治要靠第四堂的 PD 分離。</a:t>
            </a:r>
            <a:endParaRPr lang="en-US" sz="1450" dirty="0"/>
          </a:p>
        </p:txBody>
      </p:sp>
      <p:sp>
        <p:nvSpPr>
          <p:cNvPr id="57" name="Text 55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問題④ CPU 成瓶頸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 / 28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單機的天花板①：投機解碼 / MTP（兩家都有）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前面四個問題解完，B 撐大了。但「單一請求的延遲」仍被『讀一遍權重』鎖死——要打破它只有這條路。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3502152" cy="1463040"/>
          </a:xfrm>
          <a:prstGeom prst="roundRect">
            <a:avLst>
              <a:gd name="adj" fmla="val 6250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Draft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08483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便宜地提出 k 個候選：n-gram / 小模型 / Medusa / EAGLE / 模型自帶的 MTP head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160520" y="21945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5112" y="1645920"/>
            <a:ext cx="3502152" cy="1463040"/>
          </a:xfrm>
          <a:prstGeom prst="roundRect">
            <a:avLst>
              <a:gd name="adj" fmla="val 6250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07992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Verify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07992" y="208483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大模型把「context + k 個草稿 token」在一次 forward 裡跑完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845552" y="21945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10144" y="1645920"/>
            <a:ext cx="3502152" cy="1463040"/>
          </a:xfrm>
          <a:prstGeom prst="roundRect">
            <a:avLst>
              <a:gd name="adj" fmla="val 6250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93024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Accept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93024" y="208483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由左而右比對機率：large ≥ draft 就收；否則按 large/draft 機率收。第一個被拒就停，並免費得到第 k+1 個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40080" y="32918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3364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為什麼會賺（用第 4 頁的同一把尺）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6112" y="3675888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驗證 k 個草稿 token 的 forward：權重讀取 = 1 次（不變），FLOPs = k 倍　→　AI 從 1 變成 k　＝用閒置算力換頻寬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480560"/>
            <a:ext cx="5303520" cy="960120"/>
          </a:xfrm>
          <a:prstGeom prst="roundRect">
            <a:avLst>
              <a:gd name="adj" fmla="val 9524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4626864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2A21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626864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14600" y="462686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EAGLE / EAGLE3 / MTP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96112" y="512064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對 DeepSeek 系的 MTP head 支援特別完整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6400800" y="448056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29400" y="4626864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462686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vLLM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38160" y="462686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n-gram / EAGLE / Medusa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656832" y="512064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內建多種 draft 方式，可依 workload 選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輸出分佈嚴格不變（rejection sampling 保證）。DeepSeek-V3 的 MTP head 報告第二 token 接受率 ~85–90%。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單機的天花板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 / 28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單機的天花板②：量化——直接砍分母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= FLOPs ÷ Bytes。前面全在動分子，量化直接動分母——decode 被權重讀取綁死，權重減半 ≈ 延遲減半。兩家都支援。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9164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權重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97480" y="169164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fp16 → FP8（÷2）→ FP4 / MXFP4（÷4）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75120" y="1691640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 步時直接等比下降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65176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cache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97480" y="265176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fp16 → FP8 → 更低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75120" y="2651760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變小 ⇒ 同 HBM 放得下更多序列 ⇒ B 又能更大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1188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61188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Activation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97480" y="361188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FP8 / MXFP8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75120" y="3611880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決定 GEMM 能不能走 FP8/FP4 tensor core 路徑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61772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6112" y="46177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硬體對齊：Hopper 有 FP8 tensor core、Blackwell 有 FP4。精度格式是硬體規格表上的一行，直接決定模型能跑多快——第五堂會看到模型端已經開始「出廠就是 4-bit」。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單機的天花板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 / 28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彙整：四個問題 × 兩種寫法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8288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28016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280160"/>
            <a:ext cx="27432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28016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共同地基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1280160"/>
            <a:ext cx="32004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5232" y="1280160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 的寫法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0" y="1280160"/>
            <a:ext cx="310896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128016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vLLM 的寫法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1664208"/>
            <a:ext cx="18288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166420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程式難平行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68880" y="1664208"/>
            <a:ext cx="27432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166420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12080" y="1664208"/>
            <a:ext cx="32004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166420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 DSL：程式＝執行圖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12480" y="1664208"/>
            <a:ext cx="310896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85632" y="1664208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沒有對應物（交給應用層）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2048256"/>
            <a:ext cx="18288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2048256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KV 怎麼放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68880" y="2048256"/>
            <a:ext cx="27432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42032" y="2048256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分頁式 KV、block table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12080" y="2048256"/>
            <a:ext cx="32004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2048256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同（分頁記憶體池）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412480" y="2048256"/>
            <a:ext cx="310896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85632" y="2048256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同（PagedAttention 命名）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2432304"/>
            <a:ext cx="18288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2432304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怎麼被找到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468880" y="2432304"/>
            <a:ext cx="27432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42032" y="2432304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前綴複用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212080" y="2432304"/>
            <a:ext cx="32004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85232" y="243230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radix tree，O(D) 最長前綴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412480" y="2432304"/>
            <a:ext cx="310896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85632" y="2432304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鏈式雜湊表，O(1) 對齊 block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0080" y="2816352"/>
            <a:ext cx="18288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281635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什麼順序進來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468880" y="2816352"/>
            <a:ext cx="27432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42032" y="281635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continuous batching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212080" y="2816352"/>
            <a:ext cx="32004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85232" y="281635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cache-aware 排程（主動）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412480" y="2816352"/>
            <a:ext cx="310896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85632" y="2816352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FCFS / priority（被動）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0080" y="3200400"/>
            <a:ext cx="18288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320040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格式保證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468880" y="3200400"/>
            <a:ext cx="27432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42032" y="320040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XGrammar FSM + 位元遮罩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212080" y="3200400"/>
            <a:ext cx="32004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85232" y="3200400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＋ jump-forward（約 3× 吞吐）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412480" y="3200400"/>
            <a:ext cx="310896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85632" y="320040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＋ 非同步 FSM 編譯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40080" y="3584448"/>
            <a:ext cx="18288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3232" y="358444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CPU 開銷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468880" y="3584448"/>
            <a:ext cx="27432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42032" y="358444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CUDA Graph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212080" y="3584448"/>
            <a:ext cx="32004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85232" y="358444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zero-overhead scheduler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412480" y="3584448"/>
            <a:ext cx="310896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85632" y="3584448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多進程 + async 排程（V1 ~1.7×）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40080" y="3968496"/>
            <a:ext cx="18288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3232" y="3968496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④' TTFT vs ITL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468880" y="3968496"/>
            <a:ext cx="27432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42032" y="3968496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chunked prefill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212080" y="3968496"/>
            <a:ext cx="32004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85232" y="3968496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8412480" y="3968496"/>
            <a:ext cx="310896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485632" y="3968496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V1 預設開啟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40080" y="4352544"/>
            <a:ext cx="18288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3232" y="4352544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天花板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468880" y="4352544"/>
            <a:ext cx="27432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542032" y="4352544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投機解碼、量化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5212080" y="4352544"/>
            <a:ext cx="32004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285232" y="435254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EAGLE3 / MTP 支援強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8412480" y="4352544"/>
            <a:ext cx="310896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485632" y="4352544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n-gram / EAGLE / Medusa 多選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640080" y="47091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896112" y="4709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看這張表的方法：共同地基那一欄是「這個領域已經收斂的共識」，右邊兩欄才是差異——而差異幾乎都落在「要不要替使用者猜工作負載」。</a:t>
            </a:r>
            <a:endParaRPr lang="en-US" sz="1350" dirty="0"/>
          </a:p>
        </p:txBody>
      </p:sp>
      <p:sp>
        <p:nvSpPr>
          <p:cNvPr id="80" name="Text 78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單機的天花板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 / 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112" y="274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第三堂課 · 單機篇 SGLang × vLLM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帶走三句話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45920" y="1645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每個機制都是被一個具體痛點逼出來的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645920" y="2121408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DSL 因為程式難平行、前綴複用因為程式製造了大量共享前綴、FSM 因為 agent 需要能解析的輸出、CPU 優化因為前三個解完 GPU 快到 CPU 跟不上。順著問題走，就不用背功能表。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45920" y="3017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兩家的差異幾乎都在「要不要替你猜工作負載」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645920" y="3493008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 猜你會重複用前綴與語法（radix tree、cache-aware 排程、jump-forward），猜對了就贏很多；vLLM 不猜，把廣度與抽象做好（最多模型/硬體、可插拔後端）。共同地基（分頁 KV、continuous batching、XGrammar、CUDA Graph）兩家一致。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89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45920" y="4389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所以選型看流量長相，不看 benchmark 排名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645920" y="4864608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前綴共用 &gt;60%（agent／多輪／RAG）→ SGLang 的 TTFT 低 20–40%、結構化輸出快約 3×；請求彼此獨立 → 兩者差 &lt;5%，就選硬體與模型支援更廣的那家。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下一堂：同一批問題到了「一群機器」之上（⑤–⑧）——而那裡兩家的分工方式差得更明顯。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單機的天花板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28 / 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第三堂課 · 推論引擎單機篇：SGLang × vLLM</dc:title>
  <dc:subject>PptxGenJS Presentation</dc:subject>
  <dc:creator>GPU 記憶體與資料搬遷讀書會</dc:creator>
  <cp:lastModifiedBy>GPU 記憶體與資料搬遷讀書會</cp:lastModifiedBy>
  <cp:revision>1</cp:revision>
  <dcterms:created xsi:type="dcterms:W3CDTF">2026-08-17T10:16:11Z</dcterms:created>
  <dcterms:modified xsi:type="dcterms:W3CDTF">2026-08-17T10:16:11Z</dcterms:modified>
</cp:coreProperties>
</file>