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955280" y="1828800"/>
            <a:ext cx="1828800" cy="164592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1828800"/>
            <a:ext cx="192024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58200" y="2788920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" name="Shape 3"/>
          <p:cNvSpPr/>
          <p:nvPr/>
        </p:nvSpPr>
        <p:spPr>
          <a:xfrm>
            <a:off x="10561320" y="171907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 ·  S1 / 共 4 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為什麼會慢？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Roofline 與記憶體階層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從計算機組織與 GPU 架構，判斷一個運算是被「算力」還是「記憶體頻寬」卡住。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聽眾：data science 背景 · 目標：建立「先問 compute-bound 還是 memory-bound」的反射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一個開場謎題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同一張 H100，跑 batch=1 的 LLM 解碼（decode）時，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tensor core 的算力利用率常常不到 5%。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我們買了全世界最貴的「算力」，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卻幾乎用不到——為什麼？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0" y="1783080"/>
            <a:ext cx="4206240" cy="3017520"/>
          </a:xfrm>
          <a:prstGeom prst="roundRect">
            <a:avLst>
              <a:gd name="adj" fmla="val 3030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0" y="20574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 5%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7315200" y="3520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batch=1 解碼時的算力利用率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3977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（瓶頸不在算力，而在資料搬運）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👉 答案不是「算力不夠」，而是「資料搬不夠快」。本場就在拆解這件事。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為什麼會慢？Roofline 與記憶體階層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兩種「慢」：你被誰卡住？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783080"/>
            <a:ext cx="52120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Compute-bound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算力受限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1089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瓶頸：峰值 FLOPS（算得不夠快）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症狀：算力利用率高、加大 batch 也快不了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典型：大矩陣乘法、模型訓練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309360" y="178308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783080"/>
            <a:ext cx="5212080" cy="10972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Memory-bound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2940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頻寬受限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29400" y="31089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瓶頸：記憶體頻寬（資料搬不夠快）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症狀：算力利用率低、加大 batch 吞吐會上升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典型：自迴歸解碼、element-wise 運算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怎麼判斷自己在哪一邊？用一把尺：算術強度（下一頁）。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為什麼會慢？Roofline 與記憶體階層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CPU vs GPU：兩種設計哲學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CPU — latency-oriented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少數強核、大 cache、亂序執行；把「單一任務」做到最快。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965960" y="3657600"/>
            <a:ext cx="566928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2679192" y="3657600"/>
            <a:ext cx="566928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1965960" y="4370832"/>
            <a:ext cx="566928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2679192" y="4370832"/>
            <a:ext cx="566928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783080"/>
            <a:ext cx="5212080" cy="3383280"/>
          </a:xfrm>
          <a:prstGeom prst="roundRect">
            <a:avLst>
              <a:gd name="adj" fmla="val 2703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— throughput-oriented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29400" y="2560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海量簡單核心、用大量 thread 互相掩護延遲；把「總吞吐」做到最大。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178040" y="361188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388352" y="361188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598664" y="361188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9" name="Shape 17"/>
          <p:cNvSpPr/>
          <p:nvPr/>
        </p:nvSpPr>
        <p:spPr>
          <a:xfrm>
            <a:off x="7808976" y="361188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0" name="Shape 18"/>
          <p:cNvSpPr/>
          <p:nvPr/>
        </p:nvSpPr>
        <p:spPr>
          <a:xfrm>
            <a:off x="8019288" y="361188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361188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Shape 20"/>
          <p:cNvSpPr/>
          <p:nvPr/>
        </p:nvSpPr>
        <p:spPr>
          <a:xfrm>
            <a:off x="8439912" y="361188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Shape 21"/>
          <p:cNvSpPr/>
          <p:nvPr/>
        </p:nvSpPr>
        <p:spPr>
          <a:xfrm>
            <a:off x="8650224" y="361188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Shape 22"/>
          <p:cNvSpPr/>
          <p:nvPr/>
        </p:nvSpPr>
        <p:spPr>
          <a:xfrm>
            <a:off x="8860536" y="361188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Shape 23"/>
          <p:cNvSpPr/>
          <p:nvPr/>
        </p:nvSpPr>
        <p:spPr>
          <a:xfrm>
            <a:off x="9070848" y="361188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Shape 24"/>
          <p:cNvSpPr/>
          <p:nvPr/>
        </p:nvSpPr>
        <p:spPr>
          <a:xfrm>
            <a:off x="9281160" y="361188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Shape 25"/>
          <p:cNvSpPr/>
          <p:nvPr/>
        </p:nvSpPr>
        <p:spPr>
          <a:xfrm>
            <a:off x="9491472" y="3611880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8" name="Shape 26"/>
          <p:cNvSpPr/>
          <p:nvPr/>
        </p:nvSpPr>
        <p:spPr>
          <a:xfrm>
            <a:off x="7178040" y="3822192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9" name="Shape 27"/>
          <p:cNvSpPr/>
          <p:nvPr/>
        </p:nvSpPr>
        <p:spPr>
          <a:xfrm>
            <a:off x="7388352" y="3822192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0" name="Shape 28"/>
          <p:cNvSpPr/>
          <p:nvPr/>
        </p:nvSpPr>
        <p:spPr>
          <a:xfrm>
            <a:off x="7598664" y="3822192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1" name="Shape 29"/>
          <p:cNvSpPr/>
          <p:nvPr/>
        </p:nvSpPr>
        <p:spPr>
          <a:xfrm>
            <a:off x="7808976" y="3822192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Shape 30"/>
          <p:cNvSpPr/>
          <p:nvPr/>
        </p:nvSpPr>
        <p:spPr>
          <a:xfrm>
            <a:off x="8019288" y="3822192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3" name="Shape 31"/>
          <p:cNvSpPr/>
          <p:nvPr/>
        </p:nvSpPr>
        <p:spPr>
          <a:xfrm>
            <a:off x="8229600" y="3822192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4" name="Shape 32"/>
          <p:cNvSpPr/>
          <p:nvPr/>
        </p:nvSpPr>
        <p:spPr>
          <a:xfrm>
            <a:off x="8439912" y="3822192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5" name="Shape 33"/>
          <p:cNvSpPr/>
          <p:nvPr/>
        </p:nvSpPr>
        <p:spPr>
          <a:xfrm>
            <a:off x="8650224" y="3822192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6" name="Shape 34"/>
          <p:cNvSpPr/>
          <p:nvPr/>
        </p:nvSpPr>
        <p:spPr>
          <a:xfrm>
            <a:off x="8860536" y="3822192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7" name="Shape 35"/>
          <p:cNvSpPr/>
          <p:nvPr/>
        </p:nvSpPr>
        <p:spPr>
          <a:xfrm>
            <a:off x="9070848" y="3822192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8" name="Shape 36"/>
          <p:cNvSpPr/>
          <p:nvPr/>
        </p:nvSpPr>
        <p:spPr>
          <a:xfrm>
            <a:off x="9281160" y="3822192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9" name="Shape 37"/>
          <p:cNvSpPr/>
          <p:nvPr/>
        </p:nvSpPr>
        <p:spPr>
          <a:xfrm>
            <a:off x="9491472" y="3822192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0" name="Shape 38"/>
          <p:cNvSpPr/>
          <p:nvPr/>
        </p:nvSpPr>
        <p:spPr>
          <a:xfrm>
            <a:off x="7178040" y="4032504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1" name="Shape 39"/>
          <p:cNvSpPr/>
          <p:nvPr/>
        </p:nvSpPr>
        <p:spPr>
          <a:xfrm>
            <a:off x="7388352" y="4032504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2" name="Shape 40"/>
          <p:cNvSpPr/>
          <p:nvPr/>
        </p:nvSpPr>
        <p:spPr>
          <a:xfrm>
            <a:off x="7598664" y="4032504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3" name="Shape 41"/>
          <p:cNvSpPr/>
          <p:nvPr/>
        </p:nvSpPr>
        <p:spPr>
          <a:xfrm>
            <a:off x="7808976" y="4032504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4" name="Shape 42"/>
          <p:cNvSpPr/>
          <p:nvPr/>
        </p:nvSpPr>
        <p:spPr>
          <a:xfrm>
            <a:off x="8019288" y="4032504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5" name="Shape 43"/>
          <p:cNvSpPr/>
          <p:nvPr/>
        </p:nvSpPr>
        <p:spPr>
          <a:xfrm>
            <a:off x="8229600" y="4032504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6" name="Shape 44"/>
          <p:cNvSpPr/>
          <p:nvPr/>
        </p:nvSpPr>
        <p:spPr>
          <a:xfrm>
            <a:off x="8439912" y="4032504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7" name="Shape 45"/>
          <p:cNvSpPr/>
          <p:nvPr/>
        </p:nvSpPr>
        <p:spPr>
          <a:xfrm>
            <a:off x="8650224" y="4032504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8" name="Shape 46"/>
          <p:cNvSpPr/>
          <p:nvPr/>
        </p:nvSpPr>
        <p:spPr>
          <a:xfrm>
            <a:off x="8860536" y="4032504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9" name="Shape 47"/>
          <p:cNvSpPr/>
          <p:nvPr/>
        </p:nvSpPr>
        <p:spPr>
          <a:xfrm>
            <a:off x="9070848" y="4032504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0" name="Shape 48"/>
          <p:cNvSpPr/>
          <p:nvPr/>
        </p:nvSpPr>
        <p:spPr>
          <a:xfrm>
            <a:off x="9281160" y="4032504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1" name="Shape 49"/>
          <p:cNvSpPr/>
          <p:nvPr/>
        </p:nvSpPr>
        <p:spPr>
          <a:xfrm>
            <a:off x="9491472" y="4032504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2" name="Shape 50"/>
          <p:cNvSpPr/>
          <p:nvPr/>
        </p:nvSpPr>
        <p:spPr>
          <a:xfrm>
            <a:off x="7178040" y="4242816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3" name="Shape 51"/>
          <p:cNvSpPr/>
          <p:nvPr/>
        </p:nvSpPr>
        <p:spPr>
          <a:xfrm>
            <a:off x="7388352" y="4242816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4" name="Shape 52"/>
          <p:cNvSpPr/>
          <p:nvPr/>
        </p:nvSpPr>
        <p:spPr>
          <a:xfrm>
            <a:off x="7598664" y="4242816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5" name="Shape 53"/>
          <p:cNvSpPr/>
          <p:nvPr/>
        </p:nvSpPr>
        <p:spPr>
          <a:xfrm>
            <a:off x="7808976" y="4242816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6" name="Shape 54"/>
          <p:cNvSpPr/>
          <p:nvPr/>
        </p:nvSpPr>
        <p:spPr>
          <a:xfrm>
            <a:off x="8019288" y="4242816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7" name="Shape 55"/>
          <p:cNvSpPr/>
          <p:nvPr/>
        </p:nvSpPr>
        <p:spPr>
          <a:xfrm>
            <a:off x="8229600" y="4242816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8" name="Shape 56"/>
          <p:cNvSpPr/>
          <p:nvPr/>
        </p:nvSpPr>
        <p:spPr>
          <a:xfrm>
            <a:off x="8439912" y="4242816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9" name="Shape 57"/>
          <p:cNvSpPr/>
          <p:nvPr/>
        </p:nvSpPr>
        <p:spPr>
          <a:xfrm>
            <a:off x="8650224" y="4242816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0" name="Shape 58"/>
          <p:cNvSpPr/>
          <p:nvPr/>
        </p:nvSpPr>
        <p:spPr>
          <a:xfrm>
            <a:off x="8860536" y="4242816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1" name="Shape 59"/>
          <p:cNvSpPr/>
          <p:nvPr/>
        </p:nvSpPr>
        <p:spPr>
          <a:xfrm>
            <a:off x="9070848" y="4242816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2" name="Shape 60"/>
          <p:cNvSpPr/>
          <p:nvPr/>
        </p:nvSpPr>
        <p:spPr>
          <a:xfrm>
            <a:off x="9281160" y="4242816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3" name="Shape 61"/>
          <p:cNvSpPr/>
          <p:nvPr/>
        </p:nvSpPr>
        <p:spPr>
          <a:xfrm>
            <a:off x="9491472" y="4242816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4" name="Shape 62"/>
          <p:cNvSpPr/>
          <p:nvPr/>
        </p:nvSpPr>
        <p:spPr>
          <a:xfrm>
            <a:off x="7178040" y="4453128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5" name="Shape 63"/>
          <p:cNvSpPr/>
          <p:nvPr/>
        </p:nvSpPr>
        <p:spPr>
          <a:xfrm>
            <a:off x="7388352" y="4453128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6" name="Shape 64"/>
          <p:cNvSpPr/>
          <p:nvPr/>
        </p:nvSpPr>
        <p:spPr>
          <a:xfrm>
            <a:off x="7598664" y="4453128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7" name="Shape 65"/>
          <p:cNvSpPr/>
          <p:nvPr/>
        </p:nvSpPr>
        <p:spPr>
          <a:xfrm>
            <a:off x="7808976" y="4453128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8" name="Shape 66"/>
          <p:cNvSpPr/>
          <p:nvPr/>
        </p:nvSpPr>
        <p:spPr>
          <a:xfrm>
            <a:off x="8019288" y="4453128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9" name="Shape 67"/>
          <p:cNvSpPr/>
          <p:nvPr/>
        </p:nvSpPr>
        <p:spPr>
          <a:xfrm>
            <a:off x="8229600" y="4453128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0" name="Shape 68"/>
          <p:cNvSpPr/>
          <p:nvPr/>
        </p:nvSpPr>
        <p:spPr>
          <a:xfrm>
            <a:off x="8439912" y="4453128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1" name="Shape 69"/>
          <p:cNvSpPr/>
          <p:nvPr/>
        </p:nvSpPr>
        <p:spPr>
          <a:xfrm>
            <a:off x="8650224" y="4453128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2" name="Shape 70"/>
          <p:cNvSpPr/>
          <p:nvPr/>
        </p:nvSpPr>
        <p:spPr>
          <a:xfrm>
            <a:off x="8860536" y="4453128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3" name="Shape 71"/>
          <p:cNvSpPr/>
          <p:nvPr/>
        </p:nvSpPr>
        <p:spPr>
          <a:xfrm>
            <a:off x="9070848" y="4453128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4" name="Shape 72"/>
          <p:cNvSpPr/>
          <p:nvPr/>
        </p:nvSpPr>
        <p:spPr>
          <a:xfrm>
            <a:off x="9281160" y="4453128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5" name="Shape 73"/>
          <p:cNvSpPr/>
          <p:nvPr/>
        </p:nvSpPr>
        <p:spPr>
          <a:xfrm>
            <a:off x="9491472" y="4453128"/>
            <a:ext cx="146304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6" name="Text 74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關鍵：GPU 靠「同時跑很多」藏住記憶體延遲——但前提是資料餵得上。否則核心再多也在空等。</a:t>
            </a:r>
            <a:endParaRPr lang="en-US" sz="1500" dirty="0"/>
          </a:p>
        </p:txBody>
      </p:sp>
      <p:sp>
        <p:nvSpPr>
          <p:cNvPr id="77" name="Text 7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為什麼會慢？Roofline 與記憶體階層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一把尺：算術強度 (Arithmetic Intensity)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965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  =  </a:t>
            </a:r>
            <a:pPr algn="ctr"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完成運算的 FLOPs</a:t>
            </a:r>
            <a:pPr algn="ctr" indent="0" marL="0">
              <a:buNone/>
            </a:pPr>
            <a:r>
              <a:rPr lang="en-US" sz="3000" b="1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÷  </a:t>
            </a:r>
            <a:pPr algn="ctr"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需搬動的 Bytes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單位：FLOPs / Byte —— 每搬 1 個位元組，能換到幾次浮點運算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886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高 → compute-bound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43159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每搬一點資料就做很多運算，餵得飽算力。例：大方陣 GEMM，AI ≈ 數百。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365760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1C2E4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3886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低 → memory-bound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43159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大多時間在等資料。例：矩陣×向量 GEMV，AI ≈ 1–2（fp16）。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為什麼會慢？Roofline 與記憶體階層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Roofline：一眼看出你的天花板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1371600" y="2286000"/>
            <a:ext cx="0" cy="2926080"/>
          </a:xfrm>
          <a:prstGeom prst="line">
            <a:avLst/>
          </a:prstGeom>
          <a:noFill/>
          <a:ln w="19050">
            <a:solidFill>
              <a:srgbClr val="8FA6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5212080"/>
            <a:ext cx="5943600" cy="0"/>
          </a:xfrm>
          <a:prstGeom prst="line">
            <a:avLst/>
          </a:prstGeom>
          <a:noFill/>
          <a:ln w="19050">
            <a:solidFill>
              <a:srgbClr val="8FA6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371600" y="2286000"/>
            <a:ext cx="3268980" cy="2926080"/>
          </a:xfrm>
          <a:prstGeom prst="line">
            <a:avLst/>
          </a:prstGeom>
          <a:noFill/>
          <a:ln w="4445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40580" y="2286000"/>
            <a:ext cx="2674620" cy="0"/>
          </a:xfrm>
          <a:prstGeom prst="line">
            <a:avLst/>
          </a:prstGeom>
          <a:noFill/>
          <a:ln w="4445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0580" y="2286000"/>
            <a:ext cx="0" cy="2926080"/>
          </a:xfrm>
          <a:prstGeom prst="line">
            <a:avLst/>
          </a:prstGeom>
          <a:noFill/>
          <a:ln w="12700">
            <a:solidFill>
              <a:srgbClr val="5C729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112264" y="4215384"/>
            <a:ext cx="164592" cy="164592"/>
          </a:xfrm>
          <a:prstGeom prst="ellipse">
            <a:avLst/>
          </a:prstGeom>
          <a:solidFill>
            <a:srgbClr val="38BDF8"/>
          </a:solidFill>
          <a:ln w="19050">
            <a:solidFill>
              <a:srgbClr val="0E17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47004" y="2340864"/>
            <a:ext cx="164592" cy="164592"/>
          </a:xfrm>
          <a:prstGeom prst="ellipse">
            <a:avLst/>
          </a:prstGeom>
          <a:solidFill>
            <a:srgbClr val="F59E0B"/>
          </a:solidFill>
          <a:ln w="19050">
            <a:solidFill>
              <a:srgbClr val="0E17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945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可達成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算力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53218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算術強度 AI (FLOPs/Byte) 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26180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2C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ridge point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頻寬上限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9778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算力上限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74520" y="4343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GEMV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966460" y="23317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大 GEMM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0" y="1783080"/>
            <a:ext cx="3291840" cy="3657600"/>
          </a:xfrm>
          <a:prstGeom prst="roundRect">
            <a:avLst>
              <a:gd name="adj" fmla="val 2778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03920" y="205740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斜線 = 頻寬上限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(memory-bound)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平頂 = 算力上限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59E0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(compute-bound)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轉折 = ridge point</a:t>
            </a:r>
            <a:endParaRPr lang="en-US" sz="14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點落在斜線上 → 受頻寬限，換更強的算力也沒用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為什麼會慢？Roofline 與記憶體階層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Ridge point 範例：H100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2402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990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TFLOPS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BF16 tensor 峰值算力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1688" y="192024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61688" y="22402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3.35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361688" y="32004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TB/s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44568" y="3611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HBM3 記憶體頻寬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192024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83296" y="22402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AF1F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≈300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083296" y="32004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6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FLOPs/Byte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66176" y="3611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ridge point = 算力 ÷ 頻寬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算術強度 &lt; 300 的運算，再強的 tensor core 也餵不飽——你只能拿到「頻寬的速度」。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" y="5074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（數字為約略值，以官方規格為準）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為什麼會慢？Roofline 與記憶體階層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記憶體階層：每遠一站，慢一個數量級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91640"/>
          <a:ext cx="1033272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017520"/>
                <a:gridCol w="3931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層級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約略頻寬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備註</a:t>
                      </a:r>
                      <a:endParaRPr lang="en-US" sz="135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E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暫存器 Register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數十 TB/s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晶片內最快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共享記憶體 / L1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數十 TB/s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程式可控（tiling 的關鍵）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L2 cache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數 ~ 數十 TB/s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晶片內快取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HBM（GPU 全域記憶體）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5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2 ~ 4.8 TB/s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5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A100~2 / H100~3.35 / H200~4.8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5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NVLink（GPU↔GPU / C2C）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~900 GB/s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比 PCIe 快一個量級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PCIe（Host↔Device）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Gen4 ~32 / Gen5 ~64 GB/s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4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最常被跨越的瓶頸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24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CPU DRAM（DDR5）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~50 ~ 100+ GB/s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主機記憶體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NVMe SSD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~3 ~ 7 GB/s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AF1FB"/>
                          </a:solidFill>
                          <a:latin typeface="PingFang TC" pitchFamily="34" charset="0"/>
                          <a:ea typeface="PingFang TC" pitchFamily="34" charset="-122"/>
                          <a:cs typeface="PingFang TC" pitchFamily="34" charset="-120"/>
                        </a:rPr>
                        <a:t>資料集 / 權重來源</a:t>
                      </a:r>
                      <a:endParaRPr lang="en-US" sz="1300" dirty="0">
                        <a:latin typeface="PingFang TC" charset="0"/>
                        <a:ea typeface="PingFang TC" charset="0"/>
                        <a:cs typeface="PingFang T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HBM 是 TB/s、PCIe 是 GB/s——差約 100×。這就是為什麼「跨 PCIe 進出」這麼貴。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為什麼會慢？Roofline 與記憶體階層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38BDF8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心法：瓶頸＝資料必經的最慢那段路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356616" y="22860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NVMe SSD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56616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~7 GB/s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88336" y="2971800"/>
            <a:ext cx="685800" cy="0"/>
          </a:xfrm>
          <a:prstGeom prst="line">
            <a:avLst/>
          </a:prstGeom>
          <a:noFill/>
          <a:ln w="2540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19856" y="22860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19856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CPU DRAM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19856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~100 GB/s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51576" y="2971800"/>
            <a:ext cx="685800" cy="0"/>
          </a:xfrm>
          <a:prstGeom prst="line">
            <a:avLst/>
          </a:prstGeom>
          <a:noFill/>
          <a:ln w="50800">
            <a:solidFill>
              <a:srgbClr val="FB7185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522976" y="1828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PCIe ~32 GB/s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22976" y="37490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← 瓶頸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83096" y="22860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83096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HBM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83096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~3.3 TB/s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814816" y="2971800"/>
            <a:ext cx="685800" cy="0"/>
          </a:xfrm>
          <a:prstGeom prst="line">
            <a:avLst/>
          </a:prstGeom>
          <a:noFill/>
          <a:ln w="25400">
            <a:solidFill>
              <a:srgbClr val="5C729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46336" y="228600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546336" y="2560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運算單元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SM / Register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546336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數十 TB/s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HBM 內部再快，只要資料被迫反覆跨 PCIe 進出，整段就被最慢的 PCIe 拖住——這就是「memory 一進一出」的代價。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為什麼會慢？Roofline 與記憶體階層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74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記憶體與資料搬遷讀書會 · S1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17320" y="566928"/>
            <a:ext cx="10314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動手：roofline_mini demo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這個 demo 做什麼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跑不同形狀的矩陣乘法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量「達成 TFLOPS」與「算術強度」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看瘦長矩陣如何掉進 memory-bound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4572000" cy="822960"/>
          </a:xfrm>
          <a:prstGeom prst="rect">
            <a:avLst/>
          </a:prstGeom>
          <a:solidFill>
            <a:srgbClr val="0A1322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python run.py \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--peak-tflops 990 --peak-bw 3.35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會看到（示意）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2514600"/>
          <a:ext cx="4572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FA6C4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shape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8FA6C4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AI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8FA6C4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TFLOPS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8FA6C4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bound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GEMV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1.0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8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8BDF8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memory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skinny 64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1.9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61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8BDF8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memory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square 2048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341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612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9E0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compute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square 8192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1365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EAF1F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780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59E0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compute</a:t>
                      </a:r>
                      <a:endParaRPr lang="en-US" sz="12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D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322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62940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（數字示意；實際依 GPU 而定）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你會親眼看到：同一張卡，矩陣形狀就決定你落在 roofline 的哪一區。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為什麼會慢？Roofline 與記憶體階層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25912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299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本場帶走三件事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先問：compute-bound 還是 memory-bound？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54480" y="2121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用算術強度（FLOPs/Byte）這把尺判斷。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記憶體階層每遠一站，慢一個數量級。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54480" y="3172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瓶頸＝資料必經的最慢那段路（常是 PCIe）。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172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3794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很多 inference 的慢，是頻寬問題、不是算力問題。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554480" y="42245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換更貴的算力救不了 memory-bound。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6233A"/>
          </a:solidFill>
          <a:ln w="12700">
            <a:solidFill>
              <a:srgbClr val="2A3D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5120640"/>
            <a:ext cx="109728" cy="10058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1206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下一場 S2　</a:t>
            </a:r>
            <a:pPr indent="0" marL="0">
              <a:buNone/>
            </a:pPr>
            <a:r>
              <a:rPr lang="en-US" sz="1600" dirty="0">
                <a:solidFill>
                  <a:srgbClr val="EAF1F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GPU 架構與 HBM：資料在晶片內怎麼走（SM / warp / tensor core / shared memory）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S1 — 為什麼會慢？Roofline 與記憶體階層</dc:title>
  <dc:subject>PptxGenJS Presentation</dc:subject>
  <dc:creator>GPU 記憶體與資料搬遷讀書會</dc:creator>
  <cp:lastModifiedBy>GPU 記憶體與資料搬遷讀書會</cp:lastModifiedBy>
  <cp:revision>1</cp:revision>
  <dcterms:created xsi:type="dcterms:W3CDTF">2026-06-05T06:54:20Z</dcterms:created>
  <dcterms:modified xsi:type="dcterms:W3CDTF">2026-06-05T06:54:20Z</dcterms:modified>
</cp:coreProperties>
</file>