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第三堂課 · SGLang 單機篇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沿著 SGLang 遇到的問題走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263347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一個推論引擎，是被哪些問題逼出來的？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345643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① 程式難平行　② 前綴重算　③ 輸出不可控　④ CPU 成瓶頸　　（⑤–⑧ 多機問題見第四堂）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4114800"/>
            <a:ext cx="10332720" cy="1051560"/>
          </a:xfrm>
          <a:prstGeom prst="roundRect">
            <a:avLst>
              <a:gd name="adj" fmla="val 8696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143000" y="4114800"/>
            <a:ext cx="9875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這堂不照功能表講，照問題講。</a:t>
            </a:r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因為每個機制都是被一個具體的痛點逼出來的——先有痛點，機制才記得住。而所有痛點的根源只有一個：</a:t>
            </a:r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decode 是 memory-bound，GPU 大半時間在空轉。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 / 24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SGLang 單機篇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全景：SGLang 一路上遇到的八個問題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由淺入深，剛好走完「編程模型 → 單機記憶體 → 單機排程 → 多卡 → 多機」。本堂做前四個。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691640"/>
            <a:ext cx="10881360" cy="438912"/>
          </a:xfrm>
          <a:prstGeom prst="rect">
            <a:avLst/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691640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①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98448" y="1691640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LLM 程式（多次呼叫、分支、工具）難寫又跑不快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715000" y="1691640"/>
            <a:ext cx="274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→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35040" y="1691640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前端 DSL：把程式描述成執行圖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149840" y="169164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編程模型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" y="2185416"/>
            <a:ext cx="10881360" cy="438912"/>
          </a:xfrm>
          <a:prstGeom prst="rect">
            <a:avLst/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2185416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②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98448" y="2185416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這些程式天然共享大量前綴，卻被反覆重算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715000" y="2185416"/>
            <a:ext cx="274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→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35040" y="2185416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RadixAttention：前綴樹 + LRU + cache-aware 排程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149840" y="2185416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單機記憶體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" y="2679192"/>
            <a:ext cx="10881360" cy="438912"/>
          </a:xfrm>
          <a:prstGeom prst="rect">
            <a:avLst/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9808" y="2679192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78B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③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298448" y="2679192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結構化輸出逐 token 檢查語法太慢、格式仍不保證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715000" y="2679192"/>
            <a:ext cx="274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→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035040" y="2679192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Compressed FSM：預編譯 + 位元遮罩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0149840" y="267919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單機生成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40080" y="3172968"/>
            <a:ext cx="10881360" cy="438912"/>
          </a:xfrm>
          <a:prstGeom prst="rect">
            <a:avLst/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9808" y="3172968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④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98448" y="3172968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一步只要 5–10 ms，CPU 排程反而成了瓶頸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715000" y="3172968"/>
            <a:ext cx="274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→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035040" y="317296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zero-overhead scheduler / CUDA Graph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0149840" y="3172968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單機排程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0080" y="3666744"/>
            <a:ext cx="10881360" cy="438912"/>
          </a:xfrm>
          <a:prstGeom prst="rect">
            <a:avLst/>
          </a:prstGeom>
          <a:solidFill>
            <a:srgbClr val="0E1726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9808" y="3666744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⑤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298448" y="3666744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大 MoE（DeepSeek）單機放不下、專家負載不均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715000" y="3666744"/>
            <a:ext cx="274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→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035040" y="3666744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大規模 EP + DeepEP / EPLB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0149840" y="3666744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多卡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40080" y="4160520"/>
            <a:ext cx="10881360" cy="438912"/>
          </a:xfrm>
          <a:prstGeom prst="rect">
            <a:avLst/>
          </a:prstGeom>
          <a:solidFill>
            <a:srgbClr val="0E1726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9808" y="4160520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⑥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298448" y="4160520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prefill 與 decode 互相干擾（TTFT vs ITL）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5715000" y="4160520"/>
            <a:ext cx="274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→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035040" y="4160520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PD 分離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10149840" y="416052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多卡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40080" y="4654296"/>
            <a:ext cx="10881360" cy="438912"/>
          </a:xfrm>
          <a:prstGeom prst="rect">
            <a:avLst/>
          </a:prstGeom>
          <a:solidFill>
            <a:srgbClr val="0E1726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9808" y="4654296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⑦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1298448" y="4654296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多副本之間：快取局部性 vs 負載均衡此消彼長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715000" y="4654296"/>
            <a:ext cx="274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→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035040" y="4654296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cache-aware router + KV 複製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10149840" y="4654296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多機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40080" y="5148072"/>
            <a:ext cx="10881360" cy="438912"/>
          </a:xfrm>
          <a:prstGeom prst="rect">
            <a:avLst/>
          </a:prstGeom>
          <a:solidFill>
            <a:srgbClr val="0E1726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9808" y="5148072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⑧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298448" y="5148072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副本掛掉，進行中的請求與它的 KV 怎麼辦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5715000" y="5148072"/>
            <a:ext cx="274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→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035040" y="5148072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容錯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10149840" y="514807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多機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40080" y="3639312"/>
            <a:ext cx="10881360" cy="0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7" name="Text 55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線以上是本堂（單機），線以下是第四堂（多機）。同一條主幹，分兩次走完。</a:t>
            </a:r>
            <a:endParaRPr lang="en-US" sz="1450" dirty="0"/>
          </a:p>
        </p:txBody>
      </p:sp>
      <p:sp>
        <p:nvSpPr>
          <p:cNvPr id="58" name="Text 56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 / 24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SGLang 單機篇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B7185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地基①：所有問題的共同根源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在講任何機制之前，先確認「敵人是誰」。答案在第一堂就給過了。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691640"/>
            <a:ext cx="5303520" cy="3108960"/>
          </a:xfrm>
          <a:prstGeom prst="roundRect">
            <a:avLst>
              <a:gd name="adj" fmla="val 2941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96112" y="18470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每產一個 token（batch = 1）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96112" y="2331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搬（Bytes）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651760" y="23317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整份權重讀一遍 = 2N bytes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96112" y="28986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算（FLOPs）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51760" y="28986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每個參數一次乘加 = 2N FLOPs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96112" y="34655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算術強度 AI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346557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718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2N ÷ 2N = 1 FLOP/Byte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96112" y="4069080"/>
            <a:ext cx="4800600" cy="566928"/>
          </a:xfrm>
          <a:prstGeom prst="rect">
            <a:avLst/>
          </a:prstGeom>
          <a:solidFill>
            <a:srgbClr val="4A2433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" y="4069080"/>
            <a:ext cx="4800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B718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H100 ridge point ≈ 296 FLOPs/Byte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0" y="1691640"/>
            <a:ext cx="5120640" cy="3108960"/>
          </a:xfrm>
          <a:prstGeom prst="roundRect">
            <a:avLst>
              <a:gd name="adj" fmla="val 2941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656832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算力利用率上限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656832" y="22860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 ÷ 296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656832" y="27432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B718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≈ 0.34 %</a:t>
            </a:r>
            <a:endParaRPr lang="en-US" sz="5400" dirty="0"/>
          </a:p>
        </p:txBody>
      </p:sp>
      <p:sp>
        <p:nvSpPr>
          <p:cNvPr id="21" name="Text 19"/>
          <p:cNvSpPr/>
          <p:nvPr/>
        </p:nvSpPr>
        <p:spPr>
          <a:xfrm>
            <a:off x="6656832" y="37947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你買的 H100，99.7% 的算力在閒置。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卡越強，batch=1 越浪費（A100 是 0.6%）。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23" name="Text 21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接下來每一個問題，本質上都是「這 99.7% 為什麼填不滿」的不同面向。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地基 · 為什麼這些問題都指向同一件事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 / 24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SGLang 單機篇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地基②：AI ≈ B，所以答案永遠是「把 batch 撐大撐滿」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1325880"/>
            <a:ext cx="10881360" cy="1463040"/>
          </a:xfrm>
          <a:prstGeom prst="roundRect">
            <a:avLst>
              <a:gd name="adj" fmla="val 6250"/>
            </a:avLst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144475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搬：權重還是只讀「一遍」（2N bytes）　　算：2N × B FLOPs　　→　AI ≈ B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1938528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既然 ridge point ≈ 296，B 要拉到「幾百」GPU 才餵得飽。而 B 撐不大的每一個理由，就是後面每一個問題。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14400" y="2331720"/>
            <a:ext cx="10332720" cy="384048"/>
          </a:xfrm>
          <a:prstGeom prst="rect">
            <a:avLst/>
          </a:prstGeom>
          <a:solidFill>
            <a:srgbClr val="4A341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331720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Llama-3-8B on H100：batch=1 ≈ 208 tok/s　→　batch=64 ≈ 13,000 tok/s（步時幾乎不變）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3017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四個問題各自擋住 B 的哪一段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3429000"/>
            <a:ext cx="10881360" cy="475488"/>
          </a:xfrm>
          <a:prstGeom prst="rect">
            <a:avLst/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342900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①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98448" y="342900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程式難平行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383280" y="3429000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根本沒有那麼多請求同時進來——runtime 看不見可平行的分支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959352"/>
            <a:ext cx="10881360" cy="475488"/>
          </a:xfrm>
          <a:prstGeom prst="rect">
            <a:avLst/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959352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②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98448" y="395935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前綴重算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383280" y="3959352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HBM 被浪費的 KV 佔住 → 放不下更多條；算力浪費在不必算的東西上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489704"/>
            <a:ext cx="10881360" cy="475488"/>
          </a:xfrm>
          <a:prstGeom prst="rect">
            <a:avLst/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9808" y="4489704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78B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③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98448" y="448970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輸出不可控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383280" y="4489704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每步的語法檢查是 CPU 上的序列工作 → 拖慢整批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20056"/>
            <a:ext cx="10881360" cy="475488"/>
          </a:xfrm>
          <a:prstGeom prst="rect">
            <a:avLst/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9808" y="5020056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④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298448" y="502005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CPU 成瓶頸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383280" y="5020056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算完在等 CPU 決定下一步 → 有效 batch 再大也填不滿時間軸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9" name="Text 27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把這張圖記住，後面就不會覺得是在背功能表——每個機制都在拆掉擋住 B 的一塊石頭。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地基 · 為什麼這些問題都指向同一件事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 / 24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SGLang 單機篇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問題①：LLM 程式難寫，而且跑不快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172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① 程式難平行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007108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07108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② 前綴重算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74136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74136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③ 輸出不可控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41164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41164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④ CPU 成瓶頸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3902" y="1207008"/>
            <a:ext cx="0" cy="548640"/>
          </a:xfrm>
          <a:prstGeom prst="line">
            <a:avLst/>
          </a:prstGeom>
          <a:noFill/>
          <a:ln w="12700">
            <a:solidFill>
              <a:srgbClr val="5C7299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6108192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1C2E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08192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⑤ 大 MoE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475220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1C2E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75220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⑥ P/D 互擾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842248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1C2E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42248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⑦ 多機調度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0209276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1C2E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09276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⑧ 容錯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40080" y="1737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本堂（單機）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217920" y="1737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第四堂（多機）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40080" y="214884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68680" y="2487168"/>
            <a:ext cx="685800" cy="685800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/>
        </p:spPr>
      </p:sp>
      <p:sp>
        <p:nvSpPr>
          <p:cNvPr id="27" name="Text 25"/>
          <p:cNvSpPr/>
          <p:nvPr/>
        </p:nvSpPr>
        <p:spPr>
          <a:xfrm>
            <a:off x="868680" y="248716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①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783080" y="228600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Python 迴圈把「依賴關係」寫死在控制流裡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1783080" y="2761488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多次呼叫、分支、工具使用、self-consistency 取樣——這些步驟裡有很多其實可以同時跑，但你用 for 迴圈寫出來之後，runtime 只看得到「一個接一個的請求」，看不見哪幾步彼此無關。加上 Python 的 GIL，前端本身也不擅長真正的並行。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749040"/>
            <a:ext cx="3520440" cy="1417320"/>
          </a:xfrm>
          <a:prstGeom prst="roundRect">
            <a:avLst>
              <a:gd name="adj" fmla="val 6452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22960" y="385876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寫的人痛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22960" y="42062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2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分支、重試、工具呼叫的膠水程式又臭又長</a:t>
            </a:r>
            <a:endParaRPr lang="en-US" sz="1120" dirty="0"/>
          </a:p>
        </p:txBody>
      </p:sp>
      <p:sp>
        <p:nvSpPr>
          <p:cNvPr id="33" name="Shape 31"/>
          <p:cNvSpPr/>
          <p:nvPr/>
        </p:nvSpPr>
        <p:spPr>
          <a:xfrm>
            <a:off x="4325112" y="3749040"/>
            <a:ext cx="3520440" cy="1417320"/>
          </a:xfrm>
          <a:prstGeom prst="roundRect">
            <a:avLst>
              <a:gd name="adj" fmla="val 6452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507992" y="385876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跑的人痛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507992" y="42062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2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runtime 收到的是一串互不相干的請求，無從批處理</a:t>
            </a:r>
            <a:endParaRPr lang="en-US" sz="1120" dirty="0"/>
          </a:p>
        </p:txBody>
      </p:sp>
      <p:sp>
        <p:nvSpPr>
          <p:cNvPr id="36" name="Shape 34"/>
          <p:cNvSpPr/>
          <p:nvPr/>
        </p:nvSpPr>
        <p:spPr>
          <a:xfrm>
            <a:off x="8010144" y="3749040"/>
            <a:ext cx="3520440" cy="1417320"/>
          </a:xfrm>
          <a:prstGeom prst="roundRect">
            <a:avLst>
              <a:gd name="adj" fmla="val 6452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8193024" y="385876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更痛的是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193024" y="42062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2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這些請求其實高度共享前綴（同一個 system prompt、同一段歷史），但沒人告訴 runtime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0" name="Text 38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SGLang 的名字就是這裡來的：Structured Generation Language——它先是一個語言，才是一個引擎。</a:t>
            </a:r>
            <a:endParaRPr lang="en-US" sz="1450" dirty="0"/>
          </a:p>
        </p:txBody>
      </p:sp>
      <p:sp>
        <p:nvSpPr>
          <p:cNvPr id="41" name="Text 39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問題① 程式難平行 → 前端 DSL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5 / 24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SGLang 單機篇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05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解法①：把程式描述成一張執行圖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前端 DSL（sgl.gen / sgl.fork / sgl.select）不是語法糖——它讓 runtime 看見「什麼依賴什麼」。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645920"/>
            <a:ext cx="5029200" cy="3291840"/>
          </a:xfrm>
          <a:prstGeom prst="roundRect">
            <a:avLst>
              <a:gd name="adj" fmla="val 2778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17556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Python for 迴圈：序列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1874520" y="214884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16233A"/>
          </a:solidFill>
          <a:ln w="19050">
            <a:solidFill>
              <a:srgbClr val="FB718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7452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prompt + 分支 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154680" y="2624328"/>
            <a:ext cx="0" cy="164592"/>
          </a:xfrm>
          <a:prstGeom prst="line">
            <a:avLst/>
          </a:prstGeom>
          <a:noFill/>
          <a:ln w="31750">
            <a:solidFill>
              <a:srgbClr val="5C7299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874520" y="2807208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16233A"/>
          </a:solidFill>
          <a:ln w="19050">
            <a:solidFill>
              <a:srgbClr val="FB718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74520" y="28072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prompt + 分支 B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154680" y="3282696"/>
            <a:ext cx="0" cy="164592"/>
          </a:xfrm>
          <a:prstGeom prst="line">
            <a:avLst/>
          </a:prstGeom>
          <a:noFill/>
          <a:ln w="31750">
            <a:solidFill>
              <a:srgbClr val="5C729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874520" y="3465576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16233A"/>
          </a:solidFill>
          <a:ln w="19050">
            <a:solidFill>
              <a:srgbClr val="FB718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74520" y="3465576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prompt + 分支 C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154680" y="3941064"/>
            <a:ext cx="0" cy="164592"/>
          </a:xfrm>
          <a:prstGeom prst="line">
            <a:avLst/>
          </a:prstGeom>
          <a:noFill/>
          <a:ln w="31750">
            <a:solidFill>
              <a:srgbClr val="5C729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874520" y="4123944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16233A"/>
          </a:solidFill>
          <a:ln w="19050">
            <a:solidFill>
              <a:srgbClr val="FB718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74520" y="412394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彙整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68680" y="4572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runtime 看到的是 4 個先後到達的請求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852160" y="3108960"/>
            <a:ext cx="640080" cy="0"/>
          </a:xfrm>
          <a:prstGeom prst="line">
            <a:avLst/>
          </a:prstGeom>
          <a:noFill/>
          <a:ln w="31750">
            <a:solidFill>
              <a:srgbClr val="8FA6C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720840" y="1645920"/>
            <a:ext cx="4800600" cy="3291840"/>
          </a:xfrm>
          <a:prstGeom prst="roundRect">
            <a:avLst>
              <a:gd name="adj" fmla="val 2778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949440" y="175564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sgl.fork()：一張圖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8092440" y="2148840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16233A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92440" y="21488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共享 prompt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595360" y="2624328"/>
            <a:ext cx="0" cy="256032"/>
          </a:xfrm>
          <a:prstGeom prst="line">
            <a:avLst/>
          </a:prstGeom>
          <a:noFill/>
          <a:ln w="31750">
            <a:solidFill>
              <a:srgbClr val="A78BFA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7040880" y="2971800"/>
            <a:ext cx="1325880" cy="457200"/>
          </a:xfrm>
          <a:prstGeom prst="roundRect">
            <a:avLst>
              <a:gd name="adj" fmla="val 12000"/>
            </a:avLst>
          </a:prstGeom>
          <a:solidFill>
            <a:srgbClr val="16233A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40880" y="297180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分支 A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522208" y="2971800"/>
            <a:ext cx="1325880" cy="457200"/>
          </a:xfrm>
          <a:prstGeom prst="roundRect">
            <a:avLst>
              <a:gd name="adj" fmla="val 12000"/>
            </a:avLst>
          </a:prstGeom>
          <a:solidFill>
            <a:srgbClr val="16233A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22208" y="297180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分支 B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003536" y="2971800"/>
            <a:ext cx="1325880" cy="457200"/>
          </a:xfrm>
          <a:prstGeom prst="roundRect">
            <a:avLst>
              <a:gd name="adj" fmla="val 12000"/>
            </a:avLst>
          </a:prstGeom>
          <a:solidFill>
            <a:srgbClr val="16233A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003536" y="297180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分支 C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949440" y="35204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▼ 三條可同時跑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092440" y="3840480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16233A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09244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彙整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949440" y="44348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runtime 看到：一個共享前綴 + 三條可平行分支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8" name="Text 36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關鍵副作用：fork 產生的分支天然共享同一段前綴——這正好把問題② 端到 RadixAttention 面前。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問題① 程式難平行 → 前端 DSL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6 / 24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SGLang 單機篇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06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但是——好寫的並行程式，會製造出大量重複計算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DSL 解決了「看得見平行」，卻立刻暴露下一個問題：那些分支的前綴，難道要各算一遍？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691640"/>
            <a:ext cx="10881360" cy="1737360"/>
          </a:xfrm>
          <a:prstGeom prst="roundRect">
            <a:avLst>
              <a:gd name="adj" fmla="val 5263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96112" y="18013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一個 fork 出 8 條分支的程式，system prompt 2,000 token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960120" y="224028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分支 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77440" y="2240280"/>
            <a:ext cx="6446520" cy="310896"/>
          </a:xfrm>
          <a:prstGeom prst="rect">
            <a:avLst/>
          </a:prstGeom>
          <a:solidFill>
            <a:srgbClr val="F59E0B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77440" y="2240280"/>
            <a:ext cx="6446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重算 system prompt（2,000 token prefill）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8823960" y="2240280"/>
            <a:ext cx="2148840" cy="310896"/>
          </a:xfrm>
          <a:prstGeom prst="rect">
            <a:avLst/>
          </a:prstGeom>
          <a:solidFill>
            <a:srgbClr val="38BDF8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23960" y="224028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真正新增的內容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60120" y="258775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分支 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377440" y="2587752"/>
            <a:ext cx="6446520" cy="310896"/>
          </a:xfrm>
          <a:prstGeom prst="rect">
            <a:avLst/>
          </a:prstGeom>
          <a:solidFill>
            <a:srgbClr val="F59E0B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77440" y="2587752"/>
            <a:ext cx="6446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又算一遍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8823960" y="2587752"/>
            <a:ext cx="2148840" cy="310896"/>
          </a:xfrm>
          <a:prstGeom prst="rect">
            <a:avLst/>
          </a:prstGeom>
          <a:solidFill>
            <a:srgbClr val="38BDF8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23960" y="2587752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新增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960120" y="2935224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分支 3–8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377440" y="2935224"/>
            <a:ext cx="6446520" cy="310896"/>
          </a:xfrm>
          <a:prstGeom prst="rect">
            <a:avLst/>
          </a:prstGeom>
          <a:solidFill>
            <a:srgbClr val="F59E0B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377440" y="2935224"/>
            <a:ext cx="6446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又算一遍 ×8…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8823960" y="2935224"/>
            <a:ext cx="2148840" cy="310896"/>
          </a:xfrm>
          <a:prstGeom prst="rect">
            <a:avLst/>
          </a:prstGeom>
          <a:solidFill>
            <a:srgbClr val="38BDF8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23960" y="293522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新增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40080" y="3657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而且真實流量本來就長這樣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40080" y="4069080"/>
            <a:ext cx="2606040" cy="91440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416052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RAG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77240" y="44622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同幾份文件反覆進 prompt</a:t>
            </a:r>
            <a:endParaRPr lang="en-US" sz="1080" dirty="0"/>
          </a:p>
        </p:txBody>
      </p:sp>
      <p:sp>
        <p:nvSpPr>
          <p:cNvPr id="28" name="Shape 26"/>
          <p:cNvSpPr/>
          <p:nvPr/>
        </p:nvSpPr>
        <p:spPr>
          <a:xfrm>
            <a:off x="3383280" y="4069080"/>
            <a:ext cx="2606040" cy="91440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20440" y="416052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多輪對話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3520440" y="44622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每輪都帶著整段歷史</a:t>
            </a:r>
            <a:endParaRPr lang="en-US" sz="1080" dirty="0"/>
          </a:p>
        </p:txBody>
      </p:sp>
      <p:sp>
        <p:nvSpPr>
          <p:cNvPr id="31" name="Shape 29"/>
          <p:cNvSpPr/>
          <p:nvPr/>
        </p:nvSpPr>
        <p:spPr>
          <a:xfrm>
            <a:off x="6126480" y="4069080"/>
            <a:ext cx="2606040" cy="91440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63640" y="416052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Few-shot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63640" y="44622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同一批範例貼在每個請求前面</a:t>
            </a:r>
            <a:endParaRPr lang="en-US" sz="1080" dirty="0"/>
          </a:p>
        </p:txBody>
      </p:sp>
      <p:sp>
        <p:nvSpPr>
          <p:cNvPr id="34" name="Shape 32"/>
          <p:cNvSpPr/>
          <p:nvPr/>
        </p:nvSpPr>
        <p:spPr>
          <a:xfrm>
            <a:off x="8869680" y="4069080"/>
            <a:ext cx="2606040" cy="91440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006840" y="416052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Agent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9006840" y="44622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工具描述 + 前面所有步驟</a:t>
            </a:r>
            <a:endParaRPr lang="en-US" sz="1080" dirty="0"/>
          </a:p>
        </p:txBody>
      </p:sp>
      <p:sp>
        <p:nvSpPr>
          <p:cNvPr id="37" name="Shape 35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8" name="Text 36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所以問題②不是「順便做個快取」，它是 DSL 這條路能不能走通的前提。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問題① 程式難平行 → 前端 DSL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7 / 24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SGLang 單機篇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07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問題②：共享前綴被反覆重算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① 程式難平行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007108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07108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172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② 前綴重算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74136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74136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③ 輸出不可控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41164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41164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④ CPU 成瓶頸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3902" y="1207008"/>
            <a:ext cx="0" cy="548640"/>
          </a:xfrm>
          <a:prstGeom prst="line">
            <a:avLst/>
          </a:prstGeom>
          <a:noFill/>
          <a:ln w="12700">
            <a:solidFill>
              <a:srgbClr val="5C7299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6108192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1C2E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08192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⑤ 大 MoE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475220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1C2E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75220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⑥ P/D 互擾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842248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1C2E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42248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⑦ 多機調度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0209276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1C2E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09276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⑧ 容錯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40080" y="1737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本堂（單機）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217920" y="1737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第四堂（多機）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40080" y="214884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68680" y="2487168"/>
            <a:ext cx="685800" cy="685800"/>
          </a:xfrm>
          <a:prstGeom prst="roundRect">
            <a:avLst>
              <a:gd name="adj" fmla="val 16000"/>
            </a:avLst>
          </a:prstGeom>
          <a:solidFill>
            <a:srgbClr val="38BDF8"/>
          </a:solidFill>
          <a:ln/>
        </p:spPr>
      </p:sp>
      <p:sp>
        <p:nvSpPr>
          <p:cNvPr id="27" name="Text 25"/>
          <p:cNvSpPr/>
          <p:nvPr/>
        </p:nvSpPr>
        <p:spPr>
          <a:xfrm>
            <a:off x="868680" y="248716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②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783080" y="228600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要複用前綴，得先解決「KV cache 怎麼放」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1783080" y="2761488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複用的東西是 KV cache。但傳統做法是照 max_seq_len 連續預留一整塊——不知道會生成多長，只好照最壞情況要。結果多數請求只用到預留量的 20–30%，其餘是死重，HBM 放不下更多條（B 上不去），更別說跨請求共享。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703320"/>
            <a:ext cx="5303520" cy="1463040"/>
          </a:xfrm>
          <a:prstGeom prst="roundRect">
            <a:avLst>
              <a:gd name="adj" fmla="val 6250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68680" y="37947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KV cache 一個 token 多少？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868680" y="4114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2(K,V) × n_kv_heads × head_dim × n_layers × dtype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68680" y="440740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Llama-3-8B（GQA 8 heads、128 dim、32 層、fp16）＝ 128 KB/token → 一條 8K 序列就是 1 GB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263640" y="379476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預留 vs 實際使用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6263640" y="4160520"/>
            <a:ext cx="5257800" cy="502920"/>
          </a:xfrm>
          <a:prstGeom prst="rect">
            <a:avLst/>
          </a:prstGeom>
          <a:solidFill>
            <a:srgbClr val="1C2E4A"/>
          </a:solidFill>
          <a:ln w="15240">
            <a:solidFill>
              <a:srgbClr val="FB718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63640" y="4160520"/>
            <a:ext cx="1314450" cy="5029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7" name="Text 35"/>
          <p:cNvSpPr/>
          <p:nvPr/>
        </p:nvSpPr>
        <p:spPr>
          <a:xfrm>
            <a:off x="6263640" y="4160520"/>
            <a:ext cx="131445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72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用到 25%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578090" y="4160520"/>
            <a:ext cx="394335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浪費的 60–80%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263640" y="470916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放得下的條數直接被砍到 1/4 → B 上不去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1" name="Text 39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記憶體碎片化不是「記憶體問題」，是 batch size 問題；batch size 就是 GPU 利用率。</a:t>
            </a:r>
            <a:endParaRPr lang="en-US" sz="1450" dirty="0"/>
          </a:p>
        </p:txBody>
      </p:sp>
      <p:sp>
        <p:nvSpPr>
          <p:cNvPr id="42" name="Text 40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問題② 前綴重算 → RadixAttention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8 / 24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SGLang 單機篇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08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第一層解法：分頁——KV cache 怎麼「放」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把 1960 年代的虛擬記憶體分頁機制搬到 KV cache 上（vLLM 的 PagedAttention 讓它出名，SGLang 底下同樣是分頁式記憶體池）。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16642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邏輯序列（使用者看到的）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011680"/>
            <a:ext cx="2468880" cy="457200"/>
          </a:xfrm>
          <a:prstGeom prst="roundRect">
            <a:avLst>
              <a:gd name="adj" fmla="val 12000"/>
            </a:avLst>
          </a:prstGeom>
          <a:solidFill>
            <a:srgbClr val="16233A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0116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tok 0–15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578608"/>
            <a:ext cx="2468880" cy="457200"/>
          </a:xfrm>
          <a:prstGeom prst="roundRect">
            <a:avLst>
              <a:gd name="adj" fmla="val 12000"/>
            </a:avLst>
          </a:prstGeom>
          <a:solidFill>
            <a:srgbClr val="16233A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5786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tok 16–31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145536"/>
            <a:ext cx="2468880" cy="457200"/>
          </a:xfrm>
          <a:prstGeom prst="roundRect">
            <a:avLst>
              <a:gd name="adj" fmla="val 12000"/>
            </a:avLst>
          </a:prstGeom>
          <a:solidFill>
            <a:srgbClr val="16233A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14553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tok 32–47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29000" y="1874520"/>
            <a:ext cx="2286000" cy="2194560"/>
          </a:xfrm>
          <a:prstGeom prst="roundRect">
            <a:avLst>
              <a:gd name="adj" fmla="val 4167"/>
            </a:avLst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429000" y="196596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block table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566160" y="23317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 → #47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566160" y="27889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 → #12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566160" y="32461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 → #89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14600" y="2240280"/>
            <a:ext cx="822960" cy="0"/>
          </a:xfrm>
          <a:prstGeom prst="line">
            <a:avLst/>
          </a:prstGeom>
          <a:noFill/>
          <a:ln w="31750">
            <a:solidFill>
              <a:srgbClr val="38BDF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806440" y="2240280"/>
            <a:ext cx="68580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6583680" y="16642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實體 HBM block pool（16 token / block，可不連續）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583680" y="2011680"/>
            <a:ext cx="841248" cy="402336"/>
          </a:xfrm>
          <a:prstGeom prst="rect">
            <a:avLst/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43800" y="2011680"/>
            <a:ext cx="841248" cy="402336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03920" y="2011680"/>
            <a:ext cx="841248" cy="402336"/>
          </a:xfrm>
          <a:prstGeom prst="rect">
            <a:avLst/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64040" y="2011680"/>
            <a:ext cx="841248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424160" y="2011680"/>
            <a:ext cx="841248" cy="402336"/>
          </a:xfrm>
          <a:prstGeom prst="rect">
            <a:avLst/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0" y="2523744"/>
            <a:ext cx="841248" cy="402336"/>
          </a:xfrm>
          <a:prstGeom prst="rect">
            <a:avLst/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543800" y="2523744"/>
            <a:ext cx="841248" cy="402336"/>
          </a:xfrm>
          <a:prstGeom prst="rect">
            <a:avLst/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503920" y="2523744"/>
            <a:ext cx="841248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464040" y="2523744"/>
            <a:ext cx="841248" cy="402336"/>
          </a:xfrm>
          <a:prstGeom prst="rect">
            <a:avLst/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424160" y="2523744"/>
            <a:ext cx="841248" cy="402336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680" y="3035808"/>
            <a:ext cx="841248" cy="402336"/>
          </a:xfrm>
          <a:prstGeom prst="rect">
            <a:avLst/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43800" y="3035808"/>
            <a:ext cx="841248" cy="402336"/>
          </a:xfrm>
          <a:prstGeom prst="rect">
            <a:avLst/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503920" y="3035808"/>
            <a:ext cx="841248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464040" y="3035808"/>
            <a:ext cx="841248" cy="402336"/>
          </a:xfrm>
          <a:prstGeom prst="rect">
            <a:avLst/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424160" y="3035808"/>
            <a:ext cx="841248" cy="402336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583680" y="3547872"/>
            <a:ext cx="841248" cy="402336"/>
          </a:xfrm>
          <a:prstGeom prst="rect">
            <a:avLst/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543800" y="3547872"/>
            <a:ext cx="841248" cy="402336"/>
          </a:xfrm>
          <a:prstGeom prst="rect">
            <a:avLst/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503920" y="3547872"/>
            <a:ext cx="841248" cy="402336"/>
          </a:xfrm>
          <a:prstGeom prst="rect">
            <a:avLst/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464040" y="3547872"/>
            <a:ext cx="841248" cy="402336"/>
          </a:xfrm>
          <a:prstGeom prst="rect">
            <a:avLst/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424160" y="3547872"/>
            <a:ext cx="841248" cy="402336"/>
          </a:xfrm>
          <a:prstGeom prst="rect">
            <a:avLst/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83680" y="4206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■ 請求 A　</a:t>
            </a:r>
            <a:pPr indent="0" marL="0">
              <a:buNone/>
            </a:pPr>
            <a:r>
              <a:rPr lang="en-US" sz="1050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■ 請求 B　</a:t>
            </a:r>
            <a:pPr indent="0" marL="0">
              <a:buNone/>
            </a:pPr>
            <a:r>
              <a:rPr lang="en-US" sz="1050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■ 請求 C　</a:t>
            </a:r>
            <a:pPr indent="0" marL="0">
              <a:buNone/>
            </a:pPr>
            <a:r>
              <a:rPr lang="en-US" sz="10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■ free_block_queue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40080" y="4663440"/>
            <a:ext cx="2606040" cy="475488"/>
          </a:xfrm>
          <a:prstGeom prst="roundRect">
            <a:avLst>
              <a:gd name="adj" fmla="val 50000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4663440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浪費 60–80% → &lt; 4%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3383280" y="4663440"/>
            <a:ext cx="2606040" cy="475488"/>
          </a:xfrm>
          <a:prstGeom prst="roundRect">
            <a:avLst>
              <a:gd name="adj" fmla="val 50000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83280" y="4663440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用完才要、不用連續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126480" y="4663440"/>
            <a:ext cx="2606040" cy="475488"/>
          </a:xfrm>
          <a:prstGeom prst="roundRect">
            <a:avLst>
              <a:gd name="adj" fmla="val 50000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126480" y="4663440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請求結束立刻歸還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869680" y="4663440"/>
            <a:ext cx="2606040" cy="475488"/>
          </a:xfrm>
          <a:prstGeom prst="roundRect">
            <a:avLst>
              <a:gd name="adj" fmla="val 50000"/>
            </a:avLst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869680" y="4663440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block 可跨請求共享 ←關鍵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2" name="Text 50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最後那格才是重點：block 能被多個請求指向——這就打開了「複用」的門。</a:t>
            </a:r>
            <a:endParaRPr lang="en-US" sz="1450" dirty="0"/>
          </a:p>
        </p:txBody>
      </p:sp>
      <p:sp>
        <p:nvSpPr>
          <p:cNvPr id="53" name="Text 51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問題② 前綴重算 → RadixAttention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9 / 24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SGLang 單機篇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A78BFA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09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第二層解法：RadixAttention——block 怎麼被「找到」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光能共享還不夠，得有人負責「這個新請求的前綴，之前算過嗎？算到哪？」——這是索引問題。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1645920"/>
            <a:ext cx="6035040" cy="3200400"/>
          </a:xfrm>
          <a:prstGeom prst="roundRect">
            <a:avLst>
              <a:gd name="adj" fmla="val 2857"/>
            </a:avLst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1755648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KV cache 組成一棵 radix tree（鍵＝token 序列）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68880" y="2194560"/>
            <a:ext cx="2377440" cy="457200"/>
          </a:xfrm>
          <a:prstGeom prst="roundRect">
            <a:avLst>
              <a:gd name="adj" fmla="val 12000"/>
            </a:avLst>
          </a:prstGeom>
          <a:solidFill>
            <a:srgbClr val="16233A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68880" y="2194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共用 system prompt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0" y="2670048"/>
            <a:ext cx="0" cy="384048"/>
          </a:xfrm>
          <a:prstGeom prst="line">
            <a:avLst/>
          </a:prstGeom>
          <a:noFill/>
          <a:ln w="31750">
            <a:solidFill>
              <a:srgbClr val="A78BF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389120" y="2670048"/>
            <a:ext cx="0" cy="384048"/>
          </a:xfrm>
          <a:prstGeom prst="line">
            <a:avLst/>
          </a:prstGeom>
          <a:noFill/>
          <a:ln w="31750">
            <a:solidFill>
              <a:srgbClr val="A78BF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188720" y="3072384"/>
            <a:ext cx="2377440" cy="438912"/>
          </a:xfrm>
          <a:prstGeom prst="roundRect">
            <a:avLst>
              <a:gd name="adj" fmla="val 12500"/>
            </a:avLst>
          </a:prstGeom>
          <a:solidFill>
            <a:srgbClr val="16233A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307238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對話 A · 第 1 輪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0" y="3072384"/>
            <a:ext cx="2377440" cy="438912"/>
          </a:xfrm>
          <a:prstGeom prst="roundRect">
            <a:avLst>
              <a:gd name="adj" fmla="val 12500"/>
            </a:avLst>
          </a:prstGeom>
          <a:solidFill>
            <a:srgbClr val="16233A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0" y="307238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對話 B · 第 1 輪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377440" y="3529584"/>
            <a:ext cx="0" cy="365760"/>
          </a:xfrm>
          <a:prstGeom prst="line">
            <a:avLst/>
          </a:prstGeom>
          <a:noFill/>
          <a:ln w="31750">
            <a:solidFill>
              <a:srgbClr val="38BDF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188720" y="3931920"/>
            <a:ext cx="2377440" cy="438912"/>
          </a:xfrm>
          <a:prstGeom prst="roundRect">
            <a:avLst>
              <a:gd name="adj" fmla="val 12500"/>
            </a:avLst>
          </a:prstGeom>
          <a:solidFill>
            <a:srgbClr val="16233A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0" y="3931920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對話 A · 第 2 輪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68680" y="4443984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命中的節點直接複用 KV block，只 prefill 新增那一段；LRU 淘汰 + cache-aware 排程把命中率最大化。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6995160" y="1645920"/>
            <a:ext cx="4526280" cy="3200400"/>
          </a:xfrm>
          <a:prstGeom prst="roundRect">
            <a:avLst>
              <a:gd name="adj" fmla="val 2857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223760" y="17556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⚠️ 最常見的誤解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223760" y="21214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前綴匹配是嚴格按 token 順序從頭比對。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223760" y="24505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「怎麼退貨」與「運費怎麼算」都含「怎麼」——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223760" y="2743200"/>
            <a:ext cx="4069080" cy="411480"/>
          </a:xfrm>
          <a:prstGeom prst="rect">
            <a:avLst/>
          </a:prstGeom>
          <a:solidFill>
            <a:srgbClr val="4A2433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23760" y="274320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但它們不會被合併成同一個節點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223760" y="324612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只有共同「開頭」才算數。局部相同沒有用——因為 KV 是按位置逐 token 累積出來的，第 3 個 token 的 K/V 依賴前面 2 個。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223760" y="41148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快取滿了：LRU 淘汰最久未複用的節點；也可分層下放 CPU／磁碟。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30" name="Text 28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SGLang 論文宣稱：可共用前綴的工作負載，最高 6.4× 吞吐。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問題② 前綴重算 → RadixAttention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10 / 24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SGLang 單機篇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4D39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10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澄清：「RadixAttention vs PagedAttention」是假對立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網路文章常把兩者寫成競品。它們其實在不同層——而且 SGLang 兩層都有。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69164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18013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索引 / 複用層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749040" y="1801368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已經放好的 KV block 怎麼被找到並複用？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14400" y="225856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SGLang：radix tree（前綴樹）　｜　vLLM：16-token 區塊的滾動雜湊表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301752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14400" y="312724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記憶體配置層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749040" y="3127248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KV cache 在 HBM 裡怎麼放？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14400" y="35844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兩邊都是分頁式：固定大小 block、不連續、用完才要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14400" y="28346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▲ 蓋在上面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434340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96112" y="434340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所以真正的差異是「索引結構與排程策略」（radix tree + cache-aware 排序 vs 雜湊表），不是「要不要分頁」。兩邊功能持續趨同——別把某一次 benchmark 當永久結論。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問題② 前綴重算 → RadixAttention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11 / 24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SGLang 單機篇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撐大 B 的另一隻腳：continuous batching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分頁 + radix 解決了「放得下多少條」，但還有一個浪費：靜態批次要整批等最慢的那條生完。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645920"/>
            <a:ext cx="10881360" cy="1691640"/>
          </a:xfrm>
          <a:prstGeom prst="roundRect">
            <a:avLst>
              <a:gd name="adj" fmla="val 5405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1737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靜態批次（request-level）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577840" y="1737360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整批等最慢的那個 → GPU 大半時間在空轉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77240" y="2139696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R1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194560" y="2139696"/>
            <a:ext cx="1316736" cy="310896"/>
          </a:xfrm>
          <a:prstGeom prst="rect">
            <a:avLst/>
          </a:prstGeom>
          <a:solidFill>
            <a:srgbClr val="F59E0B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94560" y="2139696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R1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511296" y="2139696"/>
            <a:ext cx="7461504" cy="310896"/>
          </a:xfrm>
          <a:prstGeom prst="rect">
            <a:avLst/>
          </a:prstGeom>
          <a:solidFill>
            <a:srgbClr val="1C2E4A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11296" y="2139696"/>
            <a:ext cx="7461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空轉（等 R4 生完）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77240" y="245059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R2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194560" y="2450592"/>
            <a:ext cx="2633472" cy="310896"/>
          </a:xfrm>
          <a:prstGeom prst="rect">
            <a:avLst/>
          </a:prstGeom>
          <a:solidFill>
            <a:srgbClr val="F59E0B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94560" y="2450592"/>
            <a:ext cx="2633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R2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828032" y="2450592"/>
            <a:ext cx="6144768" cy="310896"/>
          </a:xfrm>
          <a:prstGeom prst="rect">
            <a:avLst/>
          </a:prstGeom>
          <a:solidFill>
            <a:srgbClr val="1C2E4A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28032" y="2450592"/>
            <a:ext cx="6144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空轉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7240" y="276148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R3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194560" y="2761488"/>
            <a:ext cx="3950208" cy="310896"/>
          </a:xfrm>
          <a:prstGeom prst="rect">
            <a:avLst/>
          </a:prstGeom>
          <a:solidFill>
            <a:srgbClr val="F59E0B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94560" y="2761488"/>
            <a:ext cx="3950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R3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144768" y="2761488"/>
            <a:ext cx="4828032" cy="310896"/>
          </a:xfrm>
          <a:prstGeom prst="rect">
            <a:avLst/>
          </a:prstGeom>
          <a:solidFill>
            <a:srgbClr val="1C2E4A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44768" y="2761488"/>
            <a:ext cx="4828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空轉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77240" y="3072384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R4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194560" y="3072384"/>
            <a:ext cx="8778240" cy="310896"/>
          </a:xfrm>
          <a:prstGeom prst="rect">
            <a:avLst/>
          </a:prstGeom>
          <a:solidFill>
            <a:srgbClr val="F59E0B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194560" y="3072384"/>
            <a:ext cx="8778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R4（2000 token，最慢）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40080" y="3493008"/>
            <a:ext cx="10881360" cy="1783080"/>
          </a:xfrm>
          <a:prstGeom prst="roundRect">
            <a:avLst>
              <a:gd name="adj" fmla="val 5128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68680" y="358444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Continuous batching（iteration-level）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6492240" y="3584448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做完就退場還 block，佇列有人立刻補進來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77240" y="3968496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slot 1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194560" y="3968496"/>
            <a:ext cx="1316736" cy="310896"/>
          </a:xfrm>
          <a:prstGeom prst="rect">
            <a:avLst/>
          </a:prstGeom>
          <a:solidFill>
            <a:srgbClr val="F59E0B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194560" y="3968496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R1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511296" y="3968496"/>
            <a:ext cx="3072384" cy="310896"/>
          </a:xfrm>
          <a:prstGeom prst="rect">
            <a:avLst/>
          </a:prstGeom>
          <a:solidFill>
            <a:srgbClr val="34D399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511296" y="3968496"/>
            <a:ext cx="3072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R5 補位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583680" y="3968496"/>
            <a:ext cx="4389120" cy="310896"/>
          </a:xfrm>
          <a:prstGeom prst="rect">
            <a:avLst/>
          </a:prstGeom>
          <a:solidFill>
            <a:srgbClr val="38BDF8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0" y="3968496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R8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77240" y="427939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slot 2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2194560" y="4279392"/>
            <a:ext cx="2633472" cy="310896"/>
          </a:xfrm>
          <a:prstGeom prst="rect">
            <a:avLst/>
          </a:prstGeom>
          <a:solidFill>
            <a:srgbClr val="F59E0B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94560" y="4279392"/>
            <a:ext cx="2633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R2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28032" y="4279392"/>
            <a:ext cx="3511296" cy="310896"/>
          </a:xfrm>
          <a:prstGeom prst="rect">
            <a:avLst/>
          </a:prstGeom>
          <a:solidFill>
            <a:srgbClr val="34D399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28032" y="4279392"/>
            <a:ext cx="3511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R6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8339328" y="4279392"/>
            <a:ext cx="2633472" cy="310896"/>
          </a:xfrm>
          <a:prstGeom prst="rect">
            <a:avLst/>
          </a:prstGeom>
          <a:solidFill>
            <a:srgbClr val="38BDF8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339328" y="4279392"/>
            <a:ext cx="2633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R9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77240" y="459028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slot 3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194560" y="4590288"/>
            <a:ext cx="3950208" cy="310896"/>
          </a:xfrm>
          <a:prstGeom prst="rect">
            <a:avLst/>
          </a:prstGeom>
          <a:solidFill>
            <a:srgbClr val="F59E0B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194560" y="4590288"/>
            <a:ext cx="3950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R3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144768" y="4590288"/>
            <a:ext cx="4828032" cy="310896"/>
          </a:xfrm>
          <a:prstGeom prst="rect">
            <a:avLst/>
          </a:prstGeom>
          <a:solidFill>
            <a:srgbClr val="34D399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144768" y="4590288"/>
            <a:ext cx="4828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R7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777240" y="4901184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slot 4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2194560" y="4901184"/>
            <a:ext cx="8778240" cy="310896"/>
          </a:xfrm>
          <a:prstGeom prst="rect">
            <a:avLst/>
          </a:prstGeom>
          <a:solidFill>
            <a:srgbClr val="F59E0B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194560" y="4901184"/>
            <a:ext cx="8778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R4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4" name="Text 52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分頁撐大「B 的上限」、continuous batching 撐滿「B 的實際值」、radix 省掉「根本不必算的部分」。三隻腳。</a:t>
            </a:r>
            <a:endParaRPr lang="en-US" sz="1450" dirty="0"/>
          </a:p>
        </p:txBody>
      </p:sp>
      <p:sp>
        <p:nvSpPr>
          <p:cNvPr id="55" name="Text 53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問題② 前綴重算 → RadixAttention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12 / 24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SGLang 單機篇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B7185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誠實話：RadixAttention 不是萬靈丹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它的收益完全取決於一件事——你的請求之間，前綴到底重不重合。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691640"/>
            <a:ext cx="5303520" cy="2743200"/>
          </a:xfrm>
          <a:prstGeom prst="roundRect">
            <a:avLst>
              <a:gd name="adj" fmla="val 3333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96112" y="180136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高收益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96112" y="221284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RAG（同幾份文件反覆進 prompt）</a:t>
            </a:r>
            <a:endParaRPr lang="en-US" sz="1180" dirty="0"/>
          </a:p>
        </p:txBody>
      </p:sp>
      <p:sp>
        <p:nvSpPr>
          <p:cNvPr id="10" name="Text 8"/>
          <p:cNvSpPr/>
          <p:nvPr/>
        </p:nvSpPr>
        <p:spPr>
          <a:xfrm>
            <a:off x="896112" y="261518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多輪對話（每輪帶整段歷史）</a:t>
            </a:r>
            <a:endParaRPr lang="en-US" sz="1180" dirty="0"/>
          </a:p>
        </p:txBody>
      </p:sp>
      <p:sp>
        <p:nvSpPr>
          <p:cNvPr id="11" name="Text 9"/>
          <p:cNvSpPr/>
          <p:nvPr/>
        </p:nvSpPr>
        <p:spPr>
          <a:xfrm>
            <a:off x="896112" y="3017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Few-shot（同一批範例）</a:t>
            </a:r>
            <a:endParaRPr lang="en-US" sz="1180" dirty="0"/>
          </a:p>
        </p:txBody>
      </p:sp>
      <p:sp>
        <p:nvSpPr>
          <p:cNvPr id="12" name="Text 10"/>
          <p:cNvSpPr/>
          <p:nvPr/>
        </p:nvSpPr>
        <p:spPr>
          <a:xfrm>
            <a:off x="896112" y="341985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Agent（工具描述 + 前面所有步驟）</a:t>
            </a:r>
            <a:endParaRPr lang="en-US" sz="1180" dirty="0"/>
          </a:p>
        </p:txBody>
      </p:sp>
      <p:sp>
        <p:nvSpPr>
          <p:cNvPr id="13" name="Text 11"/>
          <p:cNvSpPr/>
          <p:nvPr/>
        </p:nvSpPr>
        <p:spPr>
          <a:xfrm>
            <a:off x="896112" y="382219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sgl.fork() 的分支（天然同前綴）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6400800" y="1691640"/>
            <a:ext cx="5120640" cy="2743200"/>
          </a:xfrm>
          <a:prstGeom prst="roundRect">
            <a:avLst>
              <a:gd name="adj" fmla="val 3333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656832" y="18013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低收益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56832" y="221284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客服：各種不相干的問題</a:t>
            </a:r>
            <a:endParaRPr lang="en-US" sz="1180" dirty="0"/>
          </a:p>
        </p:txBody>
      </p:sp>
      <p:sp>
        <p:nvSpPr>
          <p:cNvPr id="17" name="Text 15"/>
          <p:cNvSpPr/>
          <p:nvPr/>
        </p:nvSpPr>
        <p:spPr>
          <a:xfrm>
            <a:off x="6656832" y="267004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批次翻譯：每篇文章都不同</a:t>
            </a:r>
            <a:endParaRPr lang="en-US" sz="1180" dirty="0"/>
          </a:p>
        </p:txBody>
      </p:sp>
      <p:sp>
        <p:nvSpPr>
          <p:cNvPr id="18" name="Text 16"/>
          <p:cNvSpPr/>
          <p:nvPr/>
        </p:nvSpPr>
        <p:spPr>
          <a:xfrm>
            <a:off x="6656832" y="312724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一次性摘要任務</a:t>
            </a:r>
            <a:endParaRPr lang="en-US" sz="1180" dirty="0"/>
          </a:p>
        </p:txBody>
      </p:sp>
      <p:sp>
        <p:nvSpPr>
          <p:cNvPr id="19" name="Text 17"/>
          <p:cNvSpPr/>
          <p:nvPr/>
        </p:nvSpPr>
        <p:spPr>
          <a:xfrm>
            <a:off x="6656832" y="358444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→ 此時 SGLang 與 vLLM 吞吐差距在 5% 內</a:t>
            </a:r>
            <a:endParaRPr lang="en-US" sz="1180" dirty="0"/>
          </a:p>
        </p:txBody>
      </p:sp>
      <p:sp>
        <p:nvSpPr>
          <p:cNvPr id="20" name="Shape 18"/>
          <p:cNvSpPr/>
          <p:nvPr/>
        </p:nvSpPr>
        <p:spPr>
          <a:xfrm>
            <a:off x="640080" y="461772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96112" y="461772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選框架看流量長相，不是看誰的 benchmark 數字大：前綴共用 &gt;60%（agent／多輪／RAG）→ SGLang 的 TTFT 通常低 20–40%；每個 prompt 都獨立 → 兩者差 &lt;5%，那就選生態成熟度。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問題② 前綴重算 → RadixAttention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13 / 24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SGLang 單機篇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4D39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互動環節：把「有效 batch」變成看得到的東西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2801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開啟 interactive/serving_map.html —— 本堂只用模式 1–4（模式 5 PD 分離留給第四堂）。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10881360" cy="640080"/>
          </a:xfrm>
          <a:prstGeom prst="roundRect">
            <a:avLst>
              <a:gd name="adj" fmla="val 8571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17830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 Naive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78308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靜態批次 + 連續預留 KV：時間軸有多空、HBM 有多浪費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778240" y="17830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B718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有效 batch ≈ 20 → 利用率 6.8%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2532888"/>
            <a:ext cx="10881360" cy="640080"/>
          </a:xfrm>
          <a:prstGeom prst="roundRect">
            <a:avLst>
              <a:gd name="adj" fmla="val 8571"/>
            </a:avLst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253288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 Continuous batching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66160" y="2532888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做完就換人上 → 時間軸被填滿，但 KV 還是預留制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778240" y="253288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有效 batch ≈ 60 → 20%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3282696"/>
            <a:ext cx="10881360" cy="640080"/>
          </a:xfrm>
          <a:prstGeom prst="roundRect">
            <a:avLst>
              <a:gd name="adj" fmla="val 8571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32826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 Paged KV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566160" y="3282696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block 化 + 用完才要 → 同 HBM 放得下 ~4 倍的請求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778240" y="3282696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有效 batch ≈ 240 → 81%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4032504"/>
            <a:ext cx="10881360" cy="640080"/>
          </a:xfrm>
          <a:prstGeom prst="roundRect">
            <a:avLst>
              <a:gd name="adj" fmla="val 8571"/>
            </a:avLst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403250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4 Radix 前綴共用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566160" y="4032504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共用 prompt 的請求合併成一棵樹 → prefill 直接省掉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778240" y="4032504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A78B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同上，且 TTFT ↓20–40%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0080" y="48920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操作：數字鍵 1–4 切換 · 右側面板同步顯示有效 batch、KV 浪費比例、算術強度與 roofline 上的位置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5" name="Text 23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從 6.8% 走到 81%——這三步就是問題②的全部價值。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問題② 前綴重算 → RadixAttention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14 / 24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SGLang 單機篇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A78BFA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問題③：輸出格式不可控（而且檢查很慢）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① 程式難平行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007108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07108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② 前綴重算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74136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74136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172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③ 輸出不可控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41164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41164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④ CPU 成瓶頸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3902" y="1207008"/>
            <a:ext cx="0" cy="548640"/>
          </a:xfrm>
          <a:prstGeom prst="line">
            <a:avLst/>
          </a:prstGeom>
          <a:noFill/>
          <a:ln w="12700">
            <a:solidFill>
              <a:srgbClr val="5C7299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6108192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1C2E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08192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⑤ 大 MoE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475220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1C2E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75220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⑥ P/D 互擾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842248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1C2E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42248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⑦ 多機調度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0209276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1C2E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09276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⑧ 容錯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40080" y="1737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本堂（單機）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217920" y="1737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第四堂（多機）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40080" y="214884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68680" y="2487168"/>
            <a:ext cx="685800" cy="685800"/>
          </a:xfrm>
          <a:prstGeom prst="roundRect">
            <a:avLst>
              <a:gd name="adj" fmla="val 16000"/>
            </a:avLst>
          </a:prstGeom>
          <a:solidFill>
            <a:srgbClr val="A78BFA"/>
          </a:solidFill>
          <a:ln/>
        </p:spPr>
      </p:sp>
      <p:sp>
        <p:nvSpPr>
          <p:cNvPr id="27" name="Text 25"/>
          <p:cNvSpPr/>
          <p:nvPr/>
        </p:nvSpPr>
        <p:spPr>
          <a:xfrm>
            <a:off x="868680" y="248716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③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783080" y="228600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只靠 prompt 說「請輸出 JSON」，模型不保證遵守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1783080" y="2761488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常見翻車：前後多加解釋文字、欄位型別錯、語法小錯（多逗號／單引號）、幻覺出 schema 沒有的欄位。而 agent／function calling 一旦解析失敗，整條鏈就斷了。天真的補救是每步生成後用正則檢查再重試——CPU 成本高得離譜，還是不保證對。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749040"/>
            <a:ext cx="2606040" cy="91440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3840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多餘文字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777240" y="414223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"當然！以下是您要的 JSON："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383280" y="3749040"/>
            <a:ext cx="2606040" cy="91440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520440" y="3840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型別錯誤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3520440" y="414223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{"age": "twenty"}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26480" y="3749040"/>
            <a:ext cx="2606040" cy="91440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63640" y="3840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語法錯誤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6263640" y="414223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多逗號、單引號、缺括號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869680" y="3749040"/>
            <a:ext cx="2606040" cy="91440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006840" y="3840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幻覺欄位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9006840" y="414223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schema 裡根本沒有的 key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43" name="Text 41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澄清：這不需要另一個小模型來審核——它純粹是符號計算／規則引擎的問題。</a:t>
            </a:r>
            <a:endParaRPr lang="en-US" sz="1450" dirty="0"/>
          </a:p>
        </p:txBody>
      </p:sp>
      <p:sp>
        <p:nvSpPr>
          <p:cNvPr id="44" name="Text 42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問題③ 輸出不可控 → Compressed FSM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 / 24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SGLang 單機篇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A78BFA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解法③：把合法性變成物理限制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生成每個 token 前，先算出「此刻合法的 token 集合」，把不合法的機率壓成 −∞ → 物理上不可能生成非法內容。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1691640"/>
            <a:ext cx="10881360" cy="822960"/>
          </a:xfrm>
          <a:prstGeom prst="roundRect">
            <a:avLst>
              <a:gd name="adj" fmla="val 11111"/>
            </a:avLst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16916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① 預編譯成 FSM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703320" y="169164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把 JSON schema / 正則編成有限狀態機。SGLang 用 compressed FSM，vLLM 預設 XGrammar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624328"/>
            <a:ext cx="10881360" cy="822960"/>
          </a:xfrm>
          <a:prstGeom prst="roundRect">
            <a:avLst>
              <a:gd name="adj" fmla="val 11111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68680" y="262432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② 非同步編譯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703320" y="2624328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編譯要時間 → 請求先進 WAITING_FOR_FSM，編好才轉 WAITING，不阻塞其他請求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557016"/>
            <a:ext cx="10881360" cy="822960"/>
          </a:xfrm>
          <a:prstGeom prst="roundRect">
            <a:avLst>
              <a:gd name="adj" fmla="val 11111"/>
            </a:avLst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3557016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③ 位元遮罩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703320" y="3557016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每步查表得出合法集合，把其餘 token 的 logit 設成 −∞，再於合法子集重新歸一化採樣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4489704"/>
            <a:ext cx="10881360" cy="822960"/>
          </a:xfrm>
          <a:prstGeom prst="roundRect">
            <a:avLst>
              <a:gd name="adj" fmla="val 11111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68680" y="4489704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④ 確定路徑跳躍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703320" y="4489704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若 FSM 上某段路徑唯一確定（如 {"name": " 必然出現），一次吐掉多個 token，不必逐 token 推理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20" name="Text 18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④ 是反直覺的一點：加了語法約束之後，生成甚至可能比自由生成更快——有些 token 根本不用推理。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問題③ 輸出不可控 → Compressed FSM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 / 24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SGLang 單機篇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4D39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問題② 與 ③ 的關係：正交，但有一條紅線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1371600"/>
            <a:ext cx="5303520" cy="2011680"/>
          </a:xfrm>
          <a:prstGeom prst="roundRect">
            <a:avLst>
              <a:gd name="adj" fmla="val 4545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48132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RadixAttention 複用的是「算力」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96112" y="184708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避免重複的矩陣運算。作用在「這段 token 的中間結果」上。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96112" y="2697480"/>
            <a:ext cx="4754880" cy="457200"/>
          </a:xfrm>
          <a:prstGeom prst="roundRect">
            <a:avLst>
              <a:gd name="adj" fmla="val 50000"/>
            </a:avLst>
          </a:prstGeom>
          <a:solidFill>
            <a:srgbClr val="10455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2697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與請求無關 → 可共享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1371600"/>
            <a:ext cx="5120640" cy="2011680"/>
          </a:xfrm>
          <a:prstGeom prst="roundRect">
            <a:avLst>
              <a:gd name="adj" fmla="val 4545"/>
            </a:avLst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656832" y="148132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約束生成裁剪的是「候選空間」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656832" y="184708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決定哪些 token 允許被選。作用在「這個請求走到語法的哪裡」上。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656832" y="2697480"/>
            <a:ext cx="4572000" cy="457200"/>
          </a:xfrm>
          <a:prstGeom prst="roundRect">
            <a:avLst>
              <a:gd name="adj" fmla="val 50000"/>
            </a:avLst>
          </a:prstGeom>
          <a:solidFill>
            <a:srgbClr val="2A2150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56832" y="2697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屬於請求本身 → 不可共享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61188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96112" y="361188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⚠️ 紅線：即使兩個請求共享同一段前綴快取，它們各自的 FSM 狀態仍必須獨立推進，不能互相干擾。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4709160"/>
            <a:ext cx="10881360" cy="731520"/>
          </a:xfrm>
          <a:prstGeom prst="roundRect">
            <a:avLst>
              <a:gd name="adj" fmla="val 12500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70916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這條紅線給了一個通用判準：可以快取的是「計算結果」，不可以快取的是「請求狀態」。之後看任何快取設計，先問這個問題。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問題③ 輸出不可控 → Compressed FSM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17 / 24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SGLang 單機篇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4D39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17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問題④：GPU 快到讓 CPU 變成瓶頸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① 程式難平行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007108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07108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② 前綴重算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74136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74136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③ 輸出不可控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41164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41164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172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④ CPU 成瓶頸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3902" y="1207008"/>
            <a:ext cx="0" cy="548640"/>
          </a:xfrm>
          <a:prstGeom prst="line">
            <a:avLst/>
          </a:prstGeom>
          <a:noFill/>
          <a:ln w="12700">
            <a:solidFill>
              <a:srgbClr val="5C7299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6108192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1C2E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08192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⑤ 大 MoE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475220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1C2E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75220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⑥ P/D 互擾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842248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1C2E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42248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⑦ 多機調度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0209276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1C2E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09276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⑧ 容錯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40080" y="1737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本堂（單機）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217920" y="1737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第四堂（多機）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40080" y="214884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68680" y="2487168"/>
            <a:ext cx="685800" cy="685800"/>
          </a:xfrm>
          <a:prstGeom prst="roundRect">
            <a:avLst>
              <a:gd name="adj" fmla="val 16000"/>
            </a:avLst>
          </a:prstGeom>
          <a:solidFill>
            <a:srgbClr val="34D399"/>
          </a:solidFill>
          <a:ln/>
        </p:spPr>
      </p:sp>
      <p:sp>
        <p:nvSpPr>
          <p:cNvPr id="27" name="Text 25"/>
          <p:cNvSpPr/>
          <p:nvPr/>
        </p:nvSpPr>
        <p:spPr>
          <a:xfrm>
            <a:off x="868680" y="248716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④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783080" y="228600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一步只花 5–10 ms，Python 那邊來得及嗎？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1783080" y="2761488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前面三個問題解完，batch 撐起來了、重複計算省掉了。這時每個 forward step 只剩幾毫秒，而 tokenize、排程決策、取樣、序列化、數百次 kernel launch 全在 CPU 上——GPU 開始出現「算完在等 CPU 決定下一步」的空窗。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703320"/>
            <a:ext cx="10881360" cy="502920"/>
          </a:xfrm>
          <a:prstGeom prst="rect">
            <a:avLst/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1248" y="37033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CUDA Graph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069080" y="3703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把整串 kernel launch 錄成 DAG，之後直接 replay → 省掉每步數百次 launch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40080" y="4270248"/>
            <a:ext cx="10881360" cy="502920"/>
          </a:xfrm>
          <a:prstGeom prst="rect">
            <a:avLst/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41248" y="427024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Zero-overhead scheduler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069080" y="427024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SGLang：把 CPU 排程完全藏進上一步的 GPU 執行時間裡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40080" y="4837176"/>
            <a:ext cx="10881360" cy="502920"/>
          </a:xfrm>
          <a:prstGeom prst="rect">
            <a:avLst/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41248" y="483717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多進程 + async 排程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069080" y="4837176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vLLM V1：EngineCore 獨立進程只跑排程＋執行，tokenize／串流輸出與它重疊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40" name="Text 38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vLLM V1 相對 V0 吞吐提升 ~1.7×，完全來自 CPU 開銷削減——一個 GPU kernel 都沒改。</a:t>
            </a:r>
            <a:endParaRPr lang="en-US" sz="1450" dirty="0"/>
          </a:p>
        </p:txBody>
      </p:sp>
      <p:sp>
        <p:nvSpPr>
          <p:cNvPr id="41" name="Text 39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問題④ CPU 成瓶頸 → 排程與圖執行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18 / 24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SGLang 單機篇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B7185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18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問題④的雙胞胎：TTFT 與 ITL 互相打架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1280160"/>
            <a:ext cx="182880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280160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指標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468880" y="1280160"/>
            <a:ext cx="237744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42032" y="1280160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全名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46320" y="1280160"/>
            <a:ext cx="301752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19472" y="1280160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被誰決定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863840" y="1280160"/>
            <a:ext cx="365760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36992" y="1280160"/>
            <a:ext cx="3511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想要它小，你會想…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1664208"/>
            <a:ext cx="18288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1664208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TTFT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468880" y="1664208"/>
            <a:ext cx="237744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42032" y="1664208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Time To First Token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846320" y="1664208"/>
            <a:ext cx="301752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19472" y="166420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prefill（compute-bound）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863840" y="1664208"/>
            <a:ext cx="36576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36992" y="1664208"/>
            <a:ext cx="3511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讓 prefill 立刻插隊、獨佔 GPU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2048256"/>
            <a:ext cx="182880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2048256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ITL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2468880" y="2048256"/>
            <a:ext cx="237744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542032" y="2048256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Inter-Token Latency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846320" y="2048256"/>
            <a:ext cx="301752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19472" y="2048256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decode（memory-bound）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863840" y="2048256"/>
            <a:ext cx="365760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36992" y="2048256"/>
            <a:ext cx="3511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別讓 prefill 打斷 decode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2743200"/>
            <a:ext cx="10881360" cy="1234440"/>
          </a:xfrm>
          <a:prstGeom prst="roundRect">
            <a:avLst>
              <a:gd name="adj" fmla="val 7407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96112" y="28346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衝突點：head-of-line blocking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51560" y="320040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468880" y="3200400"/>
            <a:ext cx="4677156" cy="310896"/>
          </a:xfrm>
          <a:prstGeom prst="rect">
            <a:avLst/>
          </a:prstGeom>
          <a:solidFill>
            <a:srgbClr val="F59E0B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68880" y="3200400"/>
            <a:ext cx="46771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一個 32K prompt 的 prefill（0.5–2 秒）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146036" y="3200400"/>
            <a:ext cx="3826764" cy="310896"/>
          </a:xfrm>
          <a:prstGeom prst="rect">
            <a:avLst/>
          </a:prstGeom>
          <a:solidFill>
            <a:srgbClr val="38BDF8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146036" y="3200400"/>
            <a:ext cx="38267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decode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2468880" y="358444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↑ 這段時間裡所有串流輸出的使用者都卡住——畫面上就是「打字打到一半停住」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40080" y="4160520"/>
            <a:ext cx="10881360" cy="1234440"/>
          </a:xfrm>
          <a:prstGeom prst="roundRect">
            <a:avLst>
              <a:gd name="adj" fmla="val 7407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896112" y="42519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解法：chunked prefill —— 每步固定 token 預算，剩下的預算拿去混 decode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051560" y="461772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step 1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2468880" y="4617720"/>
            <a:ext cx="3826764" cy="310896"/>
          </a:xfrm>
          <a:prstGeom prst="rect">
            <a:avLst/>
          </a:prstGeom>
          <a:solidFill>
            <a:srgbClr val="F59E0B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468880" y="4617720"/>
            <a:ext cx="38267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prefill chunk 1/8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295644" y="4617720"/>
            <a:ext cx="4677156" cy="310896"/>
          </a:xfrm>
          <a:prstGeom prst="rect">
            <a:avLst/>
          </a:prstGeom>
          <a:solidFill>
            <a:srgbClr val="38BDF8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95644" y="4617720"/>
            <a:ext cx="46771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同批 decode（12 條在跑）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51560" y="486460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step 2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468880" y="4864608"/>
            <a:ext cx="3826764" cy="310896"/>
          </a:xfrm>
          <a:prstGeom prst="rect">
            <a:avLst/>
          </a:prstGeom>
          <a:solidFill>
            <a:srgbClr val="F59E0B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468880" y="4864608"/>
            <a:ext cx="38267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prefill chunk 2/8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295644" y="4864608"/>
            <a:ext cx="4677156" cy="310896"/>
          </a:xfrm>
          <a:prstGeom prst="rect">
            <a:avLst/>
          </a:prstGeom>
          <a:solidFill>
            <a:srgbClr val="38BDF8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295644" y="4864608"/>
            <a:ext cx="46771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同批 decode（12 條在跑）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1051560" y="5111496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step 3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2468880" y="5111496"/>
            <a:ext cx="3826764" cy="310896"/>
          </a:xfrm>
          <a:prstGeom prst="rect">
            <a:avLst/>
          </a:prstGeom>
          <a:solidFill>
            <a:srgbClr val="F59E0B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468880" y="5111496"/>
            <a:ext cx="38267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prefill chunk 3/8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6295644" y="5111496"/>
            <a:ext cx="4677156" cy="310896"/>
          </a:xfrm>
          <a:prstGeom prst="rect">
            <a:avLst/>
          </a:prstGeom>
          <a:solidFill>
            <a:srgbClr val="38BDF8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295644" y="5111496"/>
            <a:ext cx="46771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同批 decode（12 條在跑）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6" name="Text 54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附帶好處：compute-bound 的 prefill 與 memory-bound 的 decode 混同一批，兩種瓶頸互補，利用率反而更高。</a:t>
            </a:r>
            <a:endParaRPr lang="en-US" sz="1450" dirty="0"/>
          </a:p>
        </p:txBody>
      </p:sp>
      <p:sp>
        <p:nvSpPr>
          <p:cNvPr id="57" name="Text 55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問題④ CPU 成瓶頸 → 排程與圖執行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19 / 24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SGLang 單機篇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19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單機的天花板①：投機解碼 / MTP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前面四個問題解完，B 撐大了。但「單一請求的延遲」仍被『讀一遍權重』鎖死——要打破它只有這條路。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1691640"/>
            <a:ext cx="3502152" cy="1600200"/>
          </a:xfrm>
          <a:prstGeom prst="roundRect">
            <a:avLst>
              <a:gd name="adj" fmla="val 5714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178308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Draft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2176272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便宜地提出 k 個候選：小模型 / n-gram / Medusa 頭 / EAGLE / 模型自帶的 MTP head</a:t>
            </a:r>
            <a:endParaRPr lang="en-US" sz="1080" dirty="0"/>
          </a:p>
        </p:txBody>
      </p:sp>
      <p:sp>
        <p:nvSpPr>
          <p:cNvPr id="10" name="Text 8"/>
          <p:cNvSpPr/>
          <p:nvPr/>
        </p:nvSpPr>
        <p:spPr>
          <a:xfrm>
            <a:off x="4160520" y="228600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25112" y="1691640"/>
            <a:ext cx="3502152" cy="1600200"/>
          </a:xfrm>
          <a:prstGeom prst="roundRect">
            <a:avLst>
              <a:gd name="adj" fmla="val 5714"/>
            </a:avLst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07992" y="178308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Verify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07992" y="2176272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大模型把「context + k 個草稿 token」在一次 forward 裡跑完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7845552" y="228600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10144" y="1691640"/>
            <a:ext cx="3502152" cy="1600200"/>
          </a:xfrm>
          <a:prstGeom prst="roundRect">
            <a:avLst>
              <a:gd name="adj" fmla="val 5714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193024" y="178308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Accept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193024" y="2176272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由左而右比對機率：large ≥ draft 就收；否則按 large/draft 機率收。第一個被拒就停，並免費得到第 k+1 個 token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640080" y="3474720"/>
            <a:ext cx="10881360" cy="1737360"/>
          </a:xfrm>
          <a:prstGeom prst="roundRect">
            <a:avLst>
              <a:gd name="adj" fmla="val 5263"/>
            </a:avLst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3566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為什麼會賺（用第 4 頁的同一把尺）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96112" y="395020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驗證 k 個草稿 token 的 forward：權重讀取 = 1 次（不變），FLOPs = k 倍　→　AI 從 1 變成 k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112" y="434340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＝用閒置算力換頻寬。這是唯一能在「不增加 batch」的前提下改善單請求延遲的招式 → 低流量、互動式、本機部署特別有效。</a:t>
            </a:r>
            <a:endParaRPr lang="en-US" sz="118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輸出分佈嚴格不變（rejection sampling 保證），不是近似加速。代價：接受率低時純虧。</a:t>
            </a:r>
            <a:endParaRPr lang="en-US" sz="1180" dirty="0"/>
          </a:p>
        </p:txBody>
      </p:sp>
      <p:sp>
        <p:nvSpPr>
          <p:cNvPr id="22" name="Shape 20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3" name="Text 21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DeepSeek-V3 的 MTP head 報告第二 token 接受率 ~85–90% → 訓練時的輔助目標，推論時直接當草稿模型。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單機的天花板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20 / 24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SGLang 單機篇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20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單機的天花板②：量化——直接砍分母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= FLOPs ÷ Bytes。前面全在動分子，量化直接動分母——decode 被權重讀取綁死，權重減半 ≈ 延遲減半。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1691640"/>
            <a:ext cx="10881360" cy="841248"/>
          </a:xfrm>
          <a:prstGeom prst="roundRect">
            <a:avLst>
              <a:gd name="adj" fmla="val 10870"/>
            </a:avLst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1691640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權重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697480" y="1691640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fp16 → FP8（÷2）→ FP4 / MXFP4（÷4）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75120" y="1691640"/>
            <a:ext cx="4663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decode 步時直接等比下降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2651760"/>
            <a:ext cx="10881360" cy="841248"/>
          </a:xfrm>
          <a:prstGeom prst="roundRect">
            <a:avLst>
              <a:gd name="adj" fmla="val 10870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2651760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KV cache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697480" y="2651760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fp16 → FP8 → 更低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75120" y="2651760"/>
            <a:ext cx="4663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KV 變小 ⇒ 同 HBM 放得下更多序列 ⇒ B 又能更大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611880"/>
            <a:ext cx="10881360" cy="841248"/>
          </a:xfrm>
          <a:prstGeom prst="roundRect">
            <a:avLst>
              <a:gd name="adj" fmla="val 10870"/>
            </a:avLst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611880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Activation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97480" y="3611880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FP8 / MXFP8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675120" y="3611880"/>
            <a:ext cx="4663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決定 GEMM 能不能走 FP8/FP4 tensor core 路徑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61772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96112" y="461772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硬體對齊：Hopper 有 FP8 tensor core、Blackwell 有 FP4。精度格式是硬體規格表上的一行，直接決定模型能跑多快——第五堂會看到模型端已經開始「出廠就是 4-bit」。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單機的天花板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21 / 24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SGLang 單機篇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單機篇彙整：問題 → 解法 → 宣稱效果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1325880"/>
            <a:ext cx="274320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325880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83280" y="1325880"/>
            <a:ext cx="329184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56432" y="1325880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解法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75120" y="1325880"/>
            <a:ext cx="292608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48272" y="1325880"/>
            <a:ext cx="2779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擋住 B 的哪一段被拆掉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601200" y="1325880"/>
            <a:ext cx="192024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74352" y="1325880"/>
            <a:ext cx="1773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宣稱效果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1709928"/>
            <a:ext cx="27432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1709928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① 程式難平行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83280" y="1709928"/>
            <a:ext cx="329184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56432" y="1709928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前端 DSL（執行圖）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675120" y="1709928"/>
            <a:ext cx="292608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48272" y="1709928"/>
            <a:ext cx="2779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根本沒有並行請求進來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601200" y="1709928"/>
            <a:ext cx="192024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74352" y="1709928"/>
            <a:ext cx="1773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—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2093976"/>
            <a:ext cx="274320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2093976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② KV 預留浪費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83280" y="2093976"/>
            <a:ext cx="329184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56432" y="2093976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分頁式 KV（block table）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675120" y="2093976"/>
            <a:ext cx="292608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48272" y="2093976"/>
            <a:ext cx="2779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放不下更多條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601200" y="2093976"/>
            <a:ext cx="192024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74352" y="2093976"/>
            <a:ext cx="1773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浪費 &lt;4%、吞吐 2–4×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40080" y="2478024"/>
            <a:ext cx="27432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" y="2478024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② 前綴重算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383280" y="2478024"/>
            <a:ext cx="329184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56432" y="2478024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RadixAttention（前綴樹 + LRU）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675120" y="2478024"/>
            <a:ext cx="292608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48272" y="2478024"/>
            <a:ext cx="2779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算了不必算的東西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9601200" y="2478024"/>
            <a:ext cx="192024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674352" y="2478024"/>
            <a:ext cx="1773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共用場景最高 6.4×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40080" y="2862072"/>
            <a:ext cx="274320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3232" y="286207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② 靜態批次空等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383280" y="2862072"/>
            <a:ext cx="329184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56432" y="286207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Continuous batching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675120" y="2862072"/>
            <a:ext cx="292608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48272" y="2862072"/>
            <a:ext cx="2779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有效 B 遠小於名目 B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9601200" y="2862072"/>
            <a:ext cx="192024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674352" y="2862072"/>
            <a:ext cx="1773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幾乎不留空隙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40080" y="3246120"/>
            <a:ext cx="27432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3232" y="3246120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③ 輸出不可控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3383280" y="3246120"/>
            <a:ext cx="329184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456432" y="3246120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Compressed FSM + 位元遮罩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675120" y="3246120"/>
            <a:ext cx="292608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48272" y="3246120"/>
            <a:ext cx="2779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CPU 上的序列檢查拖慢整批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9601200" y="3246120"/>
            <a:ext cx="192024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674352" y="3246120"/>
            <a:ext cx="1773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格式 100% 保證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640080" y="3630168"/>
            <a:ext cx="274320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13232" y="3630168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④ CPU 成瓶頸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3383280" y="3630168"/>
            <a:ext cx="329184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456432" y="3630168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zero-overhead scheduler / CUDA Graph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6675120" y="3630168"/>
            <a:ext cx="292608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48272" y="3630168"/>
            <a:ext cx="2779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等 CPU 的空窗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9601200" y="3630168"/>
            <a:ext cx="192024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674352" y="3630168"/>
            <a:ext cx="1773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vLLM V1 較 V0 ~1.7×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640080" y="4014216"/>
            <a:ext cx="27432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13232" y="4014216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④' TTFT vs ITL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3383280" y="4014216"/>
            <a:ext cx="329184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456432" y="4014216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Chunked prefill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6675120" y="4014216"/>
            <a:ext cx="292608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748272" y="4014216"/>
            <a:ext cx="2779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長 prompt 卡住 decode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9601200" y="4014216"/>
            <a:ext cx="192024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674352" y="4014216"/>
            <a:ext cx="1773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兩指標同時可控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640080" y="4398264"/>
            <a:ext cx="274320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13232" y="4398264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天花板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3383280" y="4398264"/>
            <a:ext cx="329184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456432" y="4398264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投機解碼·MTP、量化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6675120" y="4398264"/>
            <a:ext cx="292608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748272" y="4398264"/>
            <a:ext cx="2779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單請求延遲 / 搬的位元組數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9601200" y="4398264"/>
            <a:ext cx="192024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674352" y="4398264"/>
            <a:ext cx="1773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從 1 → k；權重 ÷2~÷4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9" name="Text 77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全部都在做同一件事：把 roofline 上的那個點，從左邊的記憶體牆推向右邊。</a:t>
            </a:r>
            <a:endParaRPr lang="en-US" sz="1450" dirty="0"/>
          </a:p>
        </p:txBody>
      </p:sp>
      <p:sp>
        <p:nvSpPr>
          <p:cNvPr id="80" name="Text 78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單機的天花板</a:t>
            </a:r>
            <a:endParaRPr lang="en-US" sz="900" dirty="0"/>
          </a:p>
        </p:txBody>
      </p:sp>
      <p:sp>
        <p:nvSpPr>
          <p:cNvPr id="81" name="Text 79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22 / 24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SGLang 單機篇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A78BFA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但這一切，都只發生在「一台機器」裡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 ①–④ 解完，單一副本已經被榨到接近極限。接下來的問題全都來自「不只一台」。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691640"/>
            <a:ext cx="10881360" cy="841248"/>
          </a:xfrm>
          <a:prstGeom prst="roundRect">
            <a:avLst>
              <a:gd name="adj" fmla="val 10870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183794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38BDF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⑤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54480" y="1691640"/>
            <a:ext cx="2651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大 MoE 單機放不下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97680" y="1691640"/>
            <a:ext cx="7040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DeepSeek 671B 一顆 HBM 裝不下 → 專家散到幾十上百張卡（EP），但 all-to-all 通訊與專家負載不均隨之而來</a:t>
            </a:r>
            <a:endParaRPr lang="en-US" sz="1120" dirty="0"/>
          </a:p>
        </p:txBody>
      </p:sp>
      <p:sp>
        <p:nvSpPr>
          <p:cNvPr id="12" name="Shape 10"/>
          <p:cNvSpPr/>
          <p:nvPr/>
        </p:nvSpPr>
        <p:spPr>
          <a:xfrm>
            <a:off x="640080" y="2651760"/>
            <a:ext cx="10881360" cy="841248"/>
          </a:xfrm>
          <a:prstGeom prst="roundRect">
            <a:avLst>
              <a:gd name="adj" fmla="val 10870"/>
            </a:avLst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" y="279806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27980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⑥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54480" y="2651760"/>
            <a:ext cx="2651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prefill 與 decode 互擾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2651760"/>
            <a:ext cx="7040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chunked prefill 只是緩解。乾脆拆成兩群機器，各自調到最佳操作點——代價是 KV 要跨機器搬</a:t>
            </a:r>
            <a:endParaRPr lang="en-US" sz="1120" dirty="0"/>
          </a:p>
        </p:txBody>
      </p:sp>
      <p:sp>
        <p:nvSpPr>
          <p:cNvPr id="17" name="Shape 15"/>
          <p:cNvSpPr/>
          <p:nvPr/>
        </p:nvSpPr>
        <p:spPr>
          <a:xfrm>
            <a:off x="640080" y="3611880"/>
            <a:ext cx="10881360" cy="841248"/>
          </a:xfrm>
          <a:prstGeom prst="roundRect">
            <a:avLst>
              <a:gd name="adj" fmla="val 10870"/>
            </a:avLst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" y="375818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A78BFA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3758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⑦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54480" y="3611880"/>
            <a:ext cx="2651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多副本怎麼分流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297680" y="3611880"/>
            <a:ext cx="7040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每台各有自己的 radix tree。集中請求→命中率高但單點過熱；打散→負載均勻但命中率崩潰。此消彼長</a:t>
            </a:r>
            <a:endParaRPr lang="en-US" sz="1120" dirty="0"/>
          </a:p>
        </p:txBody>
      </p:sp>
      <p:sp>
        <p:nvSpPr>
          <p:cNvPr id="22" name="Shape 20"/>
          <p:cNvSpPr/>
          <p:nvPr/>
        </p:nvSpPr>
        <p:spPr>
          <a:xfrm>
            <a:off x="640080" y="4572000"/>
            <a:ext cx="10881360" cy="841248"/>
          </a:xfrm>
          <a:prstGeom prst="roundRect">
            <a:avLst>
              <a:gd name="adj" fmla="val 10870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22960" y="471830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B7185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47183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⑧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554480" y="4572000"/>
            <a:ext cx="2651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掛了怎麼辦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297680" y="4572000"/>
            <a:ext cx="7040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副本當機時，進行中的請求與它佔用的 KV cache 該怎麼處理</a:t>
            </a:r>
            <a:endParaRPr lang="en-US" sz="1120" dirty="0"/>
          </a:p>
        </p:txBody>
      </p:sp>
      <p:sp>
        <p:nvSpPr>
          <p:cNvPr id="27" name="Shape 25"/>
          <p:cNvSpPr/>
          <p:nvPr/>
        </p:nvSpPr>
        <p:spPr>
          <a:xfrm>
            <a:off x="640080" y="5577840"/>
            <a:ext cx="10881360" cy="548640"/>
          </a:xfrm>
          <a:prstGeom prst="rect">
            <a:avLst/>
          </a:prstGeom>
          <a:solidFill>
            <a:srgbClr val="2A2150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55778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第四堂 · SGLang 多機篇：從一台到一群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單機的天花板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23 / 24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SGLang 單機篇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帶走三句話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777240" cy="777240"/>
          </a:xfrm>
          <a:prstGeom prst="roundRect">
            <a:avLst>
              <a:gd name="adj" fmla="val 14118"/>
            </a:avLst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916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645920" y="1691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每個機制都是被一個具體痛點逼出來的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45920" y="216712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DSL 因為程式難平行、RadixAttention 因為 DSL 製造了大量共享前綴、FSM 因為 agent 需要能解析的輸出、zero-overhead scheduler 因為前三個解完 GPU 快到 CPU 跟不上。順著問題走，就不用背功能表。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017520"/>
            <a:ext cx="777240" cy="777240"/>
          </a:xfrm>
          <a:prstGeom prst="roundRect">
            <a:avLst>
              <a:gd name="adj" fmla="val 14118"/>
            </a:avLst>
          </a:prstGeom>
          <a:solidFill>
            <a:srgbClr val="38BDF8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017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645920" y="30175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所有解法都在拆掉擋住 batch 的石頭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45920" y="349300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batch=1 的 decode 只用 0.3% 算力，AI ≈ B。分頁撐大 B 的上限、continuous batching 撐滿實際值、radix 省掉不必算的、CPU 優化不讓時間軸留空。一個 kernel 都沒改。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343400"/>
            <a:ext cx="777240" cy="777240"/>
          </a:xfrm>
          <a:prstGeom prst="roundRect">
            <a:avLst>
              <a:gd name="adj" fmla="val 14118"/>
            </a:avLst>
          </a:prstGeom>
          <a:solidFill>
            <a:srgbClr val="34D399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343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645920" y="4343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先看流量長相，再選框架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45920" y="48188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RadixAttention 的收益完全取決於前綴重合度。前綴共用 &gt;60%（agent／多輪／RAG）SGLang 的 TTFT 低 20–40%；請求彼此無關時兩者差 &lt;5%。別把某一次 benchmark 當永久結論。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0080" y="5715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下一步：拿一個小模型在自己的卡上量「batch sweep 的吞吐曲線」與「開/關 prefix caching 的 TTFT」——把問題②驗一次。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單機的天花板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24 / 24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第三堂課 · SGLang 單機篇</dc:title>
  <dc:subject>PptxGenJS Presentation</dc:subject>
  <dc:creator>GPU 記憶體與資料搬遷讀書會</dc:creator>
  <cp:lastModifiedBy>GPU 記憶體與資料搬遷讀書會</cp:lastModifiedBy>
  <cp:revision>1</cp:revision>
  <dcterms:created xsi:type="dcterms:W3CDTF">2026-08-17T05:54:21Z</dcterms:created>
  <dcterms:modified xsi:type="dcterms:W3CDTF">2026-08-17T05:54:21Z</dcterms:modified>
</cp:coreProperties>
</file>