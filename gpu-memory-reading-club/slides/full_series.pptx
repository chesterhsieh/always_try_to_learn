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tokens/s（示意）</c:v>
                </c:pt>
              </c:strCache>
            </c:strRef>
          </c:tx>
          <c:spPr>
            <a:solidFill>
              <a:srgbClr val="38BDF8"/>
            </a:solidFill>
            <a:ln w="38100" cap="flat">
              <a:solidFill>
                <a:srgbClr val="38BDF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38BDF8"/>
              </a:solidFill>
              <a:ln w="9525" cap="flat">
                <a:solidFill>
                  <a:srgbClr val="38BDF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8</c:v>
                  </c:pt>
                  <c:pt idx="2">
                    <c:v>32</c:v>
                  </c:pt>
                  <c:pt idx="3">
                    <c:v>64</c:v>
                  </c:pt>
                  <c:pt idx="4">
                    <c:v>128</c:v>
                  </c:pt>
                  <c:pt idx="5">
                    <c:v>256</c:v>
                  </c:pt>
                  <c:pt idx="6">
                    <c:v>512</c:v>
                  </c:pt>
                  <c:pt idx="7">
                    <c:v>1024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25</c:v>
                </c:pt>
                <c:pt idx="2">
                  <c:v>100</c:v>
                </c:pt>
                <c:pt idx="3">
                  <c:v>200</c:v>
                </c:pt>
                <c:pt idx="4">
                  <c:v>400</c:v>
                </c:pt>
                <c:pt idx="5">
                  <c:v>800</c:v>
                </c:pt>
                <c:pt idx="6">
                  <c:v>930</c:v>
                </c:pt>
                <c:pt idx="7">
                  <c:v>930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FA6C4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8FA6C4"/>
                    </a:solidFill>
                    <a:latin typeface="Arial"/>
                  </a:rPr>
                  <a:t>batch size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FA6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D5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FA6C4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8FA6C4"/>
                    </a:solidFill>
                    <a:latin typeface="Arial"/>
                  </a:rPr>
                  <a:t>tokens/s（千）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FA6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233A"/>
        </a:solidFill>
        <a:ln>
          <a:noFill/>
        </a:ln>
        <a:effectLst/>
      </c:spPr>
    </c:plotArea>
    <c:plotVisOnly val="1"/>
    <c:dispBlanksAs val="span"/>
  </c:chart>
  <c:spPr>
    <a:solidFill>
      <a:srgbClr val="1623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645920"/>
            <a:ext cx="0" cy="1463040"/>
          </a:xfrm>
          <a:prstGeom prst="line">
            <a:avLst/>
          </a:prstGeom>
          <a:noFill/>
          <a:ln w="12700">
            <a:solidFill>
              <a:srgbClr val="8FA6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3108960"/>
            <a:ext cx="3108960" cy="0"/>
          </a:xfrm>
          <a:prstGeom prst="line">
            <a:avLst/>
          </a:prstGeom>
          <a:noFill/>
          <a:ln w="12700">
            <a:solidFill>
              <a:srgbClr val="8FA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0" y="1645920"/>
            <a:ext cx="1709928" cy="146304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39528" y="1645920"/>
            <a:ext cx="1399032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0" y="2606040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7" name="Shape 5"/>
          <p:cNvSpPr/>
          <p:nvPr/>
        </p:nvSpPr>
        <p:spPr>
          <a:xfrm>
            <a:off x="10579608" y="1591056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0" y="3291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roofline → 共同演化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 ·  S1–S5 全系列合輯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速度的故事：</a:t>
            </a:r>
            <a:endParaRPr lang="en-US" sz="46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平行度 × 資料搬運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4008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 roofline 與記憶體階層出發，看懂訓練/推論的瓶頸、資料搬遷的每道關卡，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4800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最後拉高視角：模型設計與計算機結構如何互相塑造（CNN → Transformer → 混合架構）。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聽眾：data science 背景 · 原 S1–S5 五場內容重編去重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開場謎題：最貴的算力，為什麼用不到？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2743200" y="1920240"/>
            <a:ext cx="667512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063240" y="21488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謎題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468880"/>
            <a:ext cx="6675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 5%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3063240" y="3886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同一張 H100，batch=1 的 LLM 解碼，tensor core 利用率常不到 5%——買了全世界最貴的算力，卻幾乎用不到。為什麼？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答案不在「算力不夠」，而在「資料搬不夠快 + 平行度不夠」——整份合輯就在拆這件事。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 · 合輯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/ 34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路線圖：五個篇章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7830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57600" y="1783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是台什麼樣的機器：SM / warp / Amdahl / 記憶體階層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24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54480" y="26243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一把尺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657600" y="26243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算術強度與 roofline：compute-bound 還是 memory-bound？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65576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655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4655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模型上機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57600" y="346557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 vs 推論：prefill / decode / KV cache / batch（Transformer 推論）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306824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30682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554480" y="430682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資料搬遷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657600" y="430682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把搬運藏在運算後面：prefetch / overlap（壓軸）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5148072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5148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554480" y="51480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共同演化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657600" y="51480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拉高視角：模型設計 ⇄ 計算機結構（CNN → Transformer → 混合）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主線：先認識機器 → 拿到尺 → 量模型 → 修搬運 → 回頭看懂模型為什麼長這樣。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 · 合輯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 / 34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🔍  互動環節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講者：切出去打開互動式地圖，從 Cluster 一路切到 SM、再到 CUDA / Tensor core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566160" y="3200400"/>
            <a:ext cx="5029200" cy="548640"/>
          </a:xfrm>
          <a:prstGeom prst="rect">
            <a:avLst/>
          </a:prstGeom>
          <a:solidFill>
            <a:srgbClr val="0A1322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interactive/gpu_map.html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7510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10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Cluster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95828" y="4389120"/>
            <a:ext cx="310896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798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98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4628" y="4389120"/>
            <a:ext cx="310896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086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086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3428" y="4389120"/>
            <a:ext cx="310896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74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374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682228" y="4389120"/>
            <a:ext cx="310896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662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4A3410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662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運算單元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點發亮的元件往內切　·　Esc 回上層　·　1–5 直接跳層　·　講完按 5 停在運算單元，回來接下一頁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 / 34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warp 與 SIMT：用大量 thread 藏延遲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32 threads = 1 warp，一起執行同一指令（SIMT）。一個 SM 同時駐留很多 warp。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11680" y="237744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45536" y="237744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79392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7104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0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14816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48672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011680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45536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79392" y="301752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3248" y="301752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47104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0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14816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48672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57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11680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45536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79392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13248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47104" y="365760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0" y="365760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48672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2976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011680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45536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79392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13248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47104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814816" y="429768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48672" y="429768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11680" y="4956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 →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83680" y="4956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橘＝在算　深＝等 HBM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一個 warp 在等 HBM（數百 cycle）時，排程器切到別的 warp 繼續算 → SM 始終有人在算。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藏延遲的前提：有夠多 warp、且頻寬餵得上——「大量平行」不是 GPU 的加分項，是它存在的前提。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 / 34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餵飽一張卡要多少平行度？Amdahl 給天花板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H100 SXM 的「寬」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5156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141732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Shape 8"/>
          <p:cNvSpPr/>
          <p:nvPr/>
        </p:nvSpPr>
        <p:spPr>
          <a:xfrm>
            <a:off x="178308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Shape 10"/>
          <p:cNvSpPr/>
          <p:nvPr/>
        </p:nvSpPr>
        <p:spPr>
          <a:xfrm>
            <a:off x="251460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036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Shape 12"/>
          <p:cNvSpPr/>
          <p:nvPr/>
        </p:nvSpPr>
        <p:spPr>
          <a:xfrm>
            <a:off x="324612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61188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97764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Shape 15"/>
          <p:cNvSpPr/>
          <p:nvPr/>
        </p:nvSpPr>
        <p:spPr>
          <a:xfrm>
            <a:off x="434340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Shape 16"/>
          <p:cNvSpPr/>
          <p:nvPr/>
        </p:nvSpPr>
        <p:spPr>
          <a:xfrm>
            <a:off x="470916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9" name="Shape 17"/>
          <p:cNvSpPr/>
          <p:nvPr/>
        </p:nvSpPr>
        <p:spPr>
          <a:xfrm>
            <a:off x="507492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Shape 18"/>
          <p:cNvSpPr/>
          <p:nvPr/>
        </p:nvSpPr>
        <p:spPr>
          <a:xfrm>
            <a:off x="105156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Shape 19"/>
          <p:cNvSpPr/>
          <p:nvPr/>
        </p:nvSpPr>
        <p:spPr>
          <a:xfrm>
            <a:off x="141732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2" name="Shape 20"/>
          <p:cNvSpPr/>
          <p:nvPr/>
        </p:nvSpPr>
        <p:spPr>
          <a:xfrm>
            <a:off x="178308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Shape 21"/>
          <p:cNvSpPr/>
          <p:nvPr/>
        </p:nvSpPr>
        <p:spPr>
          <a:xfrm>
            <a:off x="214884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4" name="Shape 22"/>
          <p:cNvSpPr/>
          <p:nvPr/>
        </p:nvSpPr>
        <p:spPr>
          <a:xfrm>
            <a:off x="251460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Shape 23"/>
          <p:cNvSpPr/>
          <p:nvPr/>
        </p:nvSpPr>
        <p:spPr>
          <a:xfrm>
            <a:off x="288036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Shape 24"/>
          <p:cNvSpPr/>
          <p:nvPr/>
        </p:nvSpPr>
        <p:spPr>
          <a:xfrm>
            <a:off x="324612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8" name="Shape 26"/>
          <p:cNvSpPr/>
          <p:nvPr/>
        </p:nvSpPr>
        <p:spPr>
          <a:xfrm>
            <a:off x="397764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Shape 27"/>
          <p:cNvSpPr/>
          <p:nvPr/>
        </p:nvSpPr>
        <p:spPr>
          <a:xfrm>
            <a:off x="434340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0" name="Shape 28"/>
          <p:cNvSpPr/>
          <p:nvPr/>
        </p:nvSpPr>
        <p:spPr>
          <a:xfrm>
            <a:off x="470916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1" name="Shape 29"/>
          <p:cNvSpPr/>
          <p:nvPr/>
        </p:nvSpPr>
        <p:spPr>
          <a:xfrm>
            <a:off x="507492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5156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3" name="Shape 31"/>
          <p:cNvSpPr/>
          <p:nvPr/>
        </p:nvSpPr>
        <p:spPr>
          <a:xfrm>
            <a:off x="141732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4" name="Shape 32"/>
          <p:cNvSpPr/>
          <p:nvPr/>
        </p:nvSpPr>
        <p:spPr>
          <a:xfrm>
            <a:off x="178308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5" name="Shape 33"/>
          <p:cNvSpPr/>
          <p:nvPr/>
        </p:nvSpPr>
        <p:spPr>
          <a:xfrm>
            <a:off x="214884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6" name="Shape 34"/>
          <p:cNvSpPr/>
          <p:nvPr/>
        </p:nvSpPr>
        <p:spPr>
          <a:xfrm>
            <a:off x="251460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Shape 35"/>
          <p:cNvSpPr/>
          <p:nvPr/>
        </p:nvSpPr>
        <p:spPr>
          <a:xfrm>
            <a:off x="288036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8" name="Shape 36"/>
          <p:cNvSpPr/>
          <p:nvPr/>
        </p:nvSpPr>
        <p:spPr>
          <a:xfrm>
            <a:off x="324612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Shape 37"/>
          <p:cNvSpPr/>
          <p:nvPr/>
        </p:nvSpPr>
        <p:spPr>
          <a:xfrm>
            <a:off x="361188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0" name="Shape 38"/>
          <p:cNvSpPr/>
          <p:nvPr/>
        </p:nvSpPr>
        <p:spPr>
          <a:xfrm>
            <a:off x="397764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4340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70916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3" name="Shape 41"/>
          <p:cNvSpPr/>
          <p:nvPr/>
        </p:nvSpPr>
        <p:spPr>
          <a:xfrm>
            <a:off x="507492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156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5" name="Shape 43"/>
          <p:cNvSpPr/>
          <p:nvPr/>
        </p:nvSpPr>
        <p:spPr>
          <a:xfrm>
            <a:off x="141732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178308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Shape 45"/>
          <p:cNvSpPr/>
          <p:nvPr/>
        </p:nvSpPr>
        <p:spPr>
          <a:xfrm>
            <a:off x="214884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8" name="Shape 46"/>
          <p:cNvSpPr/>
          <p:nvPr/>
        </p:nvSpPr>
        <p:spPr>
          <a:xfrm>
            <a:off x="251460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Shape 47"/>
          <p:cNvSpPr/>
          <p:nvPr/>
        </p:nvSpPr>
        <p:spPr>
          <a:xfrm>
            <a:off x="288036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0" name="Shape 48"/>
          <p:cNvSpPr/>
          <p:nvPr/>
        </p:nvSpPr>
        <p:spPr>
          <a:xfrm>
            <a:off x="324612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1188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2" name="Shape 50"/>
          <p:cNvSpPr/>
          <p:nvPr/>
        </p:nvSpPr>
        <p:spPr>
          <a:xfrm>
            <a:off x="397764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3" name="Shape 51"/>
          <p:cNvSpPr/>
          <p:nvPr/>
        </p:nvSpPr>
        <p:spPr>
          <a:xfrm>
            <a:off x="434340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4" name="Shape 52"/>
          <p:cNvSpPr/>
          <p:nvPr/>
        </p:nvSpPr>
        <p:spPr>
          <a:xfrm>
            <a:off x="470916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5" name="Shape 53"/>
          <p:cNvSpPr/>
          <p:nvPr/>
        </p:nvSpPr>
        <p:spPr>
          <a:xfrm>
            <a:off x="507492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6" name="Text 54"/>
          <p:cNvSpPr/>
          <p:nvPr/>
        </p:nvSpPr>
        <p:spPr>
          <a:xfrm>
            <a:off x="960120" y="4023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132 SM × 128 lane ≈ 16,896 條 lane + 528 tensor core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 lane 還要數十個 warp 待命藏延遲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同時要有 10⁵ 量級的 thread 在飛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6492240" y="178308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812280" y="2011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Amdahl's Law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6812280" y="2450592"/>
            <a:ext cx="4389120" cy="411480"/>
          </a:xfrm>
          <a:prstGeom prst="rect">
            <a:avLst/>
          </a:prstGeom>
          <a:solidFill>
            <a:srgbClr val="0A1322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加速上限 = 1 / ((1−p) + p/N)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6812280" y="3017520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 = 可平行比例，N = lane 數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 = 95%、N → ∞：最多也只有 20×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 夠大之後，瓶頸只剩序列的 (1−p)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模型裡任何「序列相依」的部分，都是 p 的天花板——這句話 Part 3、Part 5 都會用到。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 / 34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記憶體階層：每遠一站，慢一個數量級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698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926080"/>
                <a:gridCol w="1554480"/>
                <a:gridCol w="3566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約略頻寬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誰管理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備註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Register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數十 TB/s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編譯器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晶片內最快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Shared memory / L1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數十 TB/s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程式可控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tiling 的槓桿（Part 2）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L2 cache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數 ~ 數十 TB/s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硬體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全 SM 共用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HBM（GPU 全域）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 ~ 4.8 TB/s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程式配置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A100~2 / H100~3.35 / H200~4.8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NVLink（GPU↔GPU）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~900 GB/s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 PCIe 快一個量級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PCIe（Host↔Device）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4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Gen4 ~32 / Gen5 ~64 GB/s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4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4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最常被跨越的瓶頸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4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CPU DRAM（DDR5）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~50 ~ 100+ GB/s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主機記憶體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NVMe SSD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~3 ~ 7 GB/s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資料集 / 權重來源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 是 TB/s、PCIe 是 GB/s——差約 100×；瓶頸＝資料必經的「最慢那段路」（常是 PCIe）。能程式控制的只有 shared memory 與 register。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 / 34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為什麼越快的記憶體越小？看每 GB 價格（2026 初）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09728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↑ 越貴 · 越快 · 越小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77440" y="1993392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B3D32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20848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片上 SRAM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377440" y="23957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$5,000/GB 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231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KB ~ MB · 數十 TB/s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3054096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10455F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HBM3E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463040" y="34564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$13–17/GB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373075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數十 ~ 141 GB · ~3–5 TB/s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1C2E4A"/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一般 DRAM（DDR5）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451713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$2–3/GB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479145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TB 級 · ~100 GB/s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↓ 越便宜 · 越慢 · 越大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0" y="1993392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32320" y="212140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價差有多誇張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SRAM ≈ HBM 的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~300–2000×</a:t>
            </a:r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HBM ≈ DDR5 的 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~5–8×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858000" y="3474720"/>
            <a:ext cx="4663440" cy="1828800"/>
          </a:xfrm>
          <a:prstGeom prst="roundRect">
            <a:avLst>
              <a:gd name="adj" fmla="val 5000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32320" y="36027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所以呢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32320" y="3968496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晶片內貴到只放得起 KB~MB → SRAM 註定很小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cache（GB）塞不進 SRAM → 只能住 HBM、decode 每步串流（Part 3）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Groq 全 SRAM → 一顆只有 230MB、貴 → 要很多顆（Part 5）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頻寬階層（上一頁）與價格階層是同一回事：越快越貴越小 → 「容量／頻寬／成本」三角逼出整個記憶體階層。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0533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價格為 2026 初概略合約價（HBM3E 2025 H1 高峰曾 $17–20）；SRAM 為片上等效估計、非市售模組。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 / 34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方案速覽與選型心法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94560"/>
                <a:gridCol w="219456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方案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記憶體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容量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頻寬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定位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RTX 4090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GDDR6X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24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~1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開發 / 本機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A100 80GB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HBM2e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80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~2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訓練/推論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H100 SXM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HBM3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80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~3.35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主力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H200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HBM3e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141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~4.8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LLM 推論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Apple M 系列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統一 LPDDR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128–192 GB+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~0.4–0.8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本機大模型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Grace Hopper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HBM3+LPDDR5X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96 + ~480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 ~4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超大模型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731520"/>
          </a:xfrm>
          <a:prstGeom prst="roundRect">
            <a:avLst>
              <a:gd name="adj" fmla="val 12500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05840" y="47548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決策：</a:t>
            </a:r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裝得下 HBM → 純 GPU；裝不下但搬得動 → offload/UVM/GDS + overlap；要超大容量 → 統一記憶體。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memory-bound 推論看「頻寬 + 容量」，不是峰值 FLOPS。沒有最好的記憶體，只有最 match 工作集的。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 / 34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兩種「慢」：你被誰卡住？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120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Compute-bound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瓶頸：峰值 FLOPS（算得不夠快）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症狀：算力利用率高、加大 batch 也快不了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典型：大矩陣乘法、模型訓練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8308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Memory-bound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629400" y="26974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瓶頸：記憶體頻寬（資料搬不夠快）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症狀：算力利用率低、加大 batch 吞吐會升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典型：自迴歸解碼、element-wise 運算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怎麼判斷在哪一邊？用一把尺：算術強度（下一頁）。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34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一把尺：算術強度 (Arithmetic Intensity)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AI  =  </a:t>
            </a:r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完成運算的 FLOPs</a:t>
            </a:r>
            <a:pPr algn="ctr" indent="0" marL="0">
              <a:buNone/>
            </a:pPr>
            <a:r>
              <a:rPr lang="en-US" sz="3000" b="1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÷  </a:t>
            </a:r>
            <a:pPr algn="ctr"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需搬動的 Bytes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單位：FLOPs / Byte —— 每搬 1 個位元組，能換到幾次浮點運算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高 → compute-bound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4315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每搬一點資料就做很多運算。例：大方陣 GEMM，AI ≈ 數百。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09360" y="36576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294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低 → memory-bound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29400" y="4315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大多時間在等資料。例：矩陣×向量 GEMV，AI ≈ 1–2（fp16）。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34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Roofline：一眼看出你的天花板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2286000"/>
            <a:ext cx="0" cy="2926080"/>
          </a:xfrm>
          <a:prstGeom prst="line">
            <a:avLst/>
          </a:prstGeom>
          <a:noFill/>
          <a:ln w="19050">
            <a:solidFill>
              <a:srgbClr val="8FA6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5212080"/>
            <a:ext cx="5943600" cy="0"/>
          </a:xfrm>
          <a:prstGeom prst="line">
            <a:avLst/>
          </a:prstGeom>
          <a:noFill/>
          <a:ln w="19050">
            <a:solidFill>
              <a:srgbClr val="8FA6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371600" y="2286000"/>
            <a:ext cx="3268980" cy="2926080"/>
          </a:xfrm>
          <a:prstGeom prst="line">
            <a:avLst/>
          </a:prstGeom>
          <a:noFill/>
          <a:ln w="44450">
            <a:solidFill>
              <a:srgbClr val="38BD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40580" y="2286000"/>
            <a:ext cx="2674620" cy="0"/>
          </a:xfrm>
          <a:prstGeom prst="line">
            <a:avLst/>
          </a:prstGeom>
          <a:noFill/>
          <a:ln w="4445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0580" y="2286000"/>
            <a:ext cx="0" cy="292608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112264" y="4215384"/>
            <a:ext cx="164592" cy="164592"/>
          </a:xfrm>
          <a:prstGeom prst="ellipse">
            <a:avLst/>
          </a:prstGeom>
          <a:solidFill>
            <a:srgbClr val="38BDF8"/>
          </a:solidFill>
          <a:ln w="19050">
            <a:solidFill>
              <a:srgbClr val="0E17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47004" y="2340864"/>
            <a:ext cx="164592" cy="164592"/>
          </a:xfrm>
          <a:prstGeom prst="ellipse">
            <a:avLst/>
          </a:prstGeom>
          <a:solidFill>
            <a:srgbClr val="F59E0B"/>
          </a:solidFill>
          <a:ln w="19050">
            <a:solidFill>
              <a:srgbClr val="0E17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可達成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算術強度 AI (FLOPs/Byte) 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26180" y="1901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2C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ridge point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頻寬上限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9778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算力上限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74520" y="43434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GEMV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66460" y="23317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大 GEMM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0" y="1783080"/>
            <a:ext cx="3291840" cy="365760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03920" y="2057400"/>
            <a:ext cx="2743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斜線 = 頻寬上限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(memory-bound)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平頂 = 算力上限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(compute-bound)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轉折 = ridge point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點落在斜線上 → 受頻寬限，換更強算力也沒用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34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Ridge point 範例：H100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2402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990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TFLOPS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BF16 tensor 峰值算力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1688" y="192024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61688" y="22402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3.35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4361688" y="32004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TB/s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44568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HBM3 記憶體頻寬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83296" y="192024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83296" y="22402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≈300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8083296" y="32004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FLOPs/Byte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66176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ridge point = 算力 ÷ 頻寬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算術強度 &lt; 300 的運算，再強的 tensor core 也餵不飽——你只能拿到「頻寬的速度」。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（數字為約略值，以官方規格為準）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34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990 TFLOPS 哪來的？時脈 × 單元數 × 每 cycle 運算數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3736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峰值算力  =  </a:t>
            </a:r>
            <a:pPr algn="ctr" indent="0" marL="0">
              <a:buNone/>
            </a:pPr>
            <a:r>
              <a:rPr lang="en-US" sz="2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單元數</a:t>
            </a:r>
            <a:pPr algn="ctr" indent="0" marL="0">
              <a:buNone/>
            </a:pPr>
            <a:r>
              <a:rPr lang="en-US" sz="23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×  </a:t>
            </a:r>
            <a:pPr algn="ctr" indent="0" marL="0">
              <a:buNone/>
            </a:pPr>
            <a:r>
              <a:rPr lang="en-US" sz="2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 cycle 運算數</a:t>
            </a:r>
            <a:pPr algn="ctr" indent="0" marL="0">
              <a:buNone/>
            </a:pPr>
            <a:r>
              <a:rPr lang="en-US" sz="23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×  </a:t>
            </a:r>
            <a:pPr algn="ctr" indent="0" marL="0">
              <a:buNone/>
            </a:pPr>
            <a:r>
              <a:rPr lang="en-US" sz="23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時脈 (clock)</a:t>
            </a:r>
            <a:endParaRPr lang="en-US" sz="2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3464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3657600"/>
                <a:gridCol w="1280160"/>
                <a:gridCol w="1463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同一顆 H100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單元數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每 cycle 運算數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時脈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= 峰值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CUDA core 路徑（fp32）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132 SM × 128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× 2（FMA：a×b+c 一次算 2 FLOPs）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B7185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~2.0 GHz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≈ 67 TFLOPS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Tensor core 路徑（bf16）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132 SM × 4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59E0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× ~1024（小矩陣乘加一口氣做完）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B7185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~1.8 GHz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59E0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≈ 990 TFLOPS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754880"/>
            <a:ext cx="10881360" cy="713232"/>
          </a:xfrm>
          <a:prstGeom prst="roundRect">
            <a:avLst>
              <a:gd name="adj" fmla="val 12821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4754880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頻寬是同一條公式：</a:t>
            </a:r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HBM3 ≈ 5120-bit 介面 × ~5.2 Gb/s/pin ÷ 8 ≈ 3.35 TB/s ——「算力與頻寬都是：寬 × 時脈」。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兩條路徑時脈幾乎一樣、峰值差 ~15×——算力來自「每 cycle 運算數」不是 clock；GPU 時脈甚至比 CPU 低（Part 1）。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34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tiling：把資料留在晶片內重複用 → AI 變高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83280" cy="2377440"/>
          </a:xfrm>
          <a:prstGeom prst="roundRect">
            <a:avLst>
              <a:gd name="adj" fmla="val 384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965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naive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每個輸出都從 HBM 重讀整行整列 → HBM 讀 ~O(N³)。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2743200" cy="36576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 讀取：大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1783080"/>
            <a:ext cx="3383280" cy="2377440"/>
          </a:xfrm>
          <a:prstGeom prst="roundRect">
            <a:avLst>
              <a:gd name="adj" fmla="val 384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965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331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載入 shared memory 一次、晶片內重複用 T 次 → HBM 讀 ÷T。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63440" y="3474720"/>
            <a:ext cx="1005840" cy="3657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3474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2011680"/>
            <a:ext cx="0" cy="2011680"/>
          </a:xfrm>
          <a:prstGeom prst="line">
            <a:avLst/>
          </a:prstGeom>
          <a:noFill/>
          <a:ln w="12700">
            <a:solidFill>
              <a:srgbClr val="8FA6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4023360"/>
            <a:ext cx="2926080" cy="0"/>
          </a:xfrm>
          <a:prstGeom prst="line">
            <a:avLst/>
          </a:prstGeom>
          <a:noFill/>
          <a:ln w="12700">
            <a:solidFill>
              <a:srgbClr val="8FA6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8503920" y="2011680"/>
            <a:ext cx="1609344" cy="201168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13264" y="2011680"/>
            <a:ext cx="1316736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70848" y="3172968"/>
            <a:ext cx="146304" cy="146304"/>
          </a:xfrm>
          <a:prstGeom prst="ellipse">
            <a:avLst/>
          </a:prstGeom>
          <a:solidFill>
            <a:srgbClr val="FB7185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451592" y="1938528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9281160" y="2194560"/>
            <a:ext cx="1097280" cy="960120"/>
          </a:xfrm>
          <a:prstGeom prst="line">
            <a:avLst/>
          </a:prstGeom>
          <a:noFill/>
          <a:ln w="25400">
            <a:solidFill>
              <a:srgbClr val="EAF1FB"/>
            </a:solidFill>
            <a:prstDash val="dash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46404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tiling →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251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同樣 FLOPs、更少 bytes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推進 compute-bound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這就是 cuBLAS / tensor core kernel 都重度 tiling 的原因——Part 5 的 FlashAttention 是同一招的演算法版。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34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Training：吃算力，但更怕「裝不下」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120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為什麼通常 compute-bound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0604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 batch → 大 GEMM → AI 高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forward / backward 都是大矩陣乘法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算力利用率高、餵得飽 tensor core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8308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但記憶體同時要放下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629400" y="2688336"/>
            <a:ext cx="201168" cy="2011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967728" y="26151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權重 weights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629400" y="3218688"/>
            <a:ext cx="201168" cy="2011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6967728" y="31455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啟動值 activations（留著等 backward）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629400" y="3749040"/>
            <a:ext cx="201168" cy="2011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3675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梯度 gradients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29400" y="4279392"/>
            <a:ext cx="201168" cy="20116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0" name="Text 18"/>
          <p:cNvSpPr/>
          <p:nvPr/>
        </p:nvSpPr>
        <p:spPr>
          <a:xfrm>
            <a:off x="6967728" y="4206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優化器狀態（Adam ≈ 2× 參數，fp32）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訓練的痛點常是「裝不下」(容量) 不是「餵不飽」(頻寬)——所以有梯度檢查點、ZeRO、offload。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34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Inference 兩階段：prefill vs decode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時間軸 →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292608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prefill（一次吃整段 prompt）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4904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076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3524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8972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96696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28803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decode（一次一 token，逐步生成）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61188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 — compute-bound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60120" y="42976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整段 prompt 一起算 → 大 GEMM、AI 高，像訓練的 forward。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309360" y="361188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6294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— memory-bound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629400" y="42976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一次一 token、batch 小 → GEMV、AI ≈ 1。下一頁解謎題①。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34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謎題①解答：decode 每 token 重讀整份權重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830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每產生 1 個 token，就要把「整份權重」從 HBM 讀一遍。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36499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41330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446227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7B 模型 fp16 權重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61688" y="3108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61688" y="336499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4.2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361688" y="41330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ms / token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98848" y="446227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14 GB ÷ 3.35 TB/s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3108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83296" y="336499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~240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083296" y="41330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tokens/s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0456" y="446227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batch=1 的延遲上限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「&lt;5% 算力利用率」的根源：時間都花在搬權重，tensor core 在閒置。換更強算力救不了。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34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cache：省了重算，換來頻寬與容量壓力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2286000"/>
          </a:xfrm>
          <a:prstGeom prst="roundRect">
            <a:avLst>
              <a:gd name="adj" fmla="val 4000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是什麼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快取過去 token 的 Key / Value，讓每一步不必對整段序列重算 attention——是讓 decode 還能用的關鍵優化。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212080" cy="2286000"/>
          </a:xfrm>
          <a:prstGeom prst="roundRect">
            <a:avLst>
              <a:gd name="adj" fmla="val 4000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代價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24688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隨序列長度線性增長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每步都要讀它 → 頻寬壓力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要存住它 → 容量壓力（限制 batch / context）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4251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KV 大小 ≈ </a:t>
            </a:r>
            <a:pPr algn="ctr"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× layers × heads × head_dim × seq_len × batch × dtype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context 越長 decode 每步要讀的越多 → 越 memory-bound。Part 5 的 GQA / Mamba 都是衝著它來的。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34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 的魔法：throughput vs latency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029200" cy="3566160"/>
          </a:xfrm>
          <a:prstGeom prst="roundRect">
            <a:avLst>
              <a:gd name="adj" fmla="val 2564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為什麼加大 batch 有用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1460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batch=1：讀一次權重只服務一個請求 → 浪費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batch=N：同一次權重讀取服務 N 個請求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吞吐近乎線性升、單步延遲幾乎不變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直到變 compute-bound 或 KV cache 裝不下</a:t>
            </a:r>
            <a:endParaRPr lang="en-US" sz="14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943600" y="1828800"/>
          <a:ext cx="5577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吞吐升、但「單一請求的延遲」沒變快——batch 是攤平權重讀取，不是加速。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34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壓軸：prefetch / overlap —— 把搬運藏在運算後面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naive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11680" y="21031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210312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49040" y="21031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17720" y="210312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21031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10312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0" y="2011680"/>
            <a:ext cx="0" cy="2286000"/>
          </a:xfrm>
          <a:prstGeom prst="line">
            <a:avLst/>
          </a:prstGeom>
          <a:noFill/>
          <a:ln w="12700">
            <a:solidFill>
              <a:srgbClr val="FB7185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64008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overlapped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011680" y="30175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0" y="30175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880360" y="30175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80360" y="30175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49040" y="30175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175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80360" y="356616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80360" y="356616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49040" y="356616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56616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17720" y="356616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356616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0" y="2926080"/>
            <a:ext cx="0" cy="1371600"/>
          </a:xfrm>
          <a:prstGeom prst="line">
            <a:avLst/>
          </a:prstGeom>
          <a:noFill/>
          <a:ln w="12700">
            <a:solidFill>
              <a:srgbClr val="38BDF8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57784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省下的時間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0" y="4160520"/>
            <a:ext cx="173736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第二條 stream 預取下一批：compute 一邊算、copy 一邊搬。DataLoader 的 num_workers + pin_memory + prefetch 是同一招。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搬運省不掉時就把它藏起來，讓昂貴的算力不再空等——資料搬遷篇的收束。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· 資料搬遷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34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平行度不是硬體給的，是模型「暴露」出來的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783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batch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840480" y="1783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樣本之間天然獨立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78024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47802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pixel / 空間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40480" y="2478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卷積對每個位置獨立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72968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1729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channel / head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840480" y="317296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特徵維度切開算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/ 時間步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840480" y="38679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RNN：序列相依 ✗　attention：獨立 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562856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562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layer (pipeline)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840480" y="456285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層間相依，只能流水線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模型設計 = 決定把計算依賴圖畫成「深的鏈」還是「寬的樹」。RNN 暴露 B×H，attention 暴露 B×T×H。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34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 → 模型：CNN 等了 23 年的不是想法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2560320"/>
            <a:ext cx="9875520" cy="0"/>
          </a:xfrm>
          <a:prstGeom prst="line">
            <a:avLst/>
          </a:prstGeom>
          <a:noFill/>
          <a:ln w="25400">
            <a:solidFill>
              <a:srgbClr val="2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450592"/>
            <a:ext cx="219456" cy="219456"/>
          </a:xfrm>
          <a:prstGeom prst="ellipse">
            <a:avLst/>
          </a:prstGeom>
          <a:solidFill>
            <a:srgbClr val="8FA6C4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1989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-18288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LeCun ConvNet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-182880" y="3154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想法已存在，CPU 訓不大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0" y="2450592"/>
            <a:ext cx="219456" cy="21945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2012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AlexNet ×2 GTX 580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840480" y="3154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遊戲卡訓一週，ImageNet 拉開 10pp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235440" y="2450592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之後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638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VGG / ResNet…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863840" y="3154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捲積=GEMM，吃滿 GPU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39776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 CNN 跟 GPU 一拍即合：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捲積經 im2col 攤平就是大 GEMM；pixel / channel / batch 全平行；權重重複用 → AI 高 → compute-bound。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Hardware lottery（Sara Hooker）：不是最好的想法贏，是最合當代硬體的想法贏。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34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 → 模型：Transformer 為平行而生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2926080"/>
          </a:xfrm>
          <a:prstGeom prst="roundRect">
            <a:avLst>
              <a:gd name="adj" fmla="val 312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RNN 訓練：T 步的鏈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51560" y="2560320"/>
            <a:ext cx="731520" cy="54864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01368" y="2834640"/>
            <a:ext cx="365760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94560" y="2560320"/>
            <a:ext cx="731520" cy="54864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9456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44368" y="2834640"/>
            <a:ext cx="365760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337560" y="2560320"/>
            <a:ext cx="731520" cy="54864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2834640"/>
            <a:ext cx="365760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80560" y="2560320"/>
            <a:ext cx="731520" cy="54864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3337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h_t 依賴 h_{t−1} → token 軸只能一步步來；暴露平行度 B×H。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309360" y="1783080"/>
            <a:ext cx="5212080" cy="2926080"/>
          </a:xfrm>
          <a:prstGeom prst="roundRect">
            <a:avLst>
              <a:gd name="adj" fmla="val 312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Attention：整段一次 matmul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6766560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3" name="Shape 21"/>
          <p:cNvSpPr/>
          <p:nvPr/>
        </p:nvSpPr>
        <p:spPr>
          <a:xfrm>
            <a:off x="7278624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4" name="Shape 22"/>
          <p:cNvSpPr/>
          <p:nvPr/>
        </p:nvSpPr>
        <p:spPr>
          <a:xfrm>
            <a:off x="7790688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2752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14816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7" name="Shape 25"/>
          <p:cNvSpPr/>
          <p:nvPr/>
        </p:nvSpPr>
        <p:spPr>
          <a:xfrm>
            <a:off x="9326880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8" name="Shape 26"/>
          <p:cNvSpPr/>
          <p:nvPr/>
        </p:nvSpPr>
        <p:spPr>
          <a:xfrm>
            <a:off x="9838944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Shape 27"/>
          <p:cNvSpPr/>
          <p:nvPr/>
        </p:nvSpPr>
        <p:spPr>
          <a:xfrm>
            <a:off x="10351008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0" name="Shape 28"/>
          <p:cNvSpPr/>
          <p:nvPr/>
        </p:nvSpPr>
        <p:spPr>
          <a:xfrm>
            <a:off x="6766560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1" name="Shape 29"/>
          <p:cNvSpPr/>
          <p:nvPr/>
        </p:nvSpPr>
        <p:spPr>
          <a:xfrm>
            <a:off x="7278624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2" name="Shape 30"/>
          <p:cNvSpPr/>
          <p:nvPr/>
        </p:nvSpPr>
        <p:spPr>
          <a:xfrm>
            <a:off x="7790688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3" name="Shape 31"/>
          <p:cNvSpPr/>
          <p:nvPr/>
        </p:nvSpPr>
        <p:spPr>
          <a:xfrm>
            <a:off x="8302752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4" name="Shape 32"/>
          <p:cNvSpPr/>
          <p:nvPr/>
        </p:nvSpPr>
        <p:spPr>
          <a:xfrm>
            <a:off x="8814816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5" name="Shape 33"/>
          <p:cNvSpPr/>
          <p:nvPr/>
        </p:nvSpPr>
        <p:spPr>
          <a:xfrm>
            <a:off x="9326880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6" name="Shape 34"/>
          <p:cNvSpPr/>
          <p:nvPr/>
        </p:nvSpPr>
        <p:spPr>
          <a:xfrm>
            <a:off x="9838944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351008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8" name="Text 36"/>
          <p:cNvSpPr/>
          <p:nvPr/>
        </p:nvSpPr>
        <p:spPr>
          <a:xfrm>
            <a:off x="6629400" y="36118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整段序列攤成 (B·T)×H 的大 GEMM → token 軸從鏈變寬；暴露 B×T×H。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640080" y="48920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論文自己說的（2017）：RNN 的序列本質 “precludes parallelization”；Transformer “allowing significantly more parallelization”。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Transformer 贏不是因為 FLOPs 少（O(T²) 其實更多），是把計算重排成 GPU 吃得下的形狀。</a:t>
            </a:r>
            <a:endParaRPr lang="en-US" sz="1550" dirty="0"/>
          </a:p>
        </p:txBody>
      </p:sp>
      <p:sp>
        <p:nvSpPr>
          <p:cNvPr id="41" name="Text 3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34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🔬  互動環節 ②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講者：切出去打開玩具級 Transformer 地圖（T=5、d=6、2 heads——同構縮小版，decoder-only 全景與單一 matmul 的 L2/HBM 搬運）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00400" y="2926080"/>
            <a:ext cx="5760720" cy="548640"/>
          </a:xfrm>
          <a:prstGeom prst="rect">
            <a:avLst/>
          </a:prstGeom>
          <a:solidFill>
            <a:srgbClr val="0A1322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interactive/transformer_map.html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80644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0644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全景 decoder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88820" y="4046220"/>
            <a:ext cx="164592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89988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89988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Block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98164" y="4046220"/>
            <a:ext cx="164592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799332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99332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207508" y="4046220"/>
            <a:ext cx="164592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08676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08676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16852" y="4046220"/>
            <a:ext cx="164592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01802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18020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計算子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26196" y="4046220"/>
            <a:ext cx="164592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627364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FlashAttn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035540" y="4046220"/>
            <a:ext cx="164592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236708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4A3410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36708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硬體 3 機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4617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三種執行模式切著看：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</a:t>
            </a:r>
            <a:pPr algn="ctr"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/ </a:t>
            </a:r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</a:t>
            </a:r>
            <a:pPr algn="ctr"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/ </a:t>
            </a:r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</a:t>
            </a:r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——資料流、KV cache、GEMM→GEMV、利用率全部跟著變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74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建議動線：全景（decoder-only）→ Block → Attention（分叉＝平行軸）→ Head 看矩陣 → 計算子：matmul 的 L2⟷HBM 搬運 → FlashAttention（線上 softmax，←/→ 逐步看 S 怎麼不落 HBM）→ 硬體層 GPU/TPU/Groq；配 T/P/D 看 compute-bound→memory-bound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/ 34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 → 硬體：箭頭反過來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78308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Tensor core（Volta, 2017）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66360" y="178308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DL 負載九成是 GEMM → 做專用矩陣乘加單元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51460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TPU systolic array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66360" y="251460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整顆晶片就是一台矩陣乘法機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24612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24612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H100「Transformer Engine」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324612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硬體功能直接用模型命名；fp8 為 transformer 訓練而做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97764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H200：HBM 加到 141 GB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97764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不是算力不夠，是 KV cache（Part 3）吃容量+頻寬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70916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精度 fp32→fp16→bf16→fp8→fp4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166360" y="470916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模型端證明訓得動 ⇄ 硬體端做出來，一步步往返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這是一個迴圈，不是單向因果：硬體決定哪些模型贏，贏的模型再回頭改造硬體。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 / 34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TPU：另一條路 — systolic array（脈動陣列）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120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設計哲學：GEMM 專用到極致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46888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MXU = 128×128 個 MAC 排成陣列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weight-stationary：權重釘在格子裡，資料流過去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warp、沒有動態排程——資料跟著 clock 齊步走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XLA 編譯器把整個計算圖先排好（靜態）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代價：動態形狀 / 稀疏 / 分支不友善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8308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Transformer 在 TPU 上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46888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 / prefill 的大 GEMM = 甜蜜點，利用率高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的小 GEMV 一樣餵不滿陣列 → 一樣 memory-bound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bf16 就是 TPU 帶進主流的（模型→硬體→模型的迴圈）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也配 HBM——頻寬牆跨硬體成立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用「上萬 lane + 動態排程」、TPU 用「固定資料流 + 編譯器」——兩條路都是為 GEMM 而生；瓶頸物理相同。下一頁看第三條路 Groq。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 / 34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Groq LPU：KV 塞不下晶片 → 乾脆把記憶體全做成 SRAM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212080" cy="3611880"/>
          </a:xfrm>
          <a:prstGeom prst="roundRect">
            <a:avLst>
              <a:gd name="adj" fmla="val 2532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/ TPU 的 decode 痛點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1417320" cy="603504"/>
          </a:xfrm>
          <a:prstGeom prst="roundRect">
            <a:avLst>
              <a:gd name="adj" fmla="val 9091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1460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權重+KV ~GB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377440" y="2816352"/>
            <a:ext cx="457200" cy="0"/>
          </a:xfrm>
          <a:prstGeom prst="line">
            <a:avLst/>
          </a:prstGeom>
          <a:noFill/>
          <a:ln w="31750">
            <a:solidFill>
              <a:srgbClr val="FB71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80360" y="2514600"/>
            <a:ext cx="1371600" cy="603504"/>
          </a:xfrm>
          <a:prstGeom prst="roundRect">
            <a:avLst>
              <a:gd name="adj" fmla="val 9091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0360" y="25146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SRAM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L2 50MB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2816352"/>
            <a:ext cx="411480" cy="0"/>
          </a:xfrm>
          <a:prstGeom prst="line">
            <a:avLst/>
          </a:prstGeom>
          <a:noFill/>
          <a:ln w="25400">
            <a:solidFill>
              <a:srgbClr val="8FA6C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754880" y="2514600"/>
            <a:ext cx="914400" cy="603504"/>
          </a:xfrm>
          <a:prstGeom prst="roundRect">
            <a:avLst>
              <a:gd name="adj" fmla="val 9091"/>
            </a:avLst>
          </a:prstGeom>
          <a:solidFill>
            <a:srgbClr val="4A3410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51460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tensor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31720" y="2221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每步重串流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" y="338328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 可達 GB ≫ L2 50MB ≫ shared 228KB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放不進晶片 → 每 token 從 HBM 重新串流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卡在 3.35 TB/s 的 HBM 頻寬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737360"/>
            <a:ext cx="5212080" cy="3611880"/>
          </a:xfrm>
          <a:prstGeom prst="roundRect">
            <a:avLst>
              <a:gd name="adj" fmla="val 2532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737360"/>
            <a:ext cx="5212080" cy="1097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Groq 的答案：砍掉 HBM、全用 SRAM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675120" y="251460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388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0" y="251460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8972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9264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9556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98480" y="251460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7512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7804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8096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3880" y="301752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8972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195560" y="301752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9848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~230 MB SRAM / chip × 幾十~幾百顆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29400" y="39776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SRAM ~80 TB/s ≈ HBM 的 20×+ → 沒有那條串流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一樣 memory-bound，但「記憶體」快 20×+ → decode token/s 大幅領先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代價：一顆只 230MB → 切片散到很多顆 + 確定性網路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記憶體牆是物理：GPU 在 HBM 上想辦法（FlashAttention 省 S、GQA 省 KV）、Groq 直接換掉 HBM——三條路都在繞同一道牆。互動地圖硬體層可切 GPU/TPU/Groq。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28 / 34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study CNN：FLOPs ≠ 速度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MobileNet：depthwise separable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紙上 FLOPs ÷ 8–9（9C² → 9C + C²）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 depthwise 每 byte 只做幾次運算 → AI 個位數、memory-bound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channel 軸被拆散 → 餵不滿 tensor core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它的目標硬體本來就是手機 CPU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21208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ConvNeXt（2022）：反向操作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29400" y="246888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transformer 時代配方重設計 ResNet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敢用 7×7 大 kernel：FLOPs 多但平行度好、AI 高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上「多而齊」常勝過「少而碎」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紙上 FLOPs 是 CPU 思維；GPU 上要問 bytes 與平行度——和 decode memory-bound 同一個道理。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29 / 34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study Transformer：演算法遷就記憶體階層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FlashAttention（2022）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24688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數學完全不變（exact attention）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tiling + 線上 softmax → T×T 矩陣從不落地 HBM（Part 2 的招）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同樣 FLOPs、bytes 大減 → 快 2–4×、記憶體 O(T²)→O(T)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改的不是數學，是資料的「住址」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83080"/>
            <a:ext cx="52120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MQA / GQA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629400" y="24688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3：decode 每 token 要搬整份 KV cache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乾脆改模型：多個 Q head 共用一組 KV head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Llama 2 70B：64 Q head 共用 8 組 KV → KV bytes ÷8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為了頻寬連架構都改，接受輕微品質代價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/ 34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study 混合架構：一個模型、兩種硬體人格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881360" cy="1645920"/>
          </a:xfrm>
          <a:prstGeom prst="roundRect">
            <a:avLst>
              <a:gd name="adj" fmla="val 555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9659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Mamba / SSM（2023）：雙目標共同設計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60120" y="239572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訓練時：parallel scan 攤平 T 軸 → 平行、compute-bound、吃滿 GPU　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｜　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推論時：退回遞迴、每 token O(1) 狀態 → 沒有越長越肥的 KV cache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65760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但固定狀態 = 有損記憶，精確長程檢索不如 attention → 2024 起主流是混血：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Jamba / Griffin（attention × SSM 交錯）；Conformer = 卷積（局部）+ attention（全局），也是同類混血思路。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架構設計越來越像：在硬體約束下解最佳化問題。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31 / 34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設計／選模型前，先問三個硬體問題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7647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平行度在哪個軸？有多寬？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554480" y="2148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餵不餵得飽上萬條 lane（B / T / pixel / channel / head）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26791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每搬一個 byte 做幾次運算？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554480" y="3063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落在 roofline 哪一區（Part 2 的尺）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B718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35935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序列相依的鏈有多長？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554480" y="3977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Amdahl 的 (1−p)：訓練看 T 軸、推論看 decode 步數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6634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60120" y="466344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用三問掃模型史：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CNN（✓✓✓）→ RNN（✗鏈長）→ Transformer（訓練✓✓✓；decode ✗鏈長✗AI低）→ Flash/GQA（修 bytes）→ Mamba/混合（修鏈）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/ 34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動手做：五個可重現的 demo</a:t>
            </a:r>
            <a:endParaRPr lang="en-US" sz="27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743200"/>
                <a:gridCol w="4297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demo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對應篇章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展示概念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關鍵觀察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01_roofline_mini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2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compute vs memory bound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瘦長矩陣掉進 memory-bound 區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02_pinned_vs_pageable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4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進出站 / DMA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pinned H2D 快 ~2×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03_decode_memory_bound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3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decode 瓶頸 / batch 攤平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step 延遲平、tokens/s 線性升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04_prefetch_overlap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4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把搬運藏在運算後面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overlap 提升 ~1.7×（示意）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05_flops_vs_parallelism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5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FLOPs ≠ 速度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LSTM 輸給 FLOPs 多 1.75× 的 transformer；depthwise ÷8.7 FLOPs 只 ÷3.7 時間（M2 實測）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程式在 repo 的 demos/ 下，每個資料夾一個 run.py + README。計時規範：warmup → 同步圍住 → 取中位數。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 · 合輯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 / 34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全系列帶走三句話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54480" y="1691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先問 compute-bound 還是 memory-bound——用算術強度那把尺。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很多「慢」是頻寬問題不是算力問題；換更貴的算力救不了 memory-bound。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瓶頸＝資料必經的最慢那段路；省不掉就藏起來。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1554480" y="31729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tiling 把資料留在快的地方、pinned+overlap 把搬運藏在運算後面、選型看頻寬+容量。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55448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模型與硬體互相塑造——看新架構先問三個硬體問題。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1554480" y="42245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平行軸？每 byte 幾次運算？序列鏈多長？CNN → Transformer → 混合，就是輪流補洞。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5120640"/>
            <a:ext cx="109728" cy="10058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51206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速度的故事，大半是「資料在哪、怎麼搬、誰能平行」的故事。 🎉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GPU × Transformer — 硬體架構聚焦版</dc:title>
  <dc:subject>PptxGenJS Presentation</dc:subject>
  <dc:creator>GPU 記憶體與資料搬遷讀書會</dc:creator>
  <cp:lastModifiedBy>GPU 記憶體與資料搬遷讀書會</cp:lastModifiedBy>
  <cp:revision>1</cp:revision>
  <dcterms:created xsi:type="dcterms:W3CDTF">2026-08-17T07:27:22Z</dcterms:created>
  <dcterms:modified xsi:type="dcterms:W3CDTF">2026-08-17T07:27:22Z</dcterms:modified>
</cp:coreProperties>
</file>